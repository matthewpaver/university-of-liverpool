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368" r:id="rId6"/>
    <p:sldId id="369" r:id="rId7"/>
    <p:sldId id="397" r:id="rId8"/>
    <p:sldId id="399" r:id="rId9"/>
    <p:sldId id="400" r:id="rId10"/>
    <p:sldId id="401" r:id="rId11"/>
    <p:sldId id="40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97"/>
  </p:normalViewPr>
  <p:slideViewPr>
    <p:cSldViewPr snapToGrid="0">
      <p:cViewPr varScale="1">
        <p:scale>
          <a:sx n="114" d="100"/>
          <a:sy n="114" d="100"/>
        </p:scale>
        <p:origin x="4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8474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0021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331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9226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56054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603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4343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52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0052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8955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650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254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067627" y="-121920"/>
            <a:ext cx="1246293" cy="7132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067627" y="5753100"/>
            <a:ext cx="1246293" cy="83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2BFF8A70-A326-314D-AECD-D5A198741822}" type="slidenum">
              <a:rPr lang="en-AT" smtClean="0"/>
              <a:t>‹#›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DCB6E3E5-4713-3C44-AA3B-BA50F605E4A1}" type="datetimeFigureOut">
              <a:rPr lang="en-AT" smtClean="0"/>
              <a:t>13.11.23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8158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500" kern="1200">
          <a:solidFill>
            <a:schemeClr val="tx1"/>
          </a:solidFill>
          <a:latin typeface="Arial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Arial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F1FA-CF71-B972-A98E-171F1486B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Lecture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3942C5-B618-5572-E386-8836A3971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COMP207</a:t>
            </a:r>
          </a:p>
        </p:txBody>
      </p:sp>
    </p:spTree>
    <p:extLst>
      <p:ext uri="{BB962C8B-B14F-4D97-AF65-F5344CB8AC3E}">
        <p14:creationId xmlns:p14="http://schemas.microsoft.com/office/powerpoint/2010/main" val="282946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4EEFA-110A-BD99-1BA6-259E700A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F013E-9282-98C3-0441-0685C9918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Technical problems with weekly assessment</a:t>
            </a:r>
          </a:p>
          <a:p>
            <a:r>
              <a:rPr lang="en-AT" dirty="0"/>
              <a:t>Weekly survey</a:t>
            </a:r>
          </a:p>
          <a:p>
            <a:pPr lvl="1"/>
            <a:r>
              <a:rPr lang="en-AT" dirty="0"/>
              <a:t>No comments so nothing to talk about</a:t>
            </a:r>
          </a:p>
          <a:p>
            <a:r>
              <a:rPr lang="en-AT" dirty="0"/>
              <a:t>XML</a:t>
            </a:r>
          </a:p>
          <a:p>
            <a:r>
              <a:rPr lang="en-AT" dirty="0"/>
              <a:t>DTD</a:t>
            </a:r>
          </a:p>
          <a:p>
            <a:r>
              <a:rPr lang="en-AT" dirty="0"/>
              <a:t>Exam questions, if time permits</a:t>
            </a:r>
          </a:p>
        </p:txBody>
      </p:sp>
    </p:spTree>
    <p:extLst>
      <p:ext uri="{BB962C8B-B14F-4D97-AF65-F5344CB8AC3E}">
        <p14:creationId xmlns:p14="http://schemas.microsoft.com/office/powerpoint/2010/main" val="87270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DBCC-FEB3-DC69-DEF0-885E6457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Technical problems in weekly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86EF-23C2-7443-B0DB-EDD09364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&lt;Will be changed after a discussion with student experience team&gt;</a:t>
            </a:r>
          </a:p>
        </p:txBody>
      </p:sp>
    </p:spTree>
    <p:extLst>
      <p:ext uri="{BB962C8B-B14F-4D97-AF65-F5344CB8AC3E}">
        <p14:creationId xmlns:p14="http://schemas.microsoft.com/office/powerpoint/2010/main" val="379079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B2F01-39A5-4807-39BA-E8416F80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ED369-5428-EE7C-95E6-1553EA578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XML is a different way to store data</a:t>
            </a:r>
          </a:p>
          <a:p>
            <a:pPr lvl="1"/>
            <a:r>
              <a:rPr lang="en-AT" dirty="0"/>
              <a:t>In SQL, we had tables, that contained rows of data</a:t>
            </a:r>
          </a:p>
          <a:p>
            <a:pPr lvl="1"/>
            <a:r>
              <a:rPr lang="en-AT" dirty="0"/>
              <a:t>In XML, we have a “file system”-like way of storing data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25222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XML intuition</a:t>
            </a:r>
            <a:endParaRPr lang="en-US" sz="2200" dirty="0"/>
          </a:p>
        </p:txBody>
      </p:sp>
      <p:sp>
        <p:nvSpPr>
          <p:cNvPr id="46" name="Oval 45"/>
          <p:cNvSpPr/>
          <p:nvPr/>
        </p:nvSpPr>
        <p:spPr>
          <a:xfrm>
            <a:off x="5070778" y="186427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49412" y="37519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574132" y="4111997"/>
            <a:ext cx="1225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”J. </a:t>
            </a:r>
            <a:r>
              <a:rPr lang="en-US" sz="1600" dirty="0" err="1">
                <a:solidFill>
                  <a:schemeClr val="accent2"/>
                </a:solidFill>
              </a:rPr>
              <a:t>Fearnley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2045716" y="37519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1805406" y="4111997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7954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2469879" y="505498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009991" y="5415023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“COMP105”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3852613" y="50560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3117047" y="5416135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</a:t>
            </a:r>
            <a:r>
              <a:rPr lang="en-GB" sz="1600" dirty="0" err="1">
                <a:solidFill>
                  <a:schemeClr val="accent2"/>
                </a:solidFill>
              </a:rPr>
              <a:t>Progr</a:t>
            </a:r>
            <a:r>
              <a:rPr lang="en-GB" sz="1600" dirty="0">
                <a:solidFill>
                  <a:schemeClr val="accent2"/>
                </a:solidFill>
              </a:rPr>
              <a:t>. Paradigms”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4527416" y="37519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3858888" y="4111997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3204485" y="375003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3204485" y="258633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5921957" y="375084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441900" y="4110885"/>
            <a:ext cx="1234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”M. 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6648336" y="505498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6209845" y="5415023"/>
            <a:ext cx="1194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“COMP211”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0" name="Oval 69"/>
          <p:cNvSpPr/>
          <p:nvPr/>
        </p:nvSpPr>
        <p:spPr>
          <a:xfrm>
            <a:off x="7791713" y="505609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7436309" y="5416135"/>
            <a:ext cx="12195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“Internet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74" name="Oval 73"/>
          <p:cNvSpPr/>
          <p:nvPr/>
        </p:nvSpPr>
        <p:spPr>
          <a:xfrm>
            <a:off x="7382942" y="3748925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941585" y="258633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6" idx="3"/>
            <a:endCxn id="63" idx="7"/>
          </p:cNvCxnSpPr>
          <p:nvPr/>
        </p:nvCxnSpPr>
        <p:spPr>
          <a:xfrm flipH="1">
            <a:off x="3438966" y="2098754"/>
            <a:ext cx="1672043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46" idx="5"/>
            <a:endCxn id="75" idx="1"/>
          </p:cNvCxnSpPr>
          <p:nvPr/>
        </p:nvCxnSpPr>
        <p:spPr>
          <a:xfrm>
            <a:off x="5305259" y="2098754"/>
            <a:ext cx="1676557" cy="52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63" idx="2"/>
            <a:endCxn id="52" idx="7"/>
          </p:cNvCxnSpPr>
          <p:nvPr/>
        </p:nvCxnSpPr>
        <p:spPr>
          <a:xfrm flipH="1">
            <a:off x="1283893" y="2723694"/>
            <a:ext cx="1920592" cy="1068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63" idx="3"/>
            <a:endCxn id="54" idx="7"/>
          </p:cNvCxnSpPr>
          <p:nvPr/>
        </p:nvCxnSpPr>
        <p:spPr>
          <a:xfrm flipH="1">
            <a:off x="2280198" y="2820818"/>
            <a:ext cx="964519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63" idx="4"/>
            <a:endCxn id="62" idx="0"/>
          </p:cNvCxnSpPr>
          <p:nvPr/>
        </p:nvCxnSpPr>
        <p:spPr>
          <a:xfrm>
            <a:off x="3341841" y="2861049"/>
            <a:ext cx="0" cy="88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3" idx="5"/>
            <a:endCxn id="60" idx="1"/>
          </p:cNvCxnSpPr>
          <p:nvPr/>
        </p:nvCxnSpPr>
        <p:spPr>
          <a:xfrm>
            <a:off x="3438967" y="2820818"/>
            <a:ext cx="1128681" cy="971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5" idx="3"/>
            <a:endCxn id="64" idx="7"/>
          </p:cNvCxnSpPr>
          <p:nvPr/>
        </p:nvCxnSpPr>
        <p:spPr>
          <a:xfrm flipH="1">
            <a:off x="6156438" y="2820818"/>
            <a:ext cx="825378" cy="97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5"/>
            <a:endCxn id="74" idx="0"/>
          </p:cNvCxnSpPr>
          <p:nvPr/>
        </p:nvCxnSpPr>
        <p:spPr>
          <a:xfrm>
            <a:off x="7176066" y="2820819"/>
            <a:ext cx="344232" cy="9281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62" idx="3"/>
            <a:endCxn id="56" idx="7"/>
          </p:cNvCxnSpPr>
          <p:nvPr/>
        </p:nvCxnSpPr>
        <p:spPr>
          <a:xfrm flipH="1">
            <a:off x="2704360" y="3984518"/>
            <a:ext cx="540356" cy="1110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62" idx="5"/>
            <a:endCxn id="58" idx="1"/>
          </p:cNvCxnSpPr>
          <p:nvPr/>
        </p:nvCxnSpPr>
        <p:spPr>
          <a:xfrm>
            <a:off x="3438966" y="3984518"/>
            <a:ext cx="453878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74" idx="3"/>
            <a:endCxn id="68" idx="7"/>
          </p:cNvCxnSpPr>
          <p:nvPr/>
        </p:nvCxnSpPr>
        <p:spPr>
          <a:xfrm flipH="1">
            <a:off x="6882817" y="3983406"/>
            <a:ext cx="540356" cy="111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74" idx="4"/>
            <a:endCxn id="70" idx="1"/>
          </p:cNvCxnSpPr>
          <p:nvPr/>
        </p:nvCxnSpPr>
        <p:spPr>
          <a:xfrm>
            <a:off x="7520298" y="4023638"/>
            <a:ext cx="311646" cy="107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3715060" y="2028768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789441" y="1905475"/>
            <a:ext cx="840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lecturer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883833" y="2819706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cxnSp>
        <p:nvCxnSpPr>
          <p:cNvPr id="117" name="Straight Arrow Connector 116"/>
          <p:cNvCxnSpPr>
            <a:cxnSpLocks/>
            <a:endCxn id="97" idx="1"/>
          </p:cNvCxnSpPr>
          <p:nvPr/>
        </p:nvCxnSpPr>
        <p:spPr>
          <a:xfrm>
            <a:off x="7176066" y="2723694"/>
            <a:ext cx="2586231" cy="31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2554697" y="3340575"/>
            <a:ext cx="718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phone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314185" y="3284871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991338" y="2992039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 rot="18847236">
            <a:off x="6026986" y="3198817"/>
            <a:ext cx="655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name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6606666" y="3268724"/>
            <a:ext cx="8286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teaches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2883679" y="4484915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734993" y="4484915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505772" y="4494199"/>
            <a:ext cx="58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code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206072" y="4494199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title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8835314" y="5038378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8828240" y="5415023"/>
            <a:ext cx="288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chemeClr val="accent2"/>
                </a:solidFill>
              </a:rPr>
              <a:t>2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34" name="Straight Arrow Connector 133"/>
          <p:cNvCxnSpPr>
            <a:stCxn id="74" idx="6"/>
            <a:endCxn id="132" idx="1"/>
          </p:cNvCxnSpPr>
          <p:nvPr/>
        </p:nvCxnSpPr>
        <p:spPr>
          <a:xfrm>
            <a:off x="7657655" y="3886281"/>
            <a:ext cx="1217891" cy="1192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7897492" y="4484915"/>
            <a:ext cx="547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year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102169" y="2543058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accent3"/>
                </a:solidFill>
              </a:rPr>
              <a:t>memberOf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8719964" y="3771043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6" name="Straight Arrow Connector 145"/>
          <p:cNvCxnSpPr>
            <a:stCxn id="75" idx="6"/>
            <a:endCxn id="145" idx="1"/>
          </p:cNvCxnSpPr>
          <p:nvPr/>
        </p:nvCxnSpPr>
        <p:spPr>
          <a:xfrm>
            <a:off x="7216297" y="2723694"/>
            <a:ext cx="1543898" cy="1087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7928981" y="3002021"/>
            <a:ext cx="641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accent3"/>
                </a:solidFill>
              </a:rPr>
              <a:t>email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296254" y="4081157"/>
            <a:ext cx="1158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</a:rPr>
              <a:t>“</a:t>
            </a:r>
            <a:r>
              <a:rPr lang="en-US" sz="1600" dirty="0" err="1">
                <a:solidFill>
                  <a:schemeClr val="accent2"/>
                </a:solidFill>
              </a:rPr>
              <a:t>gairing</a:t>
            </a:r>
            <a:r>
              <a:rPr lang="en-US" sz="1600" dirty="0">
                <a:solidFill>
                  <a:schemeClr val="accent2"/>
                </a:solidFill>
              </a:rPr>
              <a:t>@...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025" name="Picture 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89" y="2421374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713" y="1722637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131" y="3645418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530" y="2409122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754" y="7452824"/>
            <a:ext cx="96247" cy="96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65" y="365342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340" y="3632608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280" y="4998590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5379" y="4950948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373" y="3672265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448" y="3639266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992" y="4936411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433" y="4979847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459" y="4954475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3" descr="mage result for windows text fil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755" y="3721070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 descr="hange Folder Icon in Windows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265" y="3679129"/>
            <a:ext cx="548680" cy="54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F945D9E1-B68B-494C-B041-1A2680898C77}"/>
              </a:ext>
            </a:extLst>
          </p:cNvPr>
          <p:cNvSpPr/>
          <p:nvPr/>
        </p:nvSpPr>
        <p:spPr>
          <a:xfrm>
            <a:off x="9826340" y="2902457"/>
            <a:ext cx="274712" cy="2747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9478F05-FF08-4D9D-AF02-A67B16B581F4}"/>
              </a:ext>
            </a:extLst>
          </p:cNvPr>
          <p:cNvSpPr txBox="1"/>
          <p:nvPr/>
        </p:nvSpPr>
        <p:spPr>
          <a:xfrm>
            <a:off x="9157812" y="3262497"/>
            <a:ext cx="1611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accent2"/>
                </a:solidFill>
              </a:rPr>
              <a:t>”Economics &amp; </a:t>
            </a:r>
            <a:r>
              <a:rPr lang="mr-IN" sz="1600" dirty="0">
                <a:solidFill>
                  <a:schemeClr val="accent2"/>
                </a:solidFill>
              </a:rPr>
              <a:t>…</a:t>
            </a:r>
            <a:r>
              <a:rPr lang="en-GB" sz="1600" dirty="0">
                <a:solidFill>
                  <a:schemeClr val="accent2"/>
                </a:solidFill>
              </a:rPr>
              <a:t>”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97" name="Picture 3" descr="mage result for windows text file icon">
            <a:extLst>
              <a:ext uri="{FF2B5EF4-FFF2-40B4-BE49-F238E27FC236}">
                <a16:creationId xmlns:a16="http://schemas.microsoft.com/office/drawing/2014/main" id="{5C121E70-5308-4C06-8C81-84624052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297" y="2822765"/>
            <a:ext cx="427730" cy="42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367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1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275D-FA0B-47A5-25AE-F3970F18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How to write an XML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4066-908F-2C50-BFDF-82FE80575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You should start with the line:</a:t>
            </a:r>
          </a:p>
          <a:p>
            <a:pPr lvl="1"/>
            <a:r>
              <a:rPr lang="en-US" dirty="0"/>
              <a:t>&lt;?xml version="1.0" encoding="utf-8" standalone="yes" ?&gt;</a:t>
            </a:r>
            <a:endParaRPr lang="en-AT" dirty="0"/>
          </a:p>
          <a:p>
            <a:r>
              <a:rPr lang="en-AT" dirty="0"/>
              <a:t>There is also:</a:t>
            </a:r>
          </a:p>
          <a:p>
            <a:pPr lvl="1"/>
            <a:r>
              <a:rPr lang="en-US" dirty="0"/>
              <a:t>&lt;?xml version="</a:t>
            </a:r>
            <a:r>
              <a:rPr lang="en-US" b="1" dirty="0"/>
              <a:t>1.1</a:t>
            </a:r>
            <a:r>
              <a:rPr lang="en-US" dirty="0"/>
              <a:t>" encoding="utf-8" standalone="yes" ?&gt;</a:t>
            </a:r>
            <a:endParaRPr lang="en-AT" dirty="0"/>
          </a:p>
          <a:p>
            <a:pPr lvl="1"/>
            <a:r>
              <a:rPr lang="en-GB" dirty="0"/>
              <a:t>Extremely arcane differences: A new line break character, a new line separator character, a few more control characters are allowed</a:t>
            </a:r>
            <a:endParaRPr lang="en-AT" dirty="0"/>
          </a:p>
          <a:p>
            <a:r>
              <a:rPr lang="en-AT" dirty="0"/>
              <a:t>A single root tag</a:t>
            </a:r>
          </a:p>
          <a:p>
            <a:r>
              <a:rPr lang="en-AT" dirty="0"/>
              <a:t>Proper nesting of tags</a:t>
            </a:r>
          </a:p>
          <a:p>
            <a:r>
              <a:rPr lang="en-AT" dirty="0"/>
              <a:t>At most one of each attribute per tag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BB57FB-F689-1690-5432-663A999681A2}"/>
              </a:ext>
            </a:extLst>
          </p:cNvPr>
          <p:cNvCxnSpPr/>
          <p:nvPr/>
        </p:nvCxnSpPr>
        <p:spPr>
          <a:xfrm>
            <a:off x="8831766" y="1851102"/>
            <a:ext cx="0" cy="40144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DBF8C5-0E76-D225-3C20-36B975A009A8}"/>
              </a:ext>
            </a:extLst>
          </p:cNvPr>
          <p:cNvSpPr txBox="1"/>
          <p:nvPr/>
        </p:nvSpPr>
        <p:spPr>
          <a:xfrm>
            <a:off x="7616283" y="1540985"/>
            <a:ext cx="2868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No if using DTD/XMLSchema</a:t>
            </a:r>
          </a:p>
        </p:txBody>
      </p:sp>
    </p:spTree>
    <p:extLst>
      <p:ext uri="{BB962C8B-B14F-4D97-AF65-F5344CB8AC3E}">
        <p14:creationId xmlns:p14="http://schemas.microsoft.com/office/powerpoint/2010/main" val="333393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&amp;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An element has the following form: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Elements may be nested</a:t>
            </a:r>
          </a:p>
          <a:p>
            <a:pPr lvl="1"/>
            <a:r>
              <a:rPr lang="en-US" sz="2000" dirty="0" err="1"/>
              <a:t>Nestings</a:t>
            </a:r>
            <a:r>
              <a:rPr lang="en-US" sz="2000" dirty="0"/>
              <a:t> must be proper</a:t>
            </a:r>
          </a:p>
          <a:p>
            <a:pPr lvl="1"/>
            <a:r>
              <a:rPr lang="en-US" sz="2000" dirty="0"/>
              <a:t>The </a:t>
            </a:r>
            <a:r>
              <a:rPr lang="en-US" sz="2000" b="1" dirty="0"/>
              <a:t>root element </a:t>
            </a:r>
            <a:r>
              <a:rPr lang="en-US" sz="2000" dirty="0"/>
              <a:t>is the element not contained in any other element</a:t>
            </a:r>
          </a:p>
          <a:p>
            <a:pPr lvl="1"/>
            <a:r>
              <a:rPr lang="en-US" sz="2000" dirty="0"/>
              <a:t>A well-formed XML document must have </a:t>
            </a:r>
            <a:r>
              <a:rPr lang="en-US" sz="2000" b="1" dirty="0"/>
              <a:t>exactly one root element</a:t>
            </a:r>
          </a:p>
          <a:p>
            <a:r>
              <a:rPr lang="en-US" sz="2400" dirty="0"/>
              <a:t>Elements may be empty, in which case we combine the opening and the closing tag: &lt;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 /&gt;</a:t>
            </a:r>
          </a:p>
          <a:p>
            <a:r>
              <a:rPr lang="en-US" sz="2400" dirty="0"/>
              <a:t>Elements are case sensitive</a:t>
            </a:r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844345" y="2772051"/>
            <a:ext cx="4691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&lt;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&gt;arbitrary text&lt;/</a:t>
            </a:r>
            <a:r>
              <a:rPr lang="en-US" sz="2400" dirty="0">
                <a:solidFill>
                  <a:schemeClr val="accent2"/>
                </a:solidFill>
              </a:rPr>
              <a:t>keyword</a:t>
            </a:r>
            <a:r>
              <a:rPr lang="en-US" sz="2400" dirty="0"/>
              <a:t>&gt;</a:t>
            </a:r>
          </a:p>
        </p:txBody>
      </p:sp>
      <p:sp>
        <p:nvSpPr>
          <p:cNvPr id="6" name="Right Brace 5"/>
          <p:cNvSpPr/>
          <p:nvPr/>
        </p:nvSpPr>
        <p:spPr>
          <a:xfrm rot="5400000">
            <a:off x="6045946" y="1156224"/>
            <a:ext cx="188329" cy="444751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57669" y="3456653"/>
            <a:ext cx="964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element</a:t>
            </a:r>
          </a:p>
        </p:txBody>
      </p:sp>
      <p:sp>
        <p:nvSpPr>
          <p:cNvPr id="8" name="Right Brace 7"/>
          <p:cNvSpPr/>
          <p:nvPr/>
        </p:nvSpPr>
        <p:spPr>
          <a:xfrm rot="16200000" flipV="1">
            <a:off x="4507417" y="1939935"/>
            <a:ext cx="241051" cy="14231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6304" y="2151217"/>
            <a:ext cx="1295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opening tag</a:t>
            </a:r>
          </a:p>
        </p:txBody>
      </p:sp>
      <p:sp>
        <p:nvSpPr>
          <p:cNvPr id="11" name="Right Brace 10"/>
          <p:cNvSpPr/>
          <p:nvPr/>
        </p:nvSpPr>
        <p:spPr>
          <a:xfrm rot="16200000" flipV="1">
            <a:off x="7523261" y="1931443"/>
            <a:ext cx="241053" cy="14401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61954" y="2151217"/>
            <a:ext cx="1177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closing tag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174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Elements can have attributes (name-value pairs), which are put into the element’s opening tag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Only one attribute of a given name for each element</a:t>
            </a:r>
          </a:p>
          <a:p>
            <a:r>
              <a:rPr lang="en-US" sz="2400" dirty="0"/>
              <a:t>Useful for ”references”</a:t>
            </a:r>
          </a:p>
          <a:p>
            <a:r>
              <a:rPr lang="en-US" sz="2400" dirty="0"/>
              <a:t>When to use attributes or sub-elements?</a:t>
            </a:r>
          </a:p>
          <a:p>
            <a:pPr lvl="1"/>
            <a:r>
              <a:rPr lang="en-US" sz="2000" dirty="0"/>
              <a:t>Staff ID of a lecturer</a:t>
            </a:r>
          </a:p>
          <a:p>
            <a:pPr lvl="1"/>
            <a:r>
              <a:rPr lang="en-US" sz="2000" dirty="0"/>
              <a:t>Email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1624" y="2348881"/>
            <a:ext cx="704846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&lt;lecturer name="J. </a:t>
            </a:r>
            <a:r>
              <a:rPr lang="en-US" sz="2000" dirty="0" err="1"/>
              <a:t>Fearnley</a:t>
            </a:r>
            <a:r>
              <a:rPr lang="en-US" sz="2000" dirty="0"/>
              <a:t>"&gt;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      &lt;module </a:t>
            </a:r>
            <a:r>
              <a:rPr lang="en-US" sz="2000" dirty="0">
                <a:solidFill>
                  <a:schemeClr val="accent2"/>
                </a:solidFill>
              </a:rPr>
              <a:t>code=”COMP105” </a:t>
            </a:r>
            <a:r>
              <a:rPr lang="en-US" sz="2000" dirty="0">
                <a:solidFill>
                  <a:schemeClr val="accent1"/>
                </a:solidFill>
              </a:rPr>
              <a:t>title=“Programming Paradigms”</a:t>
            </a:r>
            <a:r>
              <a:rPr lang="en-US" sz="2000" dirty="0"/>
              <a:t> /&gt;</a:t>
            </a:r>
            <a:endParaRPr lang="en-GB" sz="2000" dirty="0"/>
          </a:p>
          <a:p>
            <a:pPr>
              <a:spcBef>
                <a:spcPts val="600"/>
              </a:spcBef>
            </a:pPr>
            <a:r>
              <a:rPr lang="en-GB" sz="2000" dirty="0"/>
              <a:t>&lt;/lecturer&gt;</a:t>
            </a:r>
            <a:endParaRPr lang="en-US" sz="2000" dirty="0"/>
          </a:p>
        </p:txBody>
      </p:sp>
      <p:sp>
        <p:nvSpPr>
          <p:cNvPr id="7" name="Right Brace 6"/>
          <p:cNvSpPr/>
          <p:nvPr/>
        </p:nvSpPr>
        <p:spPr>
          <a:xfrm rot="5400000">
            <a:off x="4954049" y="2313814"/>
            <a:ext cx="170837" cy="182514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39816" y="3348722"/>
            <a:ext cx="1199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attribute 1</a:t>
            </a:r>
          </a:p>
        </p:txBody>
      </p:sp>
      <p:sp>
        <p:nvSpPr>
          <p:cNvPr id="9" name="Right Brace 8"/>
          <p:cNvSpPr/>
          <p:nvPr/>
        </p:nvSpPr>
        <p:spPr>
          <a:xfrm rot="5400000">
            <a:off x="7594813" y="1642211"/>
            <a:ext cx="170838" cy="31683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104169" y="3348722"/>
            <a:ext cx="1199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attribute 2</a:t>
            </a:r>
          </a:p>
        </p:txBody>
      </p:sp>
      <p:sp>
        <p:nvSpPr>
          <p:cNvPr id="11" name="Rounded Rectangular Callout 11">
            <a:extLst>
              <a:ext uri="{FF2B5EF4-FFF2-40B4-BE49-F238E27FC236}">
                <a16:creationId xmlns:a16="http://schemas.microsoft.com/office/drawing/2014/main" id="{1D1BAA59-9961-41F5-ABF9-5E574FE62219}"/>
              </a:ext>
            </a:extLst>
          </p:cNvPr>
          <p:cNvSpPr/>
          <p:nvPr/>
        </p:nvSpPr>
        <p:spPr>
          <a:xfrm>
            <a:off x="4173679" y="5232666"/>
            <a:ext cx="997035" cy="283344"/>
          </a:xfrm>
          <a:prstGeom prst="wedgeRoundRectCallout">
            <a:avLst>
              <a:gd name="adj1" fmla="val -107365"/>
              <a:gd name="adj2" fmla="val 9961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Either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477D939C-DCAA-4821-8889-82A05698E10E}"/>
              </a:ext>
            </a:extLst>
          </p:cNvPr>
          <p:cNvSpPr/>
          <p:nvPr/>
        </p:nvSpPr>
        <p:spPr>
          <a:xfrm>
            <a:off x="4173679" y="5585750"/>
            <a:ext cx="3217721" cy="283344"/>
          </a:xfrm>
          <a:prstGeom prst="wedgeRoundRectCallout">
            <a:avLst>
              <a:gd name="adj1" fmla="val -68460"/>
              <a:gd name="adj2" fmla="val -13090"/>
              <a:gd name="adj3" fmla="val 16667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Sub-element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(due to multiples)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495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B8D9-AAED-F4CD-47BD-A751AD87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Schemas for XML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C54B-A21D-56DD-4CFC-2B0C62A2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In SQL we can have a schema for a table like:</a:t>
            </a:r>
          </a:p>
          <a:p>
            <a:pPr lvl="1"/>
            <a:r>
              <a:rPr lang="en-AT" dirty="0"/>
              <a:t>Customers(c_id,first_name,last_name,birth_day)</a:t>
            </a:r>
          </a:p>
          <a:p>
            <a:r>
              <a:rPr lang="en-AT" dirty="0"/>
              <a:t>In XML, there are two main kinds:</a:t>
            </a:r>
          </a:p>
          <a:p>
            <a:pPr lvl="1"/>
            <a:r>
              <a:rPr lang="en-AT" dirty="0"/>
              <a:t>DTD (required for the exam)</a:t>
            </a:r>
          </a:p>
          <a:p>
            <a:pPr lvl="1"/>
            <a:r>
              <a:rPr lang="en-AT" dirty="0"/>
              <a:t>XML Schema (not required for the exam)</a:t>
            </a:r>
          </a:p>
          <a:p>
            <a:pPr lvl="2"/>
            <a:r>
              <a:rPr lang="en-AT" dirty="0"/>
              <a:t>XML Schema is better in most ways but takes up a lot of space to write down</a:t>
            </a:r>
          </a:p>
          <a:p>
            <a:pPr lvl="1"/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5661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E7266-BD68-8035-EE37-09375CEA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DTD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CF93C-76CB-3837-8423-001B8C7F8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T" dirty="0"/>
              <a:t>Schema looks like this:</a:t>
            </a:r>
          </a:p>
          <a:p>
            <a:endParaRPr lang="en-AT" dirty="0"/>
          </a:p>
          <a:p>
            <a:endParaRPr lang="en-AT" dirty="0"/>
          </a:p>
          <a:p>
            <a:endParaRPr lang="en-AT" dirty="0"/>
          </a:p>
          <a:p>
            <a:r>
              <a:rPr lang="en-AT" dirty="0"/>
              <a:t>Inside, you have three kinds of lines: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&lt;!ELEMENT lecturer (name, phone?, email*, teaches+)&gt;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For elements</a:t>
            </a:r>
          </a:p>
          <a:p>
            <a:pPr lvl="1"/>
            <a:r>
              <a:rPr lang="en-US" altLang="en-US" dirty="0"/>
              <a:t>&lt;!ATTLIST </a:t>
            </a:r>
            <a:r>
              <a:rPr lang="en-GB" dirty="0"/>
              <a:t>module</a:t>
            </a:r>
            <a:r>
              <a:rPr lang="en-US" altLang="en-US" dirty="0"/>
              <a:t> code CDATA </a:t>
            </a:r>
            <a:r>
              <a:rPr lang="en-GB" dirty="0"/>
              <a:t>#IMPLIED</a:t>
            </a:r>
            <a:r>
              <a:rPr lang="en-US" altLang="en-US" dirty="0"/>
              <a:t>&gt;</a:t>
            </a:r>
          </a:p>
          <a:p>
            <a:pPr lvl="2"/>
            <a:r>
              <a:rPr lang="en-US" altLang="en-US" dirty="0"/>
              <a:t>For attributes</a:t>
            </a:r>
          </a:p>
          <a:p>
            <a:pPr lvl="2"/>
            <a:r>
              <a:rPr lang="en-US" altLang="en-US" dirty="0"/>
              <a:t>code is an attribute of element module</a:t>
            </a:r>
          </a:p>
          <a:p>
            <a:pPr lvl="1"/>
            <a:r>
              <a:rPr lang="en-US" altLang="en-US" dirty="0"/>
              <a:t>&lt;!-- and --&gt;</a:t>
            </a:r>
          </a:p>
          <a:p>
            <a:pPr lvl="2"/>
            <a:r>
              <a:rPr lang="en-US" dirty="0"/>
              <a:t>For comments</a:t>
            </a:r>
          </a:p>
          <a:p>
            <a:pPr lvl="1"/>
            <a:endParaRPr lang="en-AT" dirty="0"/>
          </a:p>
          <a:p>
            <a:endParaRPr lang="en-A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0CC72-0C53-2F4B-57BE-736C1B12B737}"/>
              </a:ext>
            </a:extLst>
          </p:cNvPr>
          <p:cNvSpPr txBox="1"/>
          <p:nvPr/>
        </p:nvSpPr>
        <p:spPr>
          <a:xfrm>
            <a:off x="3253037" y="2095020"/>
            <a:ext cx="22497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&lt;!DOCTYPE lecturers [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]&gt;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A5E8425B-57DB-3570-4AF5-A79E73CF1928}"/>
              </a:ext>
            </a:extLst>
          </p:cNvPr>
          <p:cNvSpPr/>
          <p:nvPr/>
        </p:nvSpPr>
        <p:spPr>
          <a:xfrm>
            <a:off x="4782675" y="1678259"/>
            <a:ext cx="1440160" cy="368454"/>
          </a:xfrm>
          <a:prstGeom prst="wedgeRoundRectCallout">
            <a:avLst>
              <a:gd name="adj1" fmla="val -36703"/>
              <a:gd name="adj2" fmla="val 783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root tag name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DE57AB5A-9A03-9050-7D4F-7C97A6920461}"/>
              </a:ext>
            </a:extLst>
          </p:cNvPr>
          <p:cNvSpPr/>
          <p:nvPr/>
        </p:nvSpPr>
        <p:spPr>
          <a:xfrm>
            <a:off x="4757532" y="2651872"/>
            <a:ext cx="2334155" cy="368454"/>
          </a:xfrm>
          <a:prstGeom prst="wedgeRoundRectCallout">
            <a:avLst>
              <a:gd name="adj1" fmla="val -57074"/>
              <a:gd name="adj2" fmla="val -2089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The DTD is included here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D56E49-FE3F-49AB-034A-EF0A798A214C}"/>
              </a:ext>
            </a:extLst>
          </p:cNvPr>
          <p:cNvCxnSpPr>
            <a:cxnSpLocks/>
          </p:cNvCxnSpPr>
          <p:nvPr/>
        </p:nvCxnSpPr>
        <p:spPr>
          <a:xfrm flipH="1">
            <a:off x="7537838" y="3472576"/>
            <a:ext cx="156117" cy="401444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12207B6-9FEC-ACBA-53CE-AB4CCB50A5DE}"/>
              </a:ext>
            </a:extLst>
          </p:cNvPr>
          <p:cNvSpPr txBox="1"/>
          <p:nvPr/>
        </p:nvSpPr>
        <p:spPr>
          <a:xfrm>
            <a:off x="7268059" y="2124772"/>
            <a:ext cx="38132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4 options: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Nothing – like with name: exactly 1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?: either 0 or 1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*: at least 0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+: at least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2CD28-5F06-58FB-3B7F-CADBE6E58EDC}"/>
              </a:ext>
            </a:extLst>
          </p:cNvPr>
          <p:cNvSpPr txBox="1"/>
          <p:nvPr/>
        </p:nvSpPr>
        <p:spPr>
          <a:xfrm>
            <a:off x="6791610" y="5011247"/>
            <a:ext cx="35763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Instead of a list, you can also write: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EMPTY: </a:t>
            </a:r>
            <a:r>
              <a:rPr lang="en-AT" dirty="0"/>
              <a:t>element must be empty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T" dirty="0"/>
              <a:t>(#PCDATA): element contains text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523CD-F6B8-9A8D-D524-085C47D27208}"/>
              </a:ext>
            </a:extLst>
          </p:cNvPr>
          <p:cNvCxnSpPr>
            <a:cxnSpLocks/>
          </p:cNvCxnSpPr>
          <p:nvPr/>
        </p:nvCxnSpPr>
        <p:spPr>
          <a:xfrm flipH="1" flipV="1">
            <a:off x="7039459" y="4207259"/>
            <a:ext cx="777159" cy="80398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B085BAB-5F93-A9A1-B669-CD33F8812B13}"/>
              </a:ext>
            </a:extLst>
          </p:cNvPr>
          <p:cNvSpPr txBox="1"/>
          <p:nvPr/>
        </p:nvSpPr>
        <p:spPr>
          <a:xfrm>
            <a:off x="3706212" y="5461701"/>
            <a:ext cx="29857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4 options: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#IMPLIED: optional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#REQUIRED: not optional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#FIXED “bla”: always “bla”</a:t>
            </a:r>
          </a:p>
          <a:p>
            <a:pPr marL="342900" indent="-342900">
              <a:buFont typeface="+mj-lt"/>
              <a:buAutoNum type="arabicPeriod"/>
            </a:pPr>
            <a:r>
              <a:rPr lang="en-AT" dirty="0"/>
              <a:t>“bla”: defaults to “bla”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F64D85-1258-EFC1-8F08-56877E014825}"/>
              </a:ext>
            </a:extLst>
          </p:cNvPr>
          <p:cNvCxnSpPr>
            <a:cxnSpLocks/>
          </p:cNvCxnSpPr>
          <p:nvPr/>
        </p:nvCxnSpPr>
        <p:spPr>
          <a:xfrm flipV="1">
            <a:off x="6101802" y="4905764"/>
            <a:ext cx="126835" cy="892097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26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9" grpId="0"/>
      <p:bldP spid="11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DTDs – Attribute Data types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79" y="1845734"/>
            <a:ext cx="10242843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CDATA: character data, containing any text.</a:t>
            </a:r>
          </a:p>
          <a:p>
            <a:r>
              <a:rPr lang="en-US" altLang="en-US" dirty="0"/>
              <a:t>ID: used to identify individual elements in document (ID is an element name).</a:t>
            </a:r>
          </a:p>
          <a:p>
            <a:r>
              <a:rPr lang="en-US" altLang="en-US" dirty="0"/>
              <a:t>IDREF/IDREFS: must correspond to value of ID attribute(s) for some element in document</a:t>
            </a:r>
          </a:p>
          <a:p>
            <a:pPr lvl="1"/>
            <a:r>
              <a:rPr lang="en-US" altLang="en-US" dirty="0"/>
              <a:t>(The previously mentioned shortcuts)</a:t>
            </a:r>
          </a:p>
          <a:p>
            <a:pPr lvl="1"/>
            <a:r>
              <a:rPr lang="en-US" altLang="en-US" dirty="0"/>
              <a:t>Note: You can </a:t>
            </a:r>
            <a:r>
              <a:rPr lang="en-US" altLang="en-US" b="1" dirty="0"/>
              <a:t>not</a:t>
            </a:r>
            <a:r>
              <a:rPr lang="en-US" altLang="en-US" dirty="0"/>
              <a:t> define what type you are pointing at exactly, but just that it is some ID for some object</a:t>
            </a:r>
          </a:p>
          <a:p>
            <a:r>
              <a:rPr lang="en-US" altLang="en-US" dirty="0"/>
              <a:t>List of names: values that attribute can hold (enumerated type)</a:t>
            </a:r>
          </a:p>
          <a:p>
            <a:pPr lvl="1"/>
            <a:r>
              <a:rPr lang="en-US" altLang="en-US" dirty="0"/>
              <a:t>Format</a:t>
            </a:r>
            <a:r>
              <a:rPr lang="en-US" altLang="en-US" sz="2000" dirty="0"/>
              <a:t>: </a:t>
            </a:r>
            <a:r>
              <a:rPr lang="en-GB" sz="2000" dirty="0"/>
              <a:t>(en1|en2|…) meaning the value can be either en1 or en2 or …</a:t>
            </a:r>
            <a:endParaRPr lang="en-US" altLang="en-US" sz="2000" dirty="0"/>
          </a:p>
        </p:txBody>
      </p:sp>
      <p:sp>
        <p:nvSpPr>
          <p:cNvPr id="41989" name="Text Box 2"/>
          <p:cNvSpPr txBox="1">
            <a:spLocks noChangeArrowheads="1"/>
          </p:cNvSpPr>
          <p:nvPr/>
        </p:nvSpPr>
        <p:spPr bwMode="auto">
          <a:xfrm>
            <a:off x="4648200" y="6430964"/>
            <a:ext cx="3200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   </a:t>
            </a:r>
            <a:endParaRPr lang="en-GB" altLang="en-US" sz="12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43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4|9.3|13.4|6.4|7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3.4|29.5|55.3|27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1|4.8|12.5|32.5|14.1|26|17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9.7|43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ST theme powerpoint">
  <a:themeElements>
    <a:clrScheme name="Custom 8">
      <a:dk1>
        <a:srgbClr val="374C22"/>
      </a:dk1>
      <a:lt1>
        <a:sysClr val="window" lastClr="FFFFFF"/>
      </a:lt1>
      <a:dk2>
        <a:srgbClr val="194431"/>
      </a:dk2>
      <a:lt2>
        <a:srgbClr val="F0E6C3"/>
      </a:lt2>
      <a:accent1>
        <a:srgbClr val="F8C000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ln w="63500"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63500"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IST theme powerpoint</Template>
  <TotalTime>200</TotalTime>
  <Words>713</Words>
  <Application>Microsoft Macintosh PowerPoint</Application>
  <PresentationFormat>Widescreen</PresentationFormat>
  <Paragraphs>134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IST theme powerpoint</vt:lpstr>
      <vt:lpstr>Lecture 15</vt:lpstr>
      <vt:lpstr>Overview</vt:lpstr>
      <vt:lpstr>Technical problems in weekly assessment</vt:lpstr>
      <vt:lpstr>XML</vt:lpstr>
      <vt:lpstr>XML intuition</vt:lpstr>
      <vt:lpstr>How to write an XML file</vt:lpstr>
      <vt:lpstr>Elements &amp; Tags</vt:lpstr>
      <vt:lpstr>Attributes</vt:lpstr>
      <vt:lpstr>Schemas for XML files</vt:lpstr>
      <vt:lpstr>DTD</vt:lpstr>
      <vt:lpstr>DTDs – Attribute Data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</dc:title>
  <dc:creator>Ibsen-Jensen, Rasmus</dc:creator>
  <cp:lastModifiedBy>Ibsen-Jensen, Rasmus</cp:lastModifiedBy>
  <cp:revision>2</cp:revision>
  <dcterms:created xsi:type="dcterms:W3CDTF">2023-11-13T18:46:46Z</dcterms:created>
  <dcterms:modified xsi:type="dcterms:W3CDTF">2023-11-13T22:07:21Z</dcterms:modified>
</cp:coreProperties>
</file>