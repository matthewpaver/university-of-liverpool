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4" r:id="rId3"/>
    <p:sldId id="257" r:id="rId4"/>
    <p:sldId id="258" r:id="rId5"/>
    <p:sldId id="262" r:id="rId6"/>
    <p:sldId id="265" r:id="rId7"/>
    <p:sldId id="266" r:id="rId8"/>
    <p:sldId id="267" r:id="rId9"/>
    <p:sldId id="268" r:id="rId10"/>
    <p:sldId id="269" r:id="rId11"/>
    <p:sldId id="270" r:id="rId12"/>
    <p:sldId id="272" r:id="rId13"/>
    <p:sldId id="271" r:id="rId14"/>
    <p:sldId id="260" r:id="rId15"/>
    <p:sldId id="261" r:id="rId16"/>
    <p:sldId id="26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53"/>
    <p:restoredTop sz="95897"/>
  </p:normalViewPr>
  <p:slideViewPr>
    <p:cSldViewPr snapToGrid="0">
      <p:cViewPr varScale="1">
        <p:scale>
          <a:sx n="90" d="100"/>
          <a:sy n="90" d="100"/>
        </p:scale>
        <p:origin x="232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1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A130-FFA3-344A-85DF-23C1AFD67535}" type="datetimeFigureOut">
              <a:rPr lang="en-AT" smtClean="0"/>
              <a:t>29.11.23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ACA07-258E-D142-985F-7F17456361D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235372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A130-FFA3-344A-85DF-23C1AFD67535}" type="datetimeFigureOut">
              <a:rPr lang="en-AT" smtClean="0"/>
              <a:t>29.11.23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ACA07-258E-D142-985F-7F17456361D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748771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5" y="5486400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5" y="3852863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A130-FFA3-344A-85DF-23C1AFD67535}" type="datetimeFigureOut">
              <a:rPr lang="en-AT" smtClean="0"/>
              <a:t>29.11.23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ACA07-258E-D142-985F-7F17456361D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27964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A130-FFA3-344A-85DF-23C1AFD67535}" type="datetimeFigureOut">
              <a:rPr lang="en-AT" smtClean="0"/>
              <a:t>29.11.23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ACA07-258E-D142-985F-7F17456361D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61594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A130-FFA3-344A-85DF-23C1AFD67535}" type="datetimeFigureOut">
              <a:rPr lang="en-AT" smtClean="0"/>
              <a:t>29.11.23</a:t>
            </a:fld>
            <a:endParaRPr lang="en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ACA07-258E-D142-985F-7F17456361D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26174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A130-FFA3-344A-85DF-23C1AFD67535}" type="datetimeFigureOut">
              <a:rPr lang="en-AT" smtClean="0"/>
              <a:t>29.11.23</a:t>
            </a:fld>
            <a:endParaRPr lang="en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ACA07-258E-D142-985F-7F17456361D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010880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A130-FFA3-344A-85DF-23C1AFD67535}" type="datetimeFigureOut">
              <a:rPr lang="en-AT" smtClean="0"/>
              <a:t>29.11.23</a:t>
            </a:fld>
            <a:endParaRPr lang="en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ACA07-258E-D142-985F-7F17456361D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58248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A130-FFA3-344A-85DF-23C1AFD67535}" type="datetimeFigureOut">
              <a:rPr lang="en-AT" smtClean="0"/>
              <a:t>29.11.23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ACA07-258E-D142-985F-7F17456361D0}" type="slidenum">
              <a:rPr lang="en-AT" smtClean="0"/>
              <a:t>‹#›</a:t>
            </a:fld>
            <a:endParaRPr lang="en-AT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730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A130-FFA3-344A-85DF-23C1AFD67535}" type="datetimeFigureOut">
              <a:rPr lang="en-AT" smtClean="0"/>
              <a:t>29.11.23</a:t>
            </a:fld>
            <a:endParaRPr lang="en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A3ACA07-258E-D142-985F-7F17456361D0}" type="slidenum">
              <a:rPr lang="en-AT" smtClean="0"/>
              <a:t>‹#›</a:t>
            </a:fld>
            <a:endParaRPr lang="en-AT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935349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A130-FFA3-344A-85DF-23C1AFD67535}" type="datetimeFigureOut">
              <a:rPr lang="en-AT" smtClean="0"/>
              <a:t>29.11.23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ACA07-258E-D142-985F-7F17456361D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815961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336800" cy="58515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A130-FFA3-344A-85DF-23C1AFD67535}" type="datetimeFigureOut">
              <a:rPr lang="en-AT" smtClean="0"/>
              <a:t>29.11.23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ACA07-258E-D142-985F-7F17456361D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018254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254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067627" y="-121920"/>
            <a:ext cx="1246293" cy="71323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11067627" y="5753100"/>
            <a:ext cx="1246293" cy="83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EA3ACA07-258E-D142-985F-7F17456361D0}" type="slidenum">
              <a:rPr lang="en-AT" smtClean="0"/>
              <a:t>‹#›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28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69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97F6A130-FFA3-344A-85DF-23C1AFD67535}" type="datetimeFigureOut">
              <a:rPr lang="en-AT" smtClean="0"/>
              <a:t>29.11.23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968810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800" kern="1200">
          <a:solidFill>
            <a:schemeClr val="tx1"/>
          </a:solidFill>
          <a:latin typeface="Arial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500" kern="1200">
          <a:solidFill>
            <a:schemeClr val="tx1"/>
          </a:solidFill>
          <a:latin typeface="Arial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2200" kern="1200">
          <a:solidFill>
            <a:schemeClr val="tx1"/>
          </a:solidFill>
          <a:latin typeface="Arial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Arial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Arial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C4ED-05D7-18ED-5F72-0BD20D0879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T" dirty="0"/>
              <a:t>Lecture 20 (Last lecture!)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C3D2F9-F2B2-6681-B0A9-8F29008119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326024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6956-E6BE-8BF2-7597-1A75E0842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Apology for first lab yesterday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9CF09-5F93-0EF8-5A5C-65FA73BA2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Unfortunately, the T</a:t>
            </a:r>
            <a:r>
              <a:rPr lang="en-GB" dirty="0"/>
              <a:t>As told me shortly before the first lab yesterday that they could not be there</a:t>
            </a:r>
          </a:p>
          <a:p>
            <a:pPr lvl="1"/>
            <a:r>
              <a:rPr lang="en-GB" dirty="0"/>
              <a:t>Therefore, some of you had a lab with no TA present and since the labs the TAs missed were at the same time, I could not cover both well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3005818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5A89A-32EB-DA67-222C-D1624EA2B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F0C87-60B6-6C63-577E-F172A4051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What’s left after this lecture?</a:t>
            </a:r>
          </a:p>
          <a:p>
            <a:r>
              <a:rPr lang="en-AT" dirty="0"/>
              <a:t>Data-analysis</a:t>
            </a:r>
          </a:p>
          <a:p>
            <a:r>
              <a:rPr lang="en-AT" dirty="0"/>
              <a:t>Market basket data model</a:t>
            </a:r>
          </a:p>
          <a:p>
            <a:r>
              <a:rPr lang="en-AT" dirty="0"/>
              <a:t>About the exam</a:t>
            </a:r>
          </a:p>
          <a:p>
            <a:r>
              <a:rPr lang="en-AT" dirty="0"/>
              <a:t>If time permits: Some time to take the survey</a:t>
            </a:r>
          </a:p>
          <a:p>
            <a:endParaRPr lang="en-AT" dirty="0"/>
          </a:p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299595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89F37-94CA-914A-94B8-24092103B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What’s left after this lecture?</a:t>
            </a:r>
            <a:br>
              <a:rPr lang="en-AT" dirty="0"/>
            </a:br>
            <a:endParaRPr lang="en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1A996-480C-2D52-4CA5-A96CEF989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T" dirty="0"/>
              <a:t>You are supposed to </a:t>
            </a:r>
            <a:r>
              <a:rPr lang="en-AT" b="1" dirty="0">
                <a:solidFill>
                  <a:srgbClr val="FF0000"/>
                </a:solidFill>
              </a:rPr>
              <a:t>fill out the survey</a:t>
            </a:r>
          </a:p>
          <a:p>
            <a:r>
              <a:rPr lang="en-AT" dirty="0"/>
              <a:t>There are </a:t>
            </a:r>
            <a:r>
              <a:rPr lang="en-AT" b="1" dirty="0">
                <a:solidFill>
                  <a:srgbClr val="FF0000"/>
                </a:solidFill>
              </a:rPr>
              <a:t>labs next week</a:t>
            </a:r>
          </a:p>
          <a:p>
            <a:r>
              <a:rPr lang="en-AT" b="1" dirty="0">
                <a:solidFill>
                  <a:srgbClr val="FF0000"/>
                </a:solidFill>
              </a:rPr>
              <a:t>Assessments next week and the week after</a:t>
            </a:r>
          </a:p>
          <a:p>
            <a:pPr lvl="1"/>
            <a:r>
              <a:rPr lang="en-AT" dirty="0"/>
              <a:t>Both are up, so if you ain’t going to the labs next week, consider doing both soon</a:t>
            </a:r>
          </a:p>
          <a:p>
            <a:pPr lvl="1"/>
            <a:r>
              <a:rPr lang="en-AT" dirty="0"/>
              <a:t>I will upload a video of me going over each of them after their deadline</a:t>
            </a:r>
          </a:p>
          <a:p>
            <a:pPr lvl="1"/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664676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45D8F-AEA7-AF1E-0C3F-6C898D11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Remaining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B25A8-4F7D-5523-2EF5-0A55DD068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If you have a question, you can ask it:</a:t>
            </a:r>
          </a:p>
          <a:p>
            <a:pPr marL="868680" lvl="1" indent="-457200">
              <a:buFont typeface="+mj-lt"/>
              <a:buAutoNum type="arabicPeriod"/>
            </a:pPr>
            <a:r>
              <a:rPr lang="en-AT" dirty="0"/>
              <a:t>after this lecture</a:t>
            </a:r>
          </a:p>
          <a:p>
            <a:pPr marL="868680" lvl="1" indent="-457200">
              <a:buFont typeface="+mj-lt"/>
              <a:buAutoNum type="arabicPeriod"/>
            </a:pPr>
            <a:r>
              <a:rPr lang="en-AT" dirty="0"/>
              <a:t>in the labs tomorrow or next week</a:t>
            </a:r>
          </a:p>
          <a:p>
            <a:pPr lvl="2"/>
            <a:r>
              <a:rPr lang="en-AT" dirty="0"/>
              <a:t>I will attend the ones on Monday and Friday next week</a:t>
            </a:r>
          </a:p>
          <a:p>
            <a:pPr marL="868680" lvl="1" indent="-457200">
              <a:buFont typeface="+mj-lt"/>
              <a:buAutoNum type="arabicPeriod"/>
            </a:pPr>
            <a:r>
              <a:rPr lang="en-AT" dirty="0"/>
              <a:t>on the discussion board</a:t>
            </a:r>
          </a:p>
          <a:p>
            <a:pPr lvl="2"/>
            <a:r>
              <a:rPr lang="en-AT" dirty="0"/>
              <a:t>I will answer every question on the discussion board, like currently, but the amount of time it takes me over the break is likely somewhat higher</a:t>
            </a:r>
          </a:p>
          <a:p>
            <a:pPr marL="868680" lvl="1" indent="-457200">
              <a:buFont typeface="+mj-lt"/>
              <a:buAutoNum type="arabicPeriod"/>
            </a:pPr>
            <a:r>
              <a:rPr lang="en-AT" dirty="0"/>
              <a:t>in a Q&amp;A session on Microsoft Teams I will plan after I know when your exam will be</a:t>
            </a:r>
          </a:p>
        </p:txBody>
      </p:sp>
    </p:spTree>
    <p:extLst>
      <p:ext uri="{BB962C8B-B14F-4D97-AF65-F5344CB8AC3E}">
        <p14:creationId xmlns:p14="http://schemas.microsoft.com/office/powerpoint/2010/main" val="2597477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2D541-8B5B-C942-2C34-D4898027F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Data-analysis/Data-mining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C1525-E49D-AF91-1C37-C9938F504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In essence, OLTP are what is used the most but these are very simple queries:</a:t>
            </a:r>
          </a:p>
          <a:p>
            <a:pPr lvl="1"/>
            <a:r>
              <a:rPr lang="en-AT" dirty="0"/>
              <a:t>SELECT * </a:t>
            </a:r>
            <a:br>
              <a:rPr lang="en-AT" dirty="0"/>
            </a:br>
            <a:r>
              <a:rPr lang="en-AT" dirty="0"/>
              <a:t>FROM Users </a:t>
            </a:r>
            <a:br>
              <a:rPr lang="en-AT" dirty="0"/>
            </a:br>
            <a:r>
              <a:rPr lang="en-AT" dirty="0"/>
              <a:t>WHERE user_id=123456;</a:t>
            </a:r>
          </a:p>
          <a:p>
            <a:endParaRPr lang="en-AT" dirty="0"/>
          </a:p>
          <a:p>
            <a:r>
              <a:rPr lang="en-AT" dirty="0"/>
              <a:t>Data analysis on the other hand is about OLAP queries: They are more about analysing your database, using things like group by/where in appropriate ways, e.g. like what you did in the assignment</a:t>
            </a:r>
          </a:p>
          <a:p>
            <a:pPr lvl="1"/>
            <a:endParaRPr lang="en-AT" dirty="0"/>
          </a:p>
          <a:p>
            <a:pPr lvl="1"/>
            <a:endParaRPr lang="en-AT" dirty="0"/>
          </a:p>
          <a:p>
            <a:pPr lvl="1"/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1613070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4B0A6-E8B1-895E-FAAD-47BCA58E9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Star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C5B4D-99FB-D469-6E4A-B4624C0C6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Often data analysis is based on star schemas where you have a main table with additional table that can give more information about (some) of the attributes of that table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FB92EA-799B-FCDC-DA9A-EF652AA25EE4}"/>
              </a:ext>
            </a:extLst>
          </p:cNvPr>
          <p:cNvSpPr/>
          <p:nvPr/>
        </p:nvSpPr>
        <p:spPr>
          <a:xfrm>
            <a:off x="3954034" y="3990255"/>
            <a:ext cx="39445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Sales(</a:t>
            </a:r>
            <a:r>
              <a:rPr lang="en-US" sz="2000" b="1" dirty="0" err="1">
                <a:solidFill>
                  <a:schemeClr val="accent2"/>
                </a:solidFill>
              </a:rPr>
              <a:t>productNo</a:t>
            </a:r>
            <a:r>
              <a:rPr lang="en-US" sz="2000" b="1" dirty="0">
                <a:solidFill>
                  <a:schemeClr val="accent2"/>
                </a:solidFill>
              </a:rPr>
              <a:t>, date, store, price)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8365B9-705C-BD14-66F1-37BAC1720164}"/>
              </a:ext>
            </a:extLst>
          </p:cNvPr>
          <p:cNvSpPr txBox="1"/>
          <p:nvPr/>
        </p:nvSpPr>
        <p:spPr>
          <a:xfrm>
            <a:off x="3144005" y="4653136"/>
            <a:ext cx="13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Dimension 1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5645FE-E689-5E77-5B01-B1B1E9B69C59}"/>
              </a:ext>
            </a:extLst>
          </p:cNvPr>
          <p:cNvSpPr txBox="1"/>
          <p:nvPr/>
        </p:nvSpPr>
        <p:spPr>
          <a:xfrm>
            <a:off x="4460980" y="4653136"/>
            <a:ext cx="13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Dimension 2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630265-44F7-AD54-C97F-C14E608C87CB}"/>
              </a:ext>
            </a:extLst>
          </p:cNvPr>
          <p:cNvSpPr txBox="1"/>
          <p:nvPr/>
        </p:nvSpPr>
        <p:spPr>
          <a:xfrm>
            <a:off x="6456040" y="4653136"/>
            <a:ext cx="13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Dimension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F81E14-1A42-8EA8-A465-7C439E0D8EC8}"/>
              </a:ext>
            </a:extLst>
          </p:cNvPr>
          <p:cNvSpPr txBox="1"/>
          <p:nvPr/>
        </p:nvSpPr>
        <p:spPr>
          <a:xfrm>
            <a:off x="7768932" y="4653136"/>
            <a:ext cx="2133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Dependent Attribute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22A1DF-FE7F-CADA-AF7C-C52D004038B0}"/>
              </a:ext>
            </a:extLst>
          </p:cNvPr>
          <p:cNvSpPr/>
          <p:nvPr/>
        </p:nvSpPr>
        <p:spPr>
          <a:xfrm>
            <a:off x="1874503" y="3190035"/>
            <a:ext cx="38201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Products(</a:t>
            </a:r>
            <a:r>
              <a:rPr lang="en-US" sz="2000" b="1" dirty="0" err="1">
                <a:solidFill>
                  <a:schemeClr val="accent2"/>
                </a:solidFill>
              </a:rPr>
              <a:t>productNo</a:t>
            </a:r>
            <a:r>
              <a:rPr lang="en-US" sz="2000" b="1" dirty="0">
                <a:solidFill>
                  <a:schemeClr val="accent1"/>
                </a:solidFill>
              </a:rPr>
              <a:t>, type, model)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B068DE-A534-5DF5-9A1D-9BFBFA9AC984}"/>
              </a:ext>
            </a:extLst>
          </p:cNvPr>
          <p:cNvSpPr/>
          <p:nvPr/>
        </p:nvSpPr>
        <p:spPr>
          <a:xfrm>
            <a:off x="4063614" y="5424168"/>
            <a:ext cx="38349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Stores(</a:t>
            </a:r>
            <a:r>
              <a:rPr lang="en-US" sz="2000" b="1" dirty="0">
                <a:solidFill>
                  <a:schemeClr val="accent2"/>
                </a:solidFill>
              </a:rPr>
              <a:t>name</a:t>
            </a:r>
            <a:r>
              <a:rPr lang="en-US" sz="2000" b="1" dirty="0">
                <a:solidFill>
                  <a:schemeClr val="accent1"/>
                </a:solidFill>
              </a:rPr>
              <a:t>, city, country, phone)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D8D9F5-4A4F-5963-2BB8-C79BE76F7B3A}"/>
              </a:ext>
            </a:extLst>
          </p:cNvPr>
          <p:cNvSpPr/>
          <p:nvPr/>
        </p:nvSpPr>
        <p:spPr>
          <a:xfrm>
            <a:off x="6420853" y="3193583"/>
            <a:ext cx="39356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Days(</a:t>
            </a:r>
            <a:r>
              <a:rPr lang="en-US" sz="2000" b="1" dirty="0">
                <a:solidFill>
                  <a:schemeClr val="accent2"/>
                </a:solidFill>
              </a:rPr>
              <a:t>date</a:t>
            </a:r>
            <a:r>
              <a:rPr lang="en-US" sz="2000" b="1" dirty="0">
                <a:solidFill>
                  <a:schemeClr val="accent1"/>
                </a:solidFill>
              </a:rPr>
              <a:t>, day, week, month, year)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A2A915B-730D-B8B5-349C-1D1B81CF6C26}"/>
              </a:ext>
            </a:extLst>
          </p:cNvPr>
          <p:cNvSpPr/>
          <p:nvPr/>
        </p:nvSpPr>
        <p:spPr>
          <a:xfrm>
            <a:off x="3545226" y="3852916"/>
            <a:ext cx="4752528" cy="680304"/>
          </a:xfrm>
          <a:prstGeom prst="ellipse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1B3AFE6-DC66-EBDE-7732-40FD29ACD464}"/>
              </a:ext>
            </a:extLst>
          </p:cNvPr>
          <p:cNvCxnSpPr/>
          <p:nvPr/>
        </p:nvCxnSpPr>
        <p:spPr>
          <a:xfrm flipV="1">
            <a:off x="4336977" y="4390366"/>
            <a:ext cx="412366" cy="262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74891B4-8344-FC7E-FC5A-A1CAE7316C1F}"/>
              </a:ext>
            </a:extLst>
          </p:cNvPr>
          <p:cNvCxnSpPr>
            <a:endCxn id="4" idx="2"/>
          </p:cNvCxnSpPr>
          <p:nvPr/>
        </p:nvCxnSpPr>
        <p:spPr>
          <a:xfrm flipV="1">
            <a:off x="5568492" y="4390366"/>
            <a:ext cx="357812" cy="262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09BD5DA-CA2E-0974-A7C3-0B58A8B02E3C}"/>
              </a:ext>
            </a:extLst>
          </p:cNvPr>
          <p:cNvCxnSpPr>
            <a:stCxn id="7" idx="0"/>
          </p:cNvCxnSpPr>
          <p:nvPr/>
        </p:nvCxnSpPr>
        <p:spPr>
          <a:xfrm flipH="1" flipV="1">
            <a:off x="6895960" y="4369312"/>
            <a:ext cx="239113" cy="283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D9A23E0-46A5-09BF-58F8-C34298891966}"/>
              </a:ext>
            </a:extLst>
          </p:cNvPr>
          <p:cNvCxnSpPr/>
          <p:nvPr/>
        </p:nvCxnSpPr>
        <p:spPr>
          <a:xfrm flipH="1" flipV="1">
            <a:off x="7557057" y="4369312"/>
            <a:ext cx="610712" cy="283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F2E5804-43D9-B7C4-D011-3141B16ADD3B}"/>
              </a:ext>
            </a:extLst>
          </p:cNvPr>
          <p:cNvCxnSpPr>
            <a:endCxn id="9" idx="2"/>
          </p:cNvCxnSpPr>
          <p:nvPr/>
        </p:nvCxnSpPr>
        <p:spPr>
          <a:xfrm flipH="1" flipV="1">
            <a:off x="3784578" y="3590145"/>
            <a:ext cx="1221215" cy="4687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16929E5-0DD3-E6C0-A622-B267AA59513D}"/>
              </a:ext>
            </a:extLst>
          </p:cNvPr>
          <p:cNvCxnSpPr/>
          <p:nvPr/>
        </p:nvCxnSpPr>
        <p:spPr>
          <a:xfrm flipV="1">
            <a:off x="6157921" y="3555811"/>
            <a:ext cx="1161437" cy="5031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F9B9C75-90A0-2304-4642-871AEFD03ADF}"/>
              </a:ext>
            </a:extLst>
          </p:cNvPr>
          <p:cNvCxnSpPr/>
          <p:nvPr/>
        </p:nvCxnSpPr>
        <p:spPr>
          <a:xfrm flipH="1">
            <a:off x="5255394" y="4369312"/>
            <a:ext cx="1396855" cy="11579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A082714-D94A-25E2-81E0-98488BB5BB5A}"/>
              </a:ext>
            </a:extLst>
          </p:cNvPr>
          <p:cNvSpPr txBox="1"/>
          <p:nvPr/>
        </p:nvSpPr>
        <p:spPr>
          <a:xfrm>
            <a:off x="8319156" y="3990255"/>
            <a:ext cx="1626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Centre of a star</a:t>
            </a:r>
          </a:p>
        </p:txBody>
      </p:sp>
    </p:spTree>
    <p:extLst>
      <p:ext uri="{BB962C8B-B14F-4D97-AF65-F5344CB8AC3E}">
        <p14:creationId xmlns:p14="http://schemas.microsoft.com/office/powerpoint/2010/main" val="3023442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 animBg="1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E517B-5D7C-11AF-C55C-DD6A493A5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Data-mining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0CCB3-7F53-6553-7640-9ECA1CF0B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While data-analysis requires you to get information by understanding the domain and asking the right questions, data-mining is more automated: Put a lot of data into a program, get patterns in the data out</a:t>
            </a:r>
          </a:p>
          <a:p>
            <a:pPr lvl="1"/>
            <a:r>
              <a:rPr lang="en-AT" dirty="0"/>
              <a:t>It is based on statistics, machine learning, AI as topics</a:t>
            </a:r>
          </a:p>
          <a:p>
            <a:endParaRPr lang="en-AT" dirty="0"/>
          </a:p>
          <a:p>
            <a:r>
              <a:rPr lang="en-AT" dirty="0"/>
              <a:t>In this course, we see a simple version of that: Market basket data model</a:t>
            </a:r>
          </a:p>
          <a:p>
            <a:pPr lvl="1"/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1880156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5BA16-C61D-6D80-A81A-D3BF14E56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Market basket data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28230-5564-D763-70BA-44A77B09E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Have:</a:t>
            </a:r>
          </a:p>
          <a:p>
            <a:r>
              <a:rPr lang="en-GB" dirty="0"/>
              <a:t>2 or 3-column table, e.g.:</a:t>
            </a:r>
          </a:p>
          <a:p>
            <a:pPr marL="114300" indent="0">
              <a:buNone/>
            </a:pPr>
            <a:r>
              <a:rPr lang="en-GB" dirty="0"/>
              <a:t> </a:t>
            </a:r>
          </a:p>
          <a:p>
            <a:endParaRPr lang="en-AT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A941D7-1668-9561-B071-86244EB20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601652"/>
              </p:ext>
            </p:extLst>
          </p:nvPr>
        </p:nvGraphicFramePr>
        <p:xfrm>
          <a:off x="1422400" y="2862791"/>
          <a:ext cx="81279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35439951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3516015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07626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</a:t>
                      </a:r>
                      <a:r>
                        <a:rPr lang="en-AT" dirty="0"/>
                        <a:t>ransaction id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&lt;name&gt;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&lt;subset of elements&gt;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93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A, B,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863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T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C, 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321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T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A, 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7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T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D, 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219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T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B,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119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T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B,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50612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41DB347-9226-35CC-A332-626F34BDEE28}"/>
              </a:ext>
            </a:extLst>
          </p:cNvPr>
          <p:cNvSpPr/>
          <p:nvPr/>
        </p:nvSpPr>
        <p:spPr>
          <a:xfrm>
            <a:off x="1422400" y="3214688"/>
            <a:ext cx="2720975" cy="2486025"/>
          </a:xfrm>
          <a:prstGeom prst="rect">
            <a:avLst/>
          </a:prstGeom>
          <a:solidFill>
            <a:schemeClr val="bg1"/>
          </a:solidFill>
          <a:ln w="63500">
            <a:noFil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50F983-F389-7EF1-8E78-950BDDA9A3AE}"/>
              </a:ext>
            </a:extLst>
          </p:cNvPr>
          <p:cNvSpPr/>
          <p:nvPr/>
        </p:nvSpPr>
        <p:spPr>
          <a:xfrm>
            <a:off x="4143375" y="3214688"/>
            <a:ext cx="2720975" cy="2486025"/>
          </a:xfrm>
          <a:prstGeom prst="rect">
            <a:avLst/>
          </a:prstGeom>
          <a:solidFill>
            <a:schemeClr val="bg1"/>
          </a:solidFill>
          <a:ln w="63500">
            <a:noFil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C3A087-76F4-F1FE-786F-08EAE8A9B078}"/>
              </a:ext>
            </a:extLst>
          </p:cNvPr>
          <p:cNvSpPr/>
          <p:nvPr/>
        </p:nvSpPr>
        <p:spPr>
          <a:xfrm>
            <a:off x="6864350" y="3214687"/>
            <a:ext cx="2720975" cy="2486025"/>
          </a:xfrm>
          <a:prstGeom prst="rect">
            <a:avLst/>
          </a:prstGeom>
          <a:solidFill>
            <a:schemeClr val="bg1"/>
          </a:solidFill>
          <a:ln w="63500">
            <a:noFil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088078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1C963-9798-1226-3B86-C7BB95FF1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What we care about in the market basket data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BF25D-C15F-227D-939B-D7D1D8AE3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60431"/>
            <a:ext cx="10160000" cy="4800600"/>
          </a:xfrm>
        </p:spPr>
        <p:txBody>
          <a:bodyPr/>
          <a:lstStyle/>
          <a:p>
            <a:r>
              <a:rPr lang="en-AT" dirty="0"/>
              <a:t>Support of element/set wrt. transactions: What fraction of the transactions does A occur?</a:t>
            </a:r>
          </a:p>
          <a:p>
            <a:r>
              <a:rPr lang="en-AT" dirty="0"/>
              <a:t>Confidence of element A with resp. to set {B,C} wrt. transactions: What fraction of the transactions containing B and C contains A?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175C16-617F-B8AB-197E-B7555A1E3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944839"/>
              </p:ext>
            </p:extLst>
          </p:nvPr>
        </p:nvGraphicFramePr>
        <p:xfrm>
          <a:off x="1422400" y="4160731"/>
          <a:ext cx="81279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35439951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3516015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07626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</a:t>
                      </a:r>
                      <a:r>
                        <a:rPr lang="en-AT" dirty="0"/>
                        <a:t>ransaction id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&lt;name&gt;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&lt;subset of elements&gt;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93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A, B,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863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T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C, 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321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T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A, 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7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T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D, 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219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T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B,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119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T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B,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506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069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1C963-9798-1226-3B86-C7BB95FF1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What we care about in the market basket data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BF25D-C15F-227D-939B-D7D1D8AE3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60431"/>
            <a:ext cx="10160000" cy="4800600"/>
          </a:xfrm>
        </p:spPr>
        <p:txBody>
          <a:bodyPr/>
          <a:lstStyle/>
          <a:p>
            <a:r>
              <a:rPr lang="en-AT" dirty="0"/>
              <a:t>Support of element/set wrt. </a:t>
            </a:r>
            <a:r>
              <a:rPr lang="en-AT" dirty="0">
                <a:solidFill>
                  <a:srgbClr val="FF0000"/>
                </a:solidFill>
              </a:rPr>
              <a:t>&lt;</a:t>
            </a:r>
            <a:r>
              <a:rPr lang="en-GB" dirty="0">
                <a:solidFill>
                  <a:srgbClr val="FF0000"/>
                </a:solidFill>
              </a:rPr>
              <a:t>n</a:t>
            </a:r>
            <a:r>
              <a:rPr lang="en-AT" dirty="0">
                <a:solidFill>
                  <a:srgbClr val="FF0000"/>
                </a:solidFill>
              </a:rPr>
              <a:t>ame&gt;</a:t>
            </a:r>
            <a:r>
              <a:rPr lang="en-AT" dirty="0"/>
              <a:t>: What fraction of the </a:t>
            </a:r>
            <a:r>
              <a:rPr lang="en-AT" dirty="0">
                <a:solidFill>
                  <a:srgbClr val="FF0000"/>
                </a:solidFill>
              </a:rPr>
              <a:t>&lt;name&gt;</a:t>
            </a:r>
            <a:r>
              <a:rPr lang="en-AT" dirty="0"/>
              <a:t> does A occur?</a:t>
            </a:r>
          </a:p>
          <a:p>
            <a:r>
              <a:rPr lang="en-AT" dirty="0"/>
              <a:t>Confidence of element A with resp. to set {B,C} wrt. </a:t>
            </a:r>
            <a:r>
              <a:rPr lang="en-AT" dirty="0">
                <a:solidFill>
                  <a:srgbClr val="FF0000"/>
                </a:solidFill>
              </a:rPr>
              <a:t>&lt;name&gt;</a:t>
            </a:r>
            <a:r>
              <a:rPr lang="en-AT" dirty="0"/>
              <a:t>: What fraction of the </a:t>
            </a:r>
            <a:r>
              <a:rPr lang="en-AT" dirty="0">
                <a:solidFill>
                  <a:srgbClr val="FF0000"/>
                </a:solidFill>
              </a:rPr>
              <a:t>&lt;name&gt;</a:t>
            </a:r>
            <a:r>
              <a:rPr lang="en-AT" dirty="0"/>
              <a:t> containing B and C contains A?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175C16-617F-B8AB-197E-B7555A1E3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127032"/>
              </p:ext>
            </p:extLst>
          </p:nvPr>
        </p:nvGraphicFramePr>
        <p:xfrm>
          <a:off x="1422400" y="3936682"/>
          <a:ext cx="81279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35439951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3516015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07626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</a:t>
                      </a:r>
                      <a:r>
                        <a:rPr lang="en-AT" dirty="0"/>
                        <a:t>ransaction id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&lt;name&gt;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&lt;subset of elements&gt;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93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A, B,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863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T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C, 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321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T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A, 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7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T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D, 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219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T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B,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119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T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B,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506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5233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1C963-9798-1226-3B86-C7BB95FF1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What we care about in the market basket data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BF25D-C15F-227D-939B-D7D1D8AE3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60431"/>
            <a:ext cx="10160000" cy="4800600"/>
          </a:xfrm>
        </p:spPr>
        <p:txBody>
          <a:bodyPr/>
          <a:lstStyle/>
          <a:p>
            <a:r>
              <a:rPr lang="en-AT" dirty="0"/>
              <a:t>Support of element/set wrt. </a:t>
            </a:r>
            <a:r>
              <a:rPr lang="en-AT" dirty="0">
                <a:solidFill>
                  <a:srgbClr val="FF0000"/>
                </a:solidFill>
              </a:rPr>
              <a:t>&lt;</a:t>
            </a:r>
            <a:r>
              <a:rPr lang="en-GB" dirty="0">
                <a:solidFill>
                  <a:srgbClr val="FF0000"/>
                </a:solidFill>
              </a:rPr>
              <a:t>n</a:t>
            </a:r>
            <a:r>
              <a:rPr lang="en-AT" dirty="0">
                <a:solidFill>
                  <a:srgbClr val="FF0000"/>
                </a:solidFill>
              </a:rPr>
              <a:t>ame&gt;</a:t>
            </a:r>
            <a:r>
              <a:rPr lang="en-AT" dirty="0"/>
              <a:t>: What fraction of the </a:t>
            </a:r>
            <a:r>
              <a:rPr lang="en-AT" dirty="0">
                <a:solidFill>
                  <a:srgbClr val="FF0000"/>
                </a:solidFill>
              </a:rPr>
              <a:t>&lt;name&gt;</a:t>
            </a:r>
            <a:r>
              <a:rPr lang="en-AT" dirty="0"/>
              <a:t> does A occur?</a:t>
            </a:r>
          </a:p>
          <a:p>
            <a:r>
              <a:rPr lang="en-AT" dirty="0"/>
              <a:t>Confidence of element A with resp. to set {B,C} wrt. </a:t>
            </a:r>
            <a:r>
              <a:rPr lang="en-AT" dirty="0">
                <a:solidFill>
                  <a:srgbClr val="FF0000"/>
                </a:solidFill>
              </a:rPr>
              <a:t>&lt;name&gt;</a:t>
            </a:r>
            <a:r>
              <a:rPr lang="en-AT" dirty="0"/>
              <a:t>: What fraction of the </a:t>
            </a:r>
            <a:r>
              <a:rPr lang="en-AT" dirty="0">
                <a:solidFill>
                  <a:srgbClr val="FF0000"/>
                </a:solidFill>
              </a:rPr>
              <a:t>&lt;name&gt;</a:t>
            </a:r>
            <a:r>
              <a:rPr lang="en-AT" dirty="0"/>
              <a:t> containing B and C contains A?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175C16-617F-B8AB-197E-B7555A1E3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723520"/>
              </p:ext>
            </p:extLst>
          </p:nvPr>
        </p:nvGraphicFramePr>
        <p:xfrm>
          <a:off x="1422400" y="3936682"/>
          <a:ext cx="81279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35439951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3516015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07626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</a:t>
                      </a:r>
                      <a:r>
                        <a:rPr lang="en-AT" dirty="0"/>
                        <a:t>ransaction id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&lt;name&gt;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&lt;subset of elements&gt;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93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T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>
                          <a:solidFill>
                            <a:srgbClr val="FF0000"/>
                          </a:solidFill>
                        </a:rPr>
                        <a:t>A, B,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863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T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C, 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321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T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>
                          <a:solidFill>
                            <a:srgbClr val="FF0000"/>
                          </a:solidFill>
                        </a:rPr>
                        <a:t>A, 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7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T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D, 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219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T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>
                          <a:solidFill>
                            <a:srgbClr val="FF0000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>
                          <a:solidFill>
                            <a:srgbClr val="FF0000"/>
                          </a:solidFill>
                        </a:rPr>
                        <a:t>B,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119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T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>
                          <a:solidFill>
                            <a:srgbClr val="FF0000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>
                          <a:solidFill>
                            <a:srgbClr val="FF0000"/>
                          </a:solidFill>
                        </a:rPr>
                        <a:t>B,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506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322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1C963-9798-1226-3B86-C7BB95FF1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What we care about in the market basket data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BF25D-C15F-227D-939B-D7D1D8AE3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60431"/>
            <a:ext cx="10160000" cy="4800600"/>
          </a:xfrm>
        </p:spPr>
        <p:txBody>
          <a:bodyPr/>
          <a:lstStyle/>
          <a:p>
            <a:r>
              <a:rPr lang="en-AT" dirty="0"/>
              <a:t>Support of element/set wrt. </a:t>
            </a:r>
            <a:r>
              <a:rPr lang="en-AT" dirty="0">
                <a:solidFill>
                  <a:srgbClr val="FF0000"/>
                </a:solidFill>
              </a:rPr>
              <a:t>&lt;</a:t>
            </a:r>
            <a:r>
              <a:rPr lang="en-GB" dirty="0">
                <a:solidFill>
                  <a:srgbClr val="FF0000"/>
                </a:solidFill>
              </a:rPr>
              <a:t>n</a:t>
            </a:r>
            <a:r>
              <a:rPr lang="en-AT" dirty="0">
                <a:solidFill>
                  <a:srgbClr val="FF0000"/>
                </a:solidFill>
              </a:rPr>
              <a:t>ame&gt;</a:t>
            </a:r>
            <a:r>
              <a:rPr lang="en-AT" dirty="0"/>
              <a:t>: What fraction of the </a:t>
            </a:r>
            <a:r>
              <a:rPr lang="en-AT" dirty="0">
                <a:solidFill>
                  <a:srgbClr val="FF0000"/>
                </a:solidFill>
              </a:rPr>
              <a:t>&lt;name&gt;</a:t>
            </a:r>
            <a:r>
              <a:rPr lang="en-AT" dirty="0"/>
              <a:t> does A occur?</a:t>
            </a:r>
          </a:p>
          <a:p>
            <a:r>
              <a:rPr lang="en-AT" dirty="0"/>
              <a:t>Confidence of element A with resp. to set {B,C} wrt. </a:t>
            </a:r>
            <a:r>
              <a:rPr lang="en-AT" dirty="0">
                <a:solidFill>
                  <a:srgbClr val="FF0000"/>
                </a:solidFill>
              </a:rPr>
              <a:t>&lt;name&gt;</a:t>
            </a:r>
            <a:r>
              <a:rPr lang="en-AT" dirty="0"/>
              <a:t>: What fraction of the </a:t>
            </a:r>
            <a:r>
              <a:rPr lang="en-AT" dirty="0">
                <a:solidFill>
                  <a:srgbClr val="FF0000"/>
                </a:solidFill>
              </a:rPr>
              <a:t>&lt;name&gt;</a:t>
            </a:r>
            <a:r>
              <a:rPr lang="en-AT" dirty="0"/>
              <a:t> containing B and C contains A?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175C16-617F-B8AB-197E-B7555A1E3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643641"/>
              </p:ext>
            </p:extLst>
          </p:nvPr>
        </p:nvGraphicFramePr>
        <p:xfrm>
          <a:off x="1422400" y="3936682"/>
          <a:ext cx="541866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83516015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07626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T" dirty="0"/>
                        <a:t>&lt;name&gt;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&lt;subset of elements&gt;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93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T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>
                          <a:solidFill>
                            <a:srgbClr val="FF0000"/>
                          </a:solidFill>
                        </a:rPr>
                        <a:t>A, B, C, 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863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T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C, 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321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T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/>
                        <a:t>D, 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219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T" dirty="0">
                          <a:solidFill>
                            <a:srgbClr val="FF0000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T" dirty="0">
                          <a:solidFill>
                            <a:srgbClr val="FF0000"/>
                          </a:solidFill>
                        </a:rPr>
                        <a:t>B, C,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119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6216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3B6C1-FF60-8FB5-18BE-DF5967F2D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Exam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E273B-B360-CC1A-9BFA-01B63768E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160000" cy="5257800"/>
          </a:xfrm>
        </p:spPr>
        <p:txBody>
          <a:bodyPr>
            <a:normAutofit/>
          </a:bodyPr>
          <a:lstStyle/>
          <a:p>
            <a:r>
              <a:rPr lang="en-AT" dirty="0"/>
              <a:t>The exam is an MCQ and determines 60% of your grade</a:t>
            </a:r>
          </a:p>
          <a:p>
            <a:r>
              <a:rPr lang="en-AT" dirty="0">
                <a:solidFill>
                  <a:srgbClr val="FF0000"/>
                </a:solidFill>
              </a:rPr>
              <a:t>Please bring an HB Pencil and an eraser!</a:t>
            </a:r>
          </a:p>
          <a:p>
            <a:r>
              <a:rPr lang="en-AT" dirty="0"/>
              <a:t>There are 30 questions</a:t>
            </a:r>
          </a:p>
          <a:p>
            <a:r>
              <a:rPr lang="en-AT" dirty="0"/>
              <a:t>You have 2 hours to do them</a:t>
            </a:r>
          </a:p>
          <a:p>
            <a:r>
              <a:rPr lang="en-AT" dirty="0"/>
              <a:t>You will be told when the exam is the 5th of December</a:t>
            </a:r>
          </a:p>
          <a:p>
            <a:pPr lvl="1"/>
            <a:r>
              <a:rPr lang="en-AT" dirty="0"/>
              <a:t>It will be sometime in January next year</a:t>
            </a:r>
          </a:p>
          <a:p>
            <a:r>
              <a:rPr lang="en-AT" dirty="0"/>
              <a:t>Each question has 5 possible answers, one is correct and all questions have the same weight </a:t>
            </a:r>
          </a:p>
          <a:p>
            <a:pPr lvl="1"/>
            <a:r>
              <a:rPr lang="en-AT" dirty="0"/>
              <a:t>That is, they are similar to all the quizzes/weekly assessments</a:t>
            </a:r>
          </a:p>
        </p:txBody>
      </p:sp>
    </p:spTree>
    <p:extLst>
      <p:ext uri="{BB962C8B-B14F-4D97-AF65-F5344CB8AC3E}">
        <p14:creationId xmlns:p14="http://schemas.microsoft.com/office/powerpoint/2010/main" val="3040149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11F3D-BD81-8EE3-9C57-7B159B9AD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What is covered?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F12F2-BFE0-C729-EC20-9CBA2F31A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Every video in the tutorial modules/recommended viewing order/accessed from the main page is covered except those marked with </a:t>
            </a:r>
            <a:r>
              <a:rPr lang="en-AT" b="1" dirty="0"/>
              <a:t>(not required for the exam)</a:t>
            </a:r>
          </a:p>
          <a:p>
            <a:pPr lvl="1"/>
            <a:r>
              <a:rPr lang="en-AT" dirty="0"/>
              <a:t>Does only mean that there can be a question you need to watch those videos for, not that there will be – also some weeks will end up with more questions than others</a:t>
            </a:r>
          </a:p>
        </p:txBody>
      </p:sp>
    </p:spTree>
    <p:extLst>
      <p:ext uri="{BB962C8B-B14F-4D97-AF65-F5344CB8AC3E}">
        <p14:creationId xmlns:p14="http://schemas.microsoft.com/office/powerpoint/2010/main" val="2407681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41F90-E884-7C75-E612-5886F4528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How does the questions look like?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C7F52-E0C3-E947-0241-466D25429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See the quizzes (especially the weekly ones), the weekly assessments and the mock exams</a:t>
            </a:r>
          </a:p>
        </p:txBody>
      </p:sp>
    </p:spTree>
    <p:extLst>
      <p:ext uri="{BB962C8B-B14F-4D97-AF65-F5344CB8AC3E}">
        <p14:creationId xmlns:p14="http://schemas.microsoft.com/office/powerpoint/2010/main" val="35444957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ST theme powerpoint">
  <a:themeElements>
    <a:clrScheme name="Custom 8">
      <a:dk1>
        <a:srgbClr val="374C22"/>
      </a:dk1>
      <a:lt1>
        <a:sysClr val="window" lastClr="FFFFFF"/>
      </a:lt1>
      <a:dk2>
        <a:srgbClr val="194431"/>
      </a:dk2>
      <a:lt2>
        <a:srgbClr val="F0E6C3"/>
      </a:lt2>
      <a:accent1>
        <a:srgbClr val="F8C000"/>
      </a:accent1>
      <a:accent2>
        <a:srgbClr val="F88600"/>
      </a:accent2>
      <a:accent3>
        <a:srgbClr val="F83500"/>
      </a:accent3>
      <a:accent4>
        <a:srgbClr val="8B723D"/>
      </a:accent4>
      <a:accent5>
        <a:srgbClr val="818B3D"/>
      </a:accent5>
      <a:accent6>
        <a:srgbClr val="586215"/>
      </a:accent6>
      <a:hlink>
        <a:srgbClr val="FF621D"/>
      </a:hlink>
      <a:folHlink>
        <a:srgbClr val="F3D260"/>
      </a:folHlink>
    </a:clrScheme>
    <a:fontScheme name="Adjacency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>
    <a:spDef>
      <a:spPr>
        <a:ln w="63500">
          <a:tailEnd type="triangle"/>
        </a:ln>
      </a:spPr>
      <a:bodyPr rtlCol="0" anchor="ctr"/>
      <a:lstStyle>
        <a:defPPr algn="ctr">
          <a:defRPr/>
        </a:defPPr>
      </a:lstStyle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spDef>
    <a:lnDef>
      <a:spPr>
        <a:ln w="63500"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IST theme powerpoint</Template>
  <TotalTime>277</TotalTime>
  <Words>1103</Words>
  <Application>Microsoft Macintosh PowerPoint</Application>
  <PresentationFormat>Widescreen</PresentationFormat>
  <Paragraphs>170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IST theme powerpoint</vt:lpstr>
      <vt:lpstr>Lecture 20 (Last lecture!)</vt:lpstr>
      <vt:lpstr>Apology for first lab yesterday</vt:lpstr>
      <vt:lpstr>Overview</vt:lpstr>
      <vt:lpstr>What’s left after this lecture? </vt:lpstr>
      <vt:lpstr>Remaining questions</vt:lpstr>
      <vt:lpstr>Data-analysis/Data-mining</vt:lpstr>
      <vt:lpstr>Star schema</vt:lpstr>
      <vt:lpstr>Data-mining</vt:lpstr>
      <vt:lpstr>Market basket data model</vt:lpstr>
      <vt:lpstr>What we care about in the market basket data model</vt:lpstr>
      <vt:lpstr>What we care about in the market basket data model</vt:lpstr>
      <vt:lpstr>What we care about in the market basket data model</vt:lpstr>
      <vt:lpstr>What we care about in the market basket data model</vt:lpstr>
      <vt:lpstr>Exam</vt:lpstr>
      <vt:lpstr>What is covered?</vt:lpstr>
      <vt:lpstr>How does the questions look like?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20 (Last lecture!)</dc:title>
  <dc:creator>Ibsen-Jensen, Rasmus</dc:creator>
  <cp:lastModifiedBy>Ibsen-Jensen, Rasmus</cp:lastModifiedBy>
  <cp:revision>1</cp:revision>
  <dcterms:created xsi:type="dcterms:W3CDTF">2023-11-29T17:32:39Z</dcterms:created>
  <dcterms:modified xsi:type="dcterms:W3CDTF">2023-11-29T22:10:29Z</dcterms:modified>
</cp:coreProperties>
</file>