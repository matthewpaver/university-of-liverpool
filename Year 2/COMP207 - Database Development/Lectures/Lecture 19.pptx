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60" r:id="rId5"/>
    <p:sldId id="261" r:id="rId6"/>
    <p:sldId id="262" r:id="rId7"/>
    <p:sldId id="263" r:id="rId8"/>
    <p:sldId id="368" r:id="rId9"/>
    <p:sldId id="455" r:id="rId10"/>
    <p:sldId id="456" r:id="rId11"/>
    <p:sldId id="457" r:id="rId12"/>
    <p:sldId id="458" r:id="rId13"/>
    <p:sldId id="459" r:id="rId14"/>
    <p:sldId id="460" r:id="rId15"/>
    <p:sldId id="461"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1"/>
    <p:restoredTop sz="95897"/>
  </p:normalViewPr>
  <p:slideViewPr>
    <p:cSldViewPr snapToGrid="0">
      <p:cViewPr varScale="1">
        <p:scale>
          <a:sx n="90" d="100"/>
          <a:sy n="90" d="100"/>
        </p:scale>
        <p:origin x="232" y="7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905001"/>
            <a:ext cx="10058400" cy="2593975"/>
          </a:xfrm>
        </p:spPr>
        <p:txBody>
          <a:bodyPr anchor="b"/>
          <a:lstStyle>
            <a:lvl1pPr>
              <a:defRPr sz="6600">
                <a:ln>
                  <a:noFill/>
                </a:ln>
                <a:solidFill>
                  <a:schemeClr val="tx2"/>
                </a:solidFill>
              </a:defRPr>
            </a:lvl1pPr>
          </a:lstStyle>
          <a:p>
            <a:r>
              <a:rPr lang="en-GB"/>
              <a:t>Click to edit Master title style</a:t>
            </a:r>
            <a:endParaRPr lang="en-US" dirty="0"/>
          </a:p>
        </p:txBody>
      </p:sp>
      <p:sp>
        <p:nvSpPr>
          <p:cNvPr id="3" name="Subtitle 2"/>
          <p:cNvSpPr>
            <a:spLocks noGrp="1"/>
          </p:cNvSpPr>
          <p:nvPr>
            <p:ph type="subTitle" idx="1"/>
          </p:nvPr>
        </p:nvSpPr>
        <p:spPr>
          <a:xfrm>
            <a:off x="914400" y="4572000"/>
            <a:ext cx="861568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1351E854-B92D-4747-8C74-AD0C6690A9C1}" type="datetimeFigureOut">
              <a:rPr lang="en-AT" smtClean="0"/>
              <a:t>27.11.23</a:t>
            </a:fld>
            <a:endParaRPr lang="en-AT"/>
          </a:p>
        </p:txBody>
      </p:sp>
      <p:sp>
        <p:nvSpPr>
          <p:cNvPr id="5" name="Footer Placeholder 4"/>
          <p:cNvSpPr>
            <a:spLocks noGrp="1"/>
          </p:cNvSpPr>
          <p:nvPr>
            <p:ph type="ftr" sz="quarter" idx="11"/>
          </p:nvPr>
        </p:nvSpPr>
        <p:spPr/>
        <p:txBody>
          <a:bodyPr/>
          <a:lstStyle/>
          <a:p>
            <a:endParaRPr lang="en-AT"/>
          </a:p>
        </p:txBody>
      </p:sp>
      <p:sp>
        <p:nvSpPr>
          <p:cNvPr id="6" name="Slide Number Placeholder 5"/>
          <p:cNvSpPr>
            <a:spLocks noGrp="1"/>
          </p:cNvSpPr>
          <p:nvPr>
            <p:ph type="sldNum" sz="quarter" idx="12"/>
          </p:nvPr>
        </p:nvSpPr>
        <p:spPr/>
        <p:txBody>
          <a:bodyPr/>
          <a:lstStyle/>
          <a:p>
            <a:fld id="{F26F33B2-A7D5-5A4B-A621-7F2E3387AC7B}" type="slidenum">
              <a:rPr lang="en-AT" smtClean="0"/>
              <a:t>‹#›</a:t>
            </a:fld>
            <a:endParaRPr lang="en-AT"/>
          </a:p>
        </p:txBody>
      </p:sp>
    </p:spTree>
    <p:extLst>
      <p:ext uri="{BB962C8B-B14F-4D97-AF65-F5344CB8AC3E}">
        <p14:creationId xmlns:p14="http://schemas.microsoft.com/office/powerpoint/2010/main" val="3321392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1351E854-B92D-4747-8C74-AD0C6690A9C1}" type="datetimeFigureOut">
              <a:rPr lang="en-AT" smtClean="0"/>
              <a:t>27.11.23</a:t>
            </a:fld>
            <a:endParaRPr lang="en-AT"/>
          </a:p>
        </p:txBody>
      </p:sp>
      <p:sp>
        <p:nvSpPr>
          <p:cNvPr id="5" name="Footer Placeholder 4"/>
          <p:cNvSpPr>
            <a:spLocks noGrp="1"/>
          </p:cNvSpPr>
          <p:nvPr>
            <p:ph type="ftr" sz="quarter" idx="11"/>
          </p:nvPr>
        </p:nvSpPr>
        <p:spPr/>
        <p:txBody>
          <a:bodyPr/>
          <a:lstStyle/>
          <a:p>
            <a:endParaRPr lang="en-AT"/>
          </a:p>
        </p:txBody>
      </p:sp>
      <p:sp>
        <p:nvSpPr>
          <p:cNvPr id="6" name="Slide Number Placeholder 5"/>
          <p:cNvSpPr>
            <a:spLocks noGrp="1"/>
          </p:cNvSpPr>
          <p:nvPr>
            <p:ph type="sldNum" sz="quarter" idx="12"/>
          </p:nvPr>
        </p:nvSpPr>
        <p:spPr/>
        <p:txBody>
          <a:bodyPr/>
          <a:lstStyle/>
          <a:p>
            <a:fld id="{F26F33B2-A7D5-5A4B-A621-7F2E3387AC7B}" type="slidenum">
              <a:rPr lang="en-AT" smtClean="0"/>
              <a:t>‹#›</a:t>
            </a:fld>
            <a:endParaRPr lang="en-AT"/>
          </a:p>
        </p:txBody>
      </p:sp>
    </p:spTree>
    <p:extLst>
      <p:ext uri="{BB962C8B-B14F-4D97-AF65-F5344CB8AC3E}">
        <p14:creationId xmlns:p14="http://schemas.microsoft.com/office/powerpoint/2010/main" val="3882553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5" y="5486400"/>
            <a:ext cx="10212916" cy="1168400"/>
          </a:xfrm>
        </p:spPr>
        <p:txBody>
          <a:bodyPr anchor="t"/>
          <a:lstStyle>
            <a:lvl1pPr algn="l">
              <a:defRPr sz="3600" b="0" cap="all"/>
            </a:lvl1pPr>
          </a:lstStyle>
          <a:p>
            <a:r>
              <a:rPr lang="en-GB"/>
              <a:t>Click to edit Master title style</a:t>
            </a:r>
            <a:endParaRPr lang="en-US" dirty="0"/>
          </a:p>
        </p:txBody>
      </p:sp>
      <p:sp>
        <p:nvSpPr>
          <p:cNvPr id="3" name="Text Placeholder 2"/>
          <p:cNvSpPr>
            <a:spLocks noGrp="1"/>
          </p:cNvSpPr>
          <p:nvPr>
            <p:ph type="body" idx="1"/>
          </p:nvPr>
        </p:nvSpPr>
        <p:spPr>
          <a:xfrm>
            <a:off x="963085" y="3852863"/>
            <a:ext cx="8180916"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1351E854-B92D-4747-8C74-AD0C6690A9C1}" type="datetimeFigureOut">
              <a:rPr lang="en-AT" smtClean="0"/>
              <a:t>27.11.23</a:t>
            </a:fld>
            <a:endParaRPr lang="en-AT"/>
          </a:p>
        </p:txBody>
      </p:sp>
      <p:sp>
        <p:nvSpPr>
          <p:cNvPr id="5" name="Footer Placeholder 4"/>
          <p:cNvSpPr>
            <a:spLocks noGrp="1"/>
          </p:cNvSpPr>
          <p:nvPr>
            <p:ph type="ftr" sz="quarter" idx="11"/>
          </p:nvPr>
        </p:nvSpPr>
        <p:spPr/>
        <p:txBody>
          <a:bodyPr/>
          <a:lstStyle/>
          <a:p>
            <a:endParaRPr lang="en-AT"/>
          </a:p>
        </p:txBody>
      </p:sp>
      <p:sp>
        <p:nvSpPr>
          <p:cNvPr id="6" name="Slide Number Placeholder 5"/>
          <p:cNvSpPr>
            <a:spLocks noGrp="1"/>
          </p:cNvSpPr>
          <p:nvPr>
            <p:ph type="sldNum" sz="quarter" idx="12"/>
          </p:nvPr>
        </p:nvSpPr>
        <p:spPr/>
        <p:txBody>
          <a:bodyPr/>
          <a:lstStyle/>
          <a:p>
            <a:fld id="{F26F33B2-A7D5-5A4B-A621-7F2E3387AC7B}" type="slidenum">
              <a:rPr lang="en-AT" smtClean="0"/>
              <a:t>‹#›</a:t>
            </a:fld>
            <a:endParaRPr lang="en-AT"/>
          </a:p>
        </p:txBody>
      </p:sp>
    </p:spTree>
    <p:extLst>
      <p:ext uri="{BB962C8B-B14F-4D97-AF65-F5344CB8AC3E}">
        <p14:creationId xmlns:p14="http://schemas.microsoft.com/office/powerpoint/2010/main" val="8950522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609600" y="1536192"/>
            <a:ext cx="48768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892800" y="1536192"/>
            <a:ext cx="48768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1351E854-B92D-4747-8C74-AD0C6690A9C1}" type="datetimeFigureOut">
              <a:rPr lang="en-AT" smtClean="0"/>
              <a:t>27.11.23</a:t>
            </a:fld>
            <a:endParaRPr lang="en-AT"/>
          </a:p>
        </p:txBody>
      </p:sp>
      <p:sp>
        <p:nvSpPr>
          <p:cNvPr id="6" name="Footer Placeholder 5"/>
          <p:cNvSpPr>
            <a:spLocks noGrp="1"/>
          </p:cNvSpPr>
          <p:nvPr>
            <p:ph type="ftr" sz="quarter" idx="11"/>
          </p:nvPr>
        </p:nvSpPr>
        <p:spPr/>
        <p:txBody>
          <a:bodyPr/>
          <a:lstStyle/>
          <a:p>
            <a:endParaRPr lang="en-AT"/>
          </a:p>
        </p:txBody>
      </p:sp>
      <p:sp>
        <p:nvSpPr>
          <p:cNvPr id="7" name="Slide Number Placeholder 6"/>
          <p:cNvSpPr>
            <a:spLocks noGrp="1"/>
          </p:cNvSpPr>
          <p:nvPr>
            <p:ph type="sldNum" sz="quarter" idx="12"/>
          </p:nvPr>
        </p:nvSpPr>
        <p:spPr/>
        <p:txBody>
          <a:bodyPr/>
          <a:lstStyle/>
          <a:p>
            <a:fld id="{F26F33B2-A7D5-5A4B-A621-7F2E3387AC7B}" type="slidenum">
              <a:rPr lang="en-AT" smtClean="0"/>
              <a:t>‹#›</a:t>
            </a:fld>
            <a:endParaRPr lang="en-AT"/>
          </a:p>
        </p:txBody>
      </p:sp>
    </p:spTree>
    <p:extLst>
      <p:ext uri="{BB962C8B-B14F-4D97-AF65-F5344CB8AC3E}">
        <p14:creationId xmlns:p14="http://schemas.microsoft.com/office/powerpoint/2010/main" val="2574455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609600" y="1535113"/>
            <a:ext cx="48768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09600" y="2174875"/>
            <a:ext cx="48768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892800" y="1535113"/>
            <a:ext cx="48768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892800" y="2174875"/>
            <a:ext cx="48768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1351E854-B92D-4747-8C74-AD0C6690A9C1}" type="datetimeFigureOut">
              <a:rPr lang="en-AT" smtClean="0"/>
              <a:t>27.11.23</a:t>
            </a:fld>
            <a:endParaRPr lang="en-AT"/>
          </a:p>
        </p:txBody>
      </p:sp>
      <p:sp>
        <p:nvSpPr>
          <p:cNvPr id="8" name="Footer Placeholder 7"/>
          <p:cNvSpPr>
            <a:spLocks noGrp="1"/>
          </p:cNvSpPr>
          <p:nvPr>
            <p:ph type="ftr" sz="quarter" idx="11"/>
          </p:nvPr>
        </p:nvSpPr>
        <p:spPr/>
        <p:txBody>
          <a:bodyPr/>
          <a:lstStyle/>
          <a:p>
            <a:endParaRPr lang="en-AT"/>
          </a:p>
        </p:txBody>
      </p:sp>
      <p:sp>
        <p:nvSpPr>
          <p:cNvPr id="9" name="Slide Number Placeholder 8"/>
          <p:cNvSpPr>
            <a:spLocks noGrp="1"/>
          </p:cNvSpPr>
          <p:nvPr>
            <p:ph type="sldNum" sz="quarter" idx="12"/>
          </p:nvPr>
        </p:nvSpPr>
        <p:spPr/>
        <p:txBody>
          <a:bodyPr/>
          <a:lstStyle/>
          <a:p>
            <a:fld id="{F26F33B2-A7D5-5A4B-A621-7F2E3387AC7B}" type="slidenum">
              <a:rPr lang="en-AT" smtClean="0"/>
              <a:t>‹#›</a:t>
            </a:fld>
            <a:endParaRPr lang="en-AT"/>
          </a:p>
        </p:txBody>
      </p:sp>
    </p:spTree>
    <p:extLst>
      <p:ext uri="{BB962C8B-B14F-4D97-AF65-F5344CB8AC3E}">
        <p14:creationId xmlns:p14="http://schemas.microsoft.com/office/powerpoint/2010/main" val="17863686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1351E854-B92D-4747-8C74-AD0C6690A9C1}" type="datetimeFigureOut">
              <a:rPr lang="en-AT" smtClean="0"/>
              <a:t>27.11.23</a:t>
            </a:fld>
            <a:endParaRPr lang="en-AT"/>
          </a:p>
        </p:txBody>
      </p:sp>
      <p:sp>
        <p:nvSpPr>
          <p:cNvPr id="4" name="Footer Placeholder 3"/>
          <p:cNvSpPr>
            <a:spLocks noGrp="1"/>
          </p:cNvSpPr>
          <p:nvPr>
            <p:ph type="ftr" sz="quarter" idx="11"/>
          </p:nvPr>
        </p:nvSpPr>
        <p:spPr/>
        <p:txBody>
          <a:bodyPr/>
          <a:lstStyle/>
          <a:p>
            <a:endParaRPr lang="en-AT"/>
          </a:p>
        </p:txBody>
      </p:sp>
      <p:sp>
        <p:nvSpPr>
          <p:cNvPr id="5" name="Slide Number Placeholder 4"/>
          <p:cNvSpPr>
            <a:spLocks noGrp="1"/>
          </p:cNvSpPr>
          <p:nvPr>
            <p:ph type="sldNum" sz="quarter" idx="12"/>
          </p:nvPr>
        </p:nvSpPr>
        <p:spPr/>
        <p:txBody>
          <a:bodyPr/>
          <a:lstStyle/>
          <a:p>
            <a:fld id="{F26F33B2-A7D5-5A4B-A621-7F2E3387AC7B}" type="slidenum">
              <a:rPr lang="en-AT" smtClean="0"/>
              <a:t>‹#›</a:t>
            </a:fld>
            <a:endParaRPr lang="en-AT"/>
          </a:p>
        </p:txBody>
      </p:sp>
    </p:spTree>
    <p:extLst>
      <p:ext uri="{BB962C8B-B14F-4D97-AF65-F5344CB8AC3E}">
        <p14:creationId xmlns:p14="http://schemas.microsoft.com/office/powerpoint/2010/main" val="826396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351E854-B92D-4747-8C74-AD0C6690A9C1}" type="datetimeFigureOut">
              <a:rPr lang="en-AT" smtClean="0"/>
              <a:t>27.11.23</a:t>
            </a:fld>
            <a:endParaRPr lang="en-AT"/>
          </a:p>
        </p:txBody>
      </p:sp>
      <p:sp>
        <p:nvSpPr>
          <p:cNvPr id="3" name="Footer Placeholder 2"/>
          <p:cNvSpPr>
            <a:spLocks noGrp="1"/>
          </p:cNvSpPr>
          <p:nvPr>
            <p:ph type="ftr" sz="quarter" idx="11"/>
          </p:nvPr>
        </p:nvSpPr>
        <p:spPr/>
        <p:txBody>
          <a:bodyPr/>
          <a:lstStyle/>
          <a:p>
            <a:endParaRPr lang="en-AT"/>
          </a:p>
        </p:txBody>
      </p:sp>
      <p:sp>
        <p:nvSpPr>
          <p:cNvPr id="4" name="Slide Number Placeholder 3"/>
          <p:cNvSpPr>
            <a:spLocks noGrp="1"/>
          </p:cNvSpPr>
          <p:nvPr>
            <p:ph type="sldNum" sz="quarter" idx="12"/>
          </p:nvPr>
        </p:nvSpPr>
        <p:spPr/>
        <p:txBody>
          <a:bodyPr/>
          <a:lstStyle/>
          <a:p>
            <a:fld id="{F26F33B2-A7D5-5A4B-A621-7F2E3387AC7B}" type="slidenum">
              <a:rPr lang="en-AT" smtClean="0"/>
              <a:t>‹#›</a:t>
            </a:fld>
            <a:endParaRPr lang="en-AT"/>
          </a:p>
        </p:txBody>
      </p:sp>
    </p:spTree>
    <p:extLst>
      <p:ext uri="{BB962C8B-B14F-4D97-AF65-F5344CB8AC3E}">
        <p14:creationId xmlns:p14="http://schemas.microsoft.com/office/powerpoint/2010/main" val="986083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06401" y="5495544"/>
            <a:ext cx="10363200" cy="594360"/>
          </a:xfrm>
        </p:spPr>
        <p:txBody>
          <a:bodyPr anchor="b"/>
          <a:lstStyle>
            <a:lvl1pPr algn="ctr">
              <a:defRPr sz="2200" b="1"/>
            </a:lvl1pPr>
          </a:lstStyle>
          <a:p>
            <a:r>
              <a:rPr lang="en-GB"/>
              <a:t>Click to edit Master title style</a:t>
            </a:r>
            <a:endParaRPr lang="en-US" dirty="0"/>
          </a:p>
        </p:txBody>
      </p:sp>
      <p:sp>
        <p:nvSpPr>
          <p:cNvPr id="4" name="Text Placeholder 3"/>
          <p:cNvSpPr>
            <a:spLocks noGrp="1"/>
          </p:cNvSpPr>
          <p:nvPr>
            <p:ph type="body" sz="half" idx="2"/>
          </p:nvPr>
        </p:nvSpPr>
        <p:spPr>
          <a:xfrm>
            <a:off x="406400" y="6096000"/>
            <a:ext cx="103632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1351E854-B92D-4747-8C74-AD0C6690A9C1}" type="datetimeFigureOut">
              <a:rPr lang="en-AT" smtClean="0"/>
              <a:t>27.11.23</a:t>
            </a:fld>
            <a:endParaRPr lang="en-AT"/>
          </a:p>
        </p:txBody>
      </p:sp>
      <p:sp>
        <p:nvSpPr>
          <p:cNvPr id="6" name="Footer Placeholder 5"/>
          <p:cNvSpPr>
            <a:spLocks noGrp="1"/>
          </p:cNvSpPr>
          <p:nvPr>
            <p:ph type="ftr" sz="quarter" idx="11"/>
          </p:nvPr>
        </p:nvSpPr>
        <p:spPr/>
        <p:txBody>
          <a:bodyPr/>
          <a:lstStyle/>
          <a:p>
            <a:endParaRPr lang="en-AT"/>
          </a:p>
        </p:txBody>
      </p:sp>
      <p:sp>
        <p:nvSpPr>
          <p:cNvPr id="7" name="Slide Number Placeholder 6"/>
          <p:cNvSpPr>
            <a:spLocks noGrp="1"/>
          </p:cNvSpPr>
          <p:nvPr>
            <p:ph type="sldNum" sz="quarter" idx="12"/>
          </p:nvPr>
        </p:nvSpPr>
        <p:spPr/>
        <p:txBody>
          <a:bodyPr/>
          <a:lstStyle/>
          <a:p>
            <a:fld id="{F26F33B2-A7D5-5A4B-A621-7F2E3387AC7B}" type="slidenum">
              <a:rPr lang="en-AT" smtClean="0"/>
              <a:t>‹#›</a:t>
            </a:fld>
            <a:endParaRPr lang="en-AT"/>
          </a:p>
        </p:txBody>
      </p:sp>
      <p:sp>
        <p:nvSpPr>
          <p:cNvPr id="9" name="Content Placeholder 8"/>
          <p:cNvSpPr>
            <a:spLocks noGrp="1"/>
          </p:cNvSpPr>
          <p:nvPr>
            <p:ph sz="quarter" idx="13"/>
          </p:nvPr>
        </p:nvSpPr>
        <p:spPr>
          <a:xfrm>
            <a:off x="406400" y="381000"/>
            <a:ext cx="10363200" cy="494284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7442410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02336" y="5495278"/>
            <a:ext cx="10363200" cy="594626"/>
          </a:xfrm>
        </p:spPr>
        <p:txBody>
          <a:bodyPr anchor="b"/>
          <a:lstStyle>
            <a:lvl1pPr algn="ctr">
              <a:defRPr sz="2200" b="1">
                <a:ln>
                  <a:noFill/>
                </a:ln>
                <a:solidFill>
                  <a:schemeClr val="tx2"/>
                </a:solidFill>
              </a:defRPr>
            </a:lvl1pPr>
          </a:lstStyle>
          <a:p>
            <a:r>
              <a:rPr lang="en-GB"/>
              <a:t>Click to edit Master title style</a:t>
            </a:r>
            <a:endParaRPr lang="en-US" dirty="0"/>
          </a:p>
        </p:txBody>
      </p:sp>
      <p:sp>
        <p:nvSpPr>
          <p:cNvPr id="3" name="Picture Placeholder 2"/>
          <p:cNvSpPr>
            <a:spLocks noGrp="1"/>
          </p:cNvSpPr>
          <p:nvPr>
            <p:ph type="pic" idx="1"/>
          </p:nvPr>
        </p:nvSpPr>
        <p:spPr>
          <a:xfrm>
            <a:off x="0" y="0"/>
            <a:ext cx="112776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402336" y="6096000"/>
            <a:ext cx="103632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8" name="Date Placeholder 7"/>
          <p:cNvSpPr>
            <a:spLocks noGrp="1"/>
          </p:cNvSpPr>
          <p:nvPr>
            <p:ph type="dt" sz="half" idx="10"/>
          </p:nvPr>
        </p:nvSpPr>
        <p:spPr/>
        <p:txBody>
          <a:bodyPr/>
          <a:lstStyle/>
          <a:p>
            <a:fld id="{1351E854-B92D-4747-8C74-AD0C6690A9C1}" type="datetimeFigureOut">
              <a:rPr lang="en-AT" smtClean="0"/>
              <a:t>27.11.23</a:t>
            </a:fld>
            <a:endParaRPr lang="en-AT"/>
          </a:p>
        </p:txBody>
      </p:sp>
      <p:sp>
        <p:nvSpPr>
          <p:cNvPr id="9" name="Slide Number Placeholder 8"/>
          <p:cNvSpPr>
            <a:spLocks noGrp="1"/>
          </p:cNvSpPr>
          <p:nvPr>
            <p:ph type="sldNum" sz="quarter" idx="11"/>
          </p:nvPr>
        </p:nvSpPr>
        <p:spPr/>
        <p:txBody>
          <a:bodyPr/>
          <a:lstStyle/>
          <a:p>
            <a:fld id="{F26F33B2-A7D5-5A4B-A621-7F2E3387AC7B}" type="slidenum">
              <a:rPr lang="en-AT" smtClean="0"/>
              <a:t>‹#›</a:t>
            </a:fld>
            <a:endParaRPr lang="en-AT"/>
          </a:p>
        </p:txBody>
      </p:sp>
      <p:sp>
        <p:nvSpPr>
          <p:cNvPr id="10" name="Footer Placeholder 9"/>
          <p:cNvSpPr>
            <a:spLocks noGrp="1"/>
          </p:cNvSpPr>
          <p:nvPr>
            <p:ph type="ftr" sz="quarter" idx="12"/>
          </p:nvPr>
        </p:nvSpPr>
        <p:spPr/>
        <p:txBody>
          <a:bodyPr/>
          <a:lstStyle/>
          <a:p>
            <a:endParaRPr lang="en-AT"/>
          </a:p>
        </p:txBody>
      </p:sp>
    </p:spTree>
    <p:extLst>
      <p:ext uri="{BB962C8B-B14F-4D97-AF65-F5344CB8AC3E}">
        <p14:creationId xmlns:p14="http://schemas.microsoft.com/office/powerpoint/2010/main" val="26257566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1351E854-B92D-4747-8C74-AD0C6690A9C1}" type="datetimeFigureOut">
              <a:rPr lang="en-AT" smtClean="0"/>
              <a:t>27.11.23</a:t>
            </a:fld>
            <a:endParaRPr lang="en-AT"/>
          </a:p>
        </p:txBody>
      </p:sp>
      <p:sp>
        <p:nvSpPr>
          <p:cNvPr id="5" name="Footer Placeholder 4"/>
          <p:cNvSpPr>
            <a:spLocks noGrp="1"/>
          </p:cNvSpPr>
          <p:nvPr>
            <p:ph type="ftr" sz="quarter" idx="11"/>
          </p:nvPr>
        </p:nvSpPr>
        <p:spPr/>
        <p:txBody>
          <a:bodyPr/>
          <a:lstStyle/>
          <a:p>
            <a:endParaRPr lang="en-AT"/>
          </a:p>
        </p:txBody>
      </p:sp>
      <p:sp>
        <p:nvSpPr>
          <p:cNvPr id="6" name="Slide Number Placeholder 5"/>
          <p:cNvSpPr>
            <a:spLocks noGrp="1"/>
          </p:cNvSpPr>
          <p:nvPr>
            <p:ph type="sldNum" sz="quarter" idx="12"/>
          </p:nvPr>
        </p:nvSpPr>
        <p:spPr/>
        <p:txBody>
          <a:bodyPr/>
          <a:lstStyle/>
          <a:p>
            <a:fld id="{F26F33B2-A7D5-5A4B-A621-7F2E3387AC7B}" type="slidenum">
              <a:rPr lang="en-AT" smtClean="0"/>
              <a:t>‹#›</a:t>
            </a:fld>
            <a:endParaRPr lang="en-AT"/>
          </a:p>
        </p:txBody>
      </p:sp>
    </p:spTree>
    <p:extLst>
      <p:ext uri="{BB962C8B-B14F-4D97-AF65-F5344CB8AC3E}">
        <p14:creationId xmlns:p14="http://schemas.microsoft.com/office/powerpoint/2010/main" val="8993184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336800" cy="5851525"/>
          </a:xfrm>
        </p:spPr>
        <p:txBody>
          <a:bodyPr vert="eaVert" anchor="b" anchorCtr="0"/>
          <a:lstStyle/>
          <a:p>
            <a:r>
              <a:rPr lang="en-GB"/>
              <a:t>Click to edit Master title style</a:t>
            </a:r>
            <a:endParaRPr lang="en-US" dirty="0"/>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1351E854-B92D-4747-8C74-AD0C6690A9C1}" type="datetimeFigureOut">
              <a:rPr lang="en-AT" smtClean="0"/>
              <a:t>27.11.23</a:t>
            </a:fld>
            <a:endParaRPr lang="en-AT"/>
          </a:p>
        </p:txBody>
      </p:sp>
      <p:sp>
        <p:nvSpPr>
          <p:cNvPr id="5" name="Footer Placeholder 4"/>
          <p:cNvSpPr>
            <a:spLocks noGrp="1"/>
          </p:cNvSpPr>
          <p:nvPr>
            <p:ph type="ftr" sz="quarter" idx="11"/>
          </p:nvPr>
        </p:nvSpPr>
        <p:spPr/>
        <p:txBody>
          <a:bodyPr/>
          <a:lstStyle/>
          <a:p>
            <a:endParaRPr lang="en-AT"/>
          </a:p>
        </p:txBody>
      </p:sp>
      <p:sp>
        <p:nvSpPr>
          <p:cNvPr id="6" name="Slide Number Placeholder 5"/>
          <p:cNvSpPr>
            <a:spLocks noGrp="1"/>
          </p:cNvSpPr>
          <p:nvPr>
            <p:ph type="sldNum" sz="quarter" idx="12"/>
          </p:nvPr>
        </p:nvSpPr>
        <p:spPr/>
        <p:txBody>
          <a:bodyPr/>
          <a:lstStyle/>
          <a:p>
            <a:fld id="{F26F33B2-A7D5-5A4B-A621-7F2E3387AC7B}" type="slidenum">
              <a:rPr lang="en-AT" smtClean="0"/>
              <a:t>‹#›</a:t>
            </a:fld>
            <a:endParaRPr lang="en-AT"/>
          </a:p>
        </p:txBody>
      </p:sp>
    </p:spTree>
    <p:extLst>
      <p:ext uri="{BB962C8B-B14F-4D97-AF65-F5344CB8AC3E}">
        <p14:creationId xmlns:p14="http://schemas.microsoft.com/office/powerpoint/2010/main" val="38106582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325438"/>
            <a:ext cx="10160000" cy="1143000"/>
          </a:xfrm>
          <a:prstGeom prst="rect">
            <a:avLst/>
          </a:prstGeom>
        </p:spPr>
        <p:txBody>
          <a:bodyPr vert="horz" lIns="91440" tIns="45720" rIns="91440" bIns="45720" rtlCol="0" anchor="t" anchorCtr="0">
            <a:noAutofit/>
          </a:bodyPr>
          <a:lstStyle/>
          <a:p>
            <a:r>
              <a:rPr lang="en-GB"/>
              <a:t>Click to edit Master title style</a:t>
            </a:r>
            <a:endParaRPr lang="en-US" dirty="0"/>
          </a:p>
        </p:txBody>
      </p:sp>
      <p:sp>
        <p:nvSpPr>
          <p:cNvPr id="3" name="Text Placeholder 2"/>
          <p:cNvSpPr>
            <a:spLocks noGrp="1"/>
          </p:cNvSpPr>
          <p:nvPr>
            <p:ph type="body" idx="1"/>
          </p:nvPr>
        </p:nvSpPr>
        <p:spPr>
          <a:xfrm>
            <a:off x="609600" y="1600200"/>
            <a:ext cx="10160000" cy="48006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Rectangle 6"/>
          <p:cNvSpPr/>
          <p:nvPr/>
        </p:nvSpPr>
        <p:spPr>
          <a:xfrm>
            <a:off x="11067627" y="-121920"/>
            <a:ext cx="1246293" cy="713232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p:cNvSpPr/>
          <p:nvPr/>
        </p:nvSpPr>
        <p:spPr>
          <a:xfrm>
            <a:off x="11067627" y="5753100"/>
            <a:ext cx="1246293" cy="838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Slide Number Placeholder 5"/>
          <p:cNvSpPr>
            <a:spLocks noGrp="1"/>
          </p:cNvSpPr>
          <p:nvPr>
            <p:ph type="sldNum" sz="quarter" idx="4"/>
          </p:nvPr>
        </p:nvSpPr>
        <p:spPr>
          <a:xfrm>
            <a:off x="11375717" y="5648960"/>
            <a:ext cx="73152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F26F33B2-A7D5-5A4B-A621-7F2E3387AC7B}" type="slidenum">
              <a:rPr lang="en-AT" smtClean="0"/>
              <a:t>‹#›</a:t>
            </a:fld>
            <a:endParaRPr lang="en-AT"/>
          </a:p>
        </p:txBody>
      </p:sp>
      <p:sp>
        <p:nvSpPr>
          <p:cNvPr id="5" name="Footer Placeholder 4"/>
          <p:cNvSpPr>
            <a:spLocks noGrp="1"/>
          </p:cNvSpPr>
          <p:nvPr>
            <p:ph type="ftr" sz="quarter" idx="3"/>
          </p:nvPr>
        </p:nvSpPr>
        <p:spPr>
          <a:xfrm rot="16200000">
            <a:off x="10510428" y="3987800"/>
            <a:ext cx="2367281" cy="487680"/>
          </a:xfrm>
          <a:prstGeom prst="rect">
            <a:avLst/>
          </a:prstGeom>
        </p:spPr>
        <p:txBody>
          <a:bodyPr vert="horz" lIns="91440" tIns="45720" rIns="91440" bIns="45720" rtlCol="0" anchor="ctr"/>
          <a:lstStyle>
            <a:lvl1pPr algn="r">
              <a:defRPr sz="1200">
                <a:solidFill>
                  <a:schemeClr val="bg2"/>
                </a:solidFill>
              </a:defRPr>
            </a:lvl1pPr>
          </a:lstStyle>
          <a:p>
            <a:endParaRPr lang="en-AT"/>
          </a:p>
        </p:txBody>
      </p:sp>
      <p:sp>
        <p:nvSpPr>
          <p:cNvPr id="4" name="Date Placeholder 3"/>
          <p:cNvSpPr>
            <a:spLocks noGrp="1"/>
          </p:cNvSpPr>
          <p:nvPr>
            <p:ph type="dt" sz="half" idx="2"/>
          </p:nvPr>
        </p:nvSpPr>
        <p:spPr>
          <a:xfrm rot="16200000">
            <a:off x="10474869" y="1584960"/>
            <a:ext cx="2438399" cy="487680"/>
          </a:xfrm>
          <a:prstGeom prst="rect">
            <a:avLst/>
          </a:prstGeom>
        </p:spPr>
        <p:txBody>
          <a:bodyPr vert="horz" lIns="91440" tIns="45720" rIns="91440" bIns="45720" rtlCol="0" anchor="ctr"/>
          <a:lstStyle>
            <a:lvl1pPr algn="l">
              <a:defRPr sz="1200">
                <a:solidFill>
                  <a:schemeClr val="bg2"/>
                </a:solidFill>
              </a:defRPr>
            </a:lvl1pPr>
          </a:lstStyle>
          <a:p>
            <a:fld id="{1351E854-B92D-4747-8C74-AD0C6690A9C1}" type="datetimeFigureOut">
              <a:rPr lang="en-AT" smtClean="0"/>
              <a:t>27.11.23</a:t>
            </a:fld>
            <a:endParaRPr lang="en-AT"/>
          </a:p>
        </p:txBody>
      </p:sp>
    </p:spTree>
    <p:extLst>
      <p:ext uri="{BB962C8B-B14F-4D97-AF65-F5344CB8AC3E}">
        <p14:creationId xmlns:p14="http://schemas.microsoft.com/office/powerpoint/2010/main" val="34278005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100000"/>
        </a:lnSpc>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800" kern="1200">
          <a:solidFill>
            <a:schemeClr val="tx1"/>
          </a:solidFill>
          <a:latin typeface="Arial"/>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500" kern="1200">
          <a:solidFill>
            <a:schemeClr val="tx1"/>
          </a:solidFill>
          <a:latin typeface="Arial"/>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2200" kern="1200">
          <a:solidFill>
            <a:schemeClr val="tx1"/>
          </a:solidFill>
          <a:latin typeface="Arial"/>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Arial"/>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Arial"/>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6.xml"/><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9BCBA-8F6E-BB7B-AE43-2A90ABD8B127}"/>
              </a:ext>
            </a:extLst>
          </p:cNvPr>
          <p:cNvSpPr>
            <a:spLocks noGrp="1"/>
          </p:cNvSpPr>
          <p:nvPr>
            <p:ph type="ctrTitle"/>
          </p:nvPr>
        </p:nvSpPr>
        <p:spPr/>
        <p:txBody>
          <a:bodyPr/>
          <a:lstStyle/>
          <a:p>
            <a:r>
              <a:rPr lang="en-AT" dirty="0"/>
              <a:t>Lecture 19</a:t>
            </a:r>
          </a:p>
        </p:txBody>
      </p:sp>
      <p:sp>
        <p:nvSpPr>
          <p:cNvPr id="3" name="Subtitle 2">
            <a:extLst>
              <a:ext uri="{FF2B5EF4-FFF2-40B4-BE49-F238E27FC236}">
                <a16:creationId xmlns:a16="http://schemas.microsoft.com/office/drawing/2014/main" id="{68420073-6212-9A16-B06C-1DF937CF4F56}"/>
              </a:ext>
            </a:extLst>
          </p:cNvPr>
          <p:cNvSpPr>
            <a:spLocks noGrp="1"/>
          </p:cNvSpPr>
          <p:nvPr>
            <p:ph type="subTitle" idx="1"/>
          </p:nvPr>
        </p:nvSpPr>
        <p:spPr/>
        <p:txBody>
          <a:bodyPr/>
          <a:lstStyle/>
          <a:p>
            <a:endParaRPr lang="en-AT"/>
          </a:p>
        </p:txBody>
      </p:sp>
    </p:spTree>
    <p:extLst>
      <p:ext uri="{BB962C8B-B14F-4D97-AF65-F5344CB8AC3E}">
        <p14:creationId xmlns:p14="http://schemas.microsoft.com/office/powerpoint/2010/main" val="13164385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97548-5286-73CF-896D-6355E3FAE3EB}"/>
              </a:ext>
            </a:extLst>
          </p:cNvPr>
          <p:cNvSpPr>
            <a:spLocks noGrp="1"/>
          </p:cNvSpPr>
          <p:nvPr>
            <p:ph type="title"/>
          </p:nvPr>
        </p:nvSpPr>
        <p:spPr/>
        <p:txBody>
          <a:bodyPr/>
          <a:lstStyle/>
          <a:p>
            <a:r>
              <a:rPr lang="en-AT" dirty="0"/>
              <a:t>Overview</a:t>
            </a:r>
          </a:p>
        </p:txBody>
      </p:sp>
      <p:sp>
        <p:nvSpPr>
          <p:cNvPr id="3" name="Content Placeholder 2">
            <a:extLst>
              <a:ext uri="{FF2B5EF4-FFF2-40B4-BE49-F238E27FC236}">
                <a16:creationId xmlns:a16="http://schemas.microsoft.com/office/drawing/2014/main" id="{7E264D89-F3F0-5D7D-F7D3-AF93C9FCCB30}"/>
              </a:ext>
            </a:extLst>
          </p:cNvPr>
          <p:cNvSpPr>
            <a:spLocks noGrp="1"/>
          </p:cNvSpPr>
          <p:nvPr>
            <p:ph idx="1"/>
          </p:nvPr>
        </p:nvSpPr>
        <p:spPr/>
        <p:txBody>
          <a:bodyPr/>
          <a:lstStyle/>
          <a:p>
            <a:r>
              <a:rPr lang="en-AT" dirty="0"/>
              <a:t>Weekly assessment</a:t>
            </a:r>
          </a:p>
          <a:p>
            <a:r>
              <a:rPr lang="en-AT" dirty="0"/>
              <a:t>Weekly survey was not used by anyone</a:t>
            </a:r>
          </a:p>
          <a:p>
            <a:r>
              <a:rPr lang="en-AT" dirty="0"/>
              <a:t>About grades for weekly assessments</a:t>
            </a:r>
          </a:p>
        </p:txBody>
      </p:sp>
    </p:spTree>
    <p:extLst>
      <p:ext uri="{BB962C8B-B14F-4D97-AF65-F5344CB8AC3E}">
        <p14:creationId xmlns:p14="http://schemas.microsoft.com/office/powerpoint/2010/main" val="27549847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97EF1-7A0D-FE8F-31B7-4B1BB4599776}"/>
              </a:ext>
            </a:extLst>
          </p:cNvPr>
          <p:cNvSpPr>
            <a:spLocks noGrp="1"/>
          </p:cNvSpPr>
          <p:nvPr>
            <p:ph type="title"/>
          </p:nvPr>
        </p:nvSpPr>
        <p:spPr/>
        <p:txBody>
          <a:bodyPr/>
          <a:lstStyle/>
          <a:p>
            <a:r>
              <a:rPr lang="en-AT" dirty="0"/>
              <a:t>About grades for weekly assessments</a:t>
            </a:r>
            <a:br>
              <a:rPr lang="en-AT" dirty="0"/>
            </a:br>
            <a:endParaRPr lang="en-AT" dirty="0"/>
          </a:p>
        </p:txBody>
      </p:sp>
      <p:sp>
        <p:nvSpPr>
          <p:cNvPr id="3" name="Content Placeholder 2">
            <a:extLst>
              <a:ext uri="{FF2B5EF4-FFF2-40B4-BE49-F238E27FC236}">
                <a16:creationId xmlns:a16="http://schemas.microsoft.com/office/drawing/2014/main" id="{E7270F16-27ED-57FF-61CF-C0191E666AB7}"/>
              </a:ext>
            </a:extLst>
          </p:cNvPr>
          <p:cNvSpPr>
            <a:spLocks noGrp="1"/>
          </p:cNvSpPr>
          <p:nvPr>
            <p:ph idx="1"/>
          </p:nvPr>
        </p:nvSpPr>
        <p:spPr/>
        <p:txBody>
          <a:bodyPr>
            <a:normAutofit lnSpcReduction="10000"/>
          </a:bodyPr>
          <a:lstStyle/>
          <a:p>
            <a:r>
              <a:rPr lang="en-AT" dirty="0"/>
              <a:t>You should have the same grade for each individual assessment as you had all the time, but I have tried to change the weights here on Canvas so that it will be more accurate in regards to week 6 now</a:t>
            </a:r>
          </a:p>
          <a:p>
            <a:pPr lvl="1"/>
            <a:r>
              <a:rPr lang="en-AT" dirty="0"/>
              <a:t>Still not fully accurate and I can’t set it up to be</a:t>
            </a:r>
          </a:p>
          <a:p>
            <a:pPr lvl="1"/>
            <a:r>
              <a:rPr lang="en-AT" dirty="0"/>
              <a:t>For a few hours yesterday after I did so, they seemingly showed up wrong, because Canvas wants me to explicitly regrade the assignments when I change the weights</a:t>
            </a:r>
          </a:p>
          <a:p>
            <a:r>
              <a:rPr lang="en-AT" dirty="0"/>
              <a:t>That said, as long as you get the right grade on each component it is not important, since your final grade is not what you see on Canvas but only calculated from the components grade</a:t>
            </a:r>
          </a:p>
        </p:txBody>
      </p:sp>
    </p:spTree>
    <p:extLst>
      <p:ext uri="{BB962C8B-B14F-4D97-AF65-F5344CB8AC3E}">
        <p14:creationId xmlns:p14="http://schemas.microsoft.com/office/powerpoint/2010/main" val="26667930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5DE4D-2BB3-5B7B-7669-0BDAF5FB6DC4}"/>
              </a:ext>
            </a:extLst>
          </p:cNvPr>
          <p:cNvSpPr>
            <a:spLocks noGrp="1"/>
          </p:cNvSpPr>
          <p:nvPr>
            <p:ph type="title"/>
          </p:nvPr>
        </p:nvSpPr>
        <p:spPr/>
        <p:txBody>
          <a:bodyPr/>
          <a:lstStyle/>
          <a:p>
            <a:r>
              <a:rPr lang="en-AT" dirty="0"/>
              <a:t>Storing XML in SQL</a:t>
            </a:r>
          </a:p>
        </p:txBody>
      </p:sp>
      <p:sp>
        <p:nvSpPr>
          <p:cNvPr id="3" name="Content Placeholder 2">
            <a:extLst>
              <a:ext uri="{FF2B5EF4-FFF2-40B4-BE49-F238E27FC236}">
                <a16:creationId xmlns:a16="http://schemas.microsoft.com/office/drawing/2014/main" id="{8916D501-FA8C-F40A-2D29-7AB55E2BB641}"/>
              </a:ext>
            </a:extLst>
          </p:cNvPr>
          <p:cNvSpPr>
            <a:spLocks noGrp="1"/>
          </p:cNvSpPr>
          <p:nvPr>
            <p:ph idx="1"/>
          </p:nvPr>
        </p:nvSpPr>
        <p:spPr/>
        <p:txBody>
          <a:bodyPr>
            <a:normAutofit lnSpcReduction="10000"/>
          </a:bodyPr>
          <a:lstStyle/>
          <a:p>
            <a:r>
              <a:rPr lang="en-AT" dirty="0"/>
              <a:t>Many big RDBMS support XML as a type:</a:t>
            </a:r>
          </a:p>
          <a:p>
            <a:pPr lvl="1"/>
            <a:r>
              <a:rPr lang="en-GB" dirty="0"/>
              <a:t>IBM DB2</a:t>
            </a:r>
          </a:p>
          <a:p>
            <a:pPr lvl="1"/>
            <a:r>
              <a:rPr lang="en-GB" dirty="0"/>
              <a:t>Microsoft SQL Server</a:t>
            </a:r>
            <a:endParaRPr lang="en-GB" baseline="30000" dirty="0"/>
          </a:p>
          <a:p>
            <a:pPr lvl="1"/>
            <a:r>
              <a:rPr lang="en-GB" dirty="0"/>
              <a:t>Oracle Database</a:t>
            </a:r>
          </a:p>
          <a:p>
            <a:pPr lvl="1"/>
            <a:r>
              <a:rPr lang="en-GB" dirty="0"/>
              <a:t>PostgreSQL</a:t>
            </a:r>
            <a:endParaRPr lang="en-AT" dirty="0"/>
          </a:p>
          <a:p>
            <a:r>
              <a:rPr lang="en-AT" dirty="0"/>
              <a:t>I.e. like you have a first_name which is a VARCHAR(20) you can have a document which is an XML fragment</a:t>
            </a:r>
          </a:p>
          <a:p>
            <a:pPr lvl="1"/>
            <a:r>
              <a:rPr lang="en-AT" dirty="0"/>
              <a:t>You can then do all sorts of operations on them, incl. XPath and XQuery</a:t>
            </a:r>
          </a:p>
          <a:p>
            <a:r>
              <a:rPr lang="en-AT" dirty="0"/>
              <a:t>Note: MySQL does not support it, but does support JSON which is similar</a:t>
            </a:r>
          </a:p>
        </p:txBody>
      </p:sp>
    </p:spTree>
    <p:extLst>
      <p:ext uri="{BB962C8B-B14F-4D97-AF65-F5344CB8AC3E}">
        <p14:creationId xmlns:p14="http://schemas.microsoft.com/office/powerpoint/2010/main" val="32731138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BDA62-F4B8-2C3A-1A14-B0ECC33D630D}"/>
              </a:ext>
            </a:extLst>
          </p:cNvPr>
          <p:cNvSpPr>
            <a:spLocks noGrp="1"/>
          </p:cNvSpPr>
          <p:nvPr>
            <p:ph type="title"/>
          </p:nvPr>
        </p:nvSpPr>
        <p:spPr>
          <a:xfrm>
            <a:off x="144966" y="325438"/>
            <a:ext cx="10624634" cy="1143000"/>
          </a:xfrm>
        </p:spPr>
        <p:txBody>
          <a:bodyPr/>
          <a:lstStyle/>
          <a:p>
            <a:r>
              <a:rPr lang="en-AT" dirty="0"/>
              <a:t>How to store XML in MySQL: Option 1</a:t>
            </a:r>
          </a:p>
        </p:txBody>
      </p:sp>
      <p:sp>
        <p:nvSpPr>
          <p:cNvPr id="3" name="Content Placeholder 2">
            <a:extLst>
              <a:ext uri="{FF2B5EF4-FFF2-40B4-BE49-F238E27FC236}">
                <a16:creationId xmlns:a16="http://schemas.microsoft.com/office/drawing/2014/main" id="{1B0513F0-10BD-78F8-970B-5241A031201D}"/>
              </a:ext>
            </a:extLst>
          </p:cNvPr>
          <p:cNvSpPr>
            <a:spLocks noGrp="1"/>
          </p:cNvSpPr>
          <p:nvPr>
            <p:ph idx="1"/>
          </p:nvPr>
        </p:nvSpPr>
        <p:spPr/>
        <p:txBody>
          <a:bodyPr>
            <a:normAutofit/>
          </a:bodyPr>
          <a:lstStyle/>
          <a:p>
            <a:r>
              <a:rPr lang="en-AT" dirty="0"/>
              <a:t>You could store it as text, using e.g. LONGTEXT or JSON</a:t>
            </a:r>
          </a:p>
          <a:p>
            <a:pPr lvl="1"/>
            <a:r>
              <a:rPr lang="en-AT" dirty="0"/>
              <a:t>JSON has so</a:t>
            </a:r>
            <a:r>
              <a:rPr lang="en-GB" dirty="0"/>
              <a:t>me</a:t>
            </a:r>
            <a:r>
              <a:rPr lang="en-AT" dirty="0"/>
              <a:t> MySQL-specific commands associated with it to access the data similar to XPath</a:t>
            </a:r>
          </a:p>
          <a:p>
            <a:pPr lvl="1"/>
            <a:r>
              <a:rPr lang="en-AT" dirty="0"/>
              <a:t>LONGTEXT can store up to 4GB of text but is just text</a:t>
            </a:r>
          </a:p>
          <a:p>
            <a:pPr lvl="2"/>
            <a:r>
              <a:rPr lang="en-AT" dirty="0"/>
              <a:t>The data type is specific to MySQL and has other names in other systems</a:t>
            </a:r>
          </a:p>
          <a:p>
            <a:pPr lvl="1"/>
            <a:endParaRPr lang="en-AT" dirty="0"/>
          </a:p>
          <a:p>
            <a:pPr lvl="1"/>
            <a:endParaRPr lang="en-AT" dirty="0"/>
          </a:p>
        </p:txBody>
      </p:sp>
    </p:spTree>
    <p:extLst>
      <p:ext uri="{BB962C8B-B14F-4D97-AF65-F5344CB8AC3E}">
        <p14:creationId xmlns:p14="http://schemas.microsoft.com/office/powerpoint/2010/main" val="28105007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CAE9C-C43B-7B7F-D7E7-7B1EFE36B681}"/>
              </a:ext>
            </a:extLst>
          </p:cNvPr>
          <p:cNvSpPr>
            <a:spLocks noGrp="1"/>
          </p:cNvSpPr>
          <p:nvPr>
            <p:ph type="title"/>
          </p:nvPr>
        </p:nvSpPr>
        <p:spPr/>
        <p:txBody>
          <a:bodyPr/>
          <a:lstStyle/>
          <a:p>
            <a:r>
              <a:rPr lang="en-AT" dirty="0"/>
              <a:t>How to store XML in MySQL: Option 2</a:t>
            </a:r>
          </a:p>
        </p:txBody>
      </p:sp>
      <p:sp>
        <p:nvSpPr>
          <p:cNvPr id="3" name="Content Placeholder 2">
            <a:extLst>
              <a:ext uri="{FF2B5EF4-FFF2-40B4-BE49-F238E27FC236}">
                <a16:creationId xmlns:a16="http://schemas.microsoft.com/office/drawing/2014/main" id="{8C71E1AC-A9BC-F5BB-C726-44301C32A821}"/>
              </a:ext>
            </a:extLst>
          </p:cNvPr>
          <p:cNvSpPr>
            <a:spLocks noGrp="1"/>
          </p:cNvSpPr>
          <p:nvPr>
            <p:ph idx="1"/>
          </p:nvPr>
        </p:nvSpPr>
        <p:spPr/>
        <p:txBody>
          <a:bodyPr>
            <a:normAutofit fontScale="92500" lnSpcReduction="20000"/>
          </a:bodyPr>
          <a:lstStyle/>
          <a:p>
            <a:r>
              <a:rPr lang="en-AT" dirty="0"/>
              <a:t>You could store it in schema-independent form</a:t>
            </a:r>
          </a:p>
          <a:p>
            <a:r>
              <a:rPr lang="en-AT" dirty="0"/>
              <a:t>E.g. you store for each node in the XML file: </a:t>
            </a:r>
          </a:p>
          <a:p>
            <a:pPr lvl="1"/>
            <a:r>
              <a:rPr lang="en-AT" dirty="0"/>
              <a:t>What type it is (attribute or element)</a:t>
            </a:r>
          </a:p>
          <a:p>
            <a:pPr lvl="1"/>
            <a:r>
              <a:rPr lang="en-AT" dirty="0"/>
              <a:t>What is the name</a:t>
            </a:r>
          </a:p>
          <a:p>
            <a:pPr lvl="1"/>
            <a:r>
              <a:rPr lang="en-AT" dirty="0"/>
              <a:t>What content it has</a:t>
            </a:r>
          </a:p>
          <a:p>
            <a:pPr lvl="1"/>
            <a:r>
              <a:rPr lang="en-GB" dirty="0"/>
              <a:t>S</a:t>
            </a:r>
            <a:r>
              <a:rPr lang="en-AT" dirty="0"/>
              <a:t>ome id</a:t>
            </a:r>
          </a:p>
          <a:p>
            <a:pPr lvl="1"/>
            <a:r>
              <a:rPr lang="en-AT" dirty="0"/>
              <a:t>Who its parent is (based on id)</a:t>
            </a:r>
          </a:p>
          <a:p>
            <a:pPr lvl="1"/>
            <a:r>
              <a:rPr lang="en-AT" dirty="0"/>
              <a:t>Other things, depending on what you want to support:</a:t>
            </a:r>
          </a:p>
          <a:p>
            <a:pPr lvl="2"/>
            <a:r>
              <a:rPr lang="en-AT" dirty="0"/>
              <a:t>What the root is (if you store multiple documents)</a:t>
            </a:r>
          </a:p>
          <a:p>
            <a:pPr lvl="2"/>
            <a:r>
              <a:rPr lang="en-AT" dirty="0"/>
              <a:t>What the immediately previous and following sibling is (if you want to support such)</a:t>
            </a:r>
          </a:p>
          <a:p>
            <a:r>
              <a:rPr lang="en-AT" dirty="0"/>
              <a:t>Doing XPath queries is very annoying so often you also want to store solutions to these directly</a:t>
            </a:r>
          </a:p>
        </p:txBody>
      </p:sp>
    </p:spTree>
    <p:extLst>
      <p:ext uri="{BB962C8B-B14F-4D97-AF65-F5344CB8AC3E}">
        <p14:creationId xmlns:p14="http://schemas.microsoft.com/office/powerpoint/2010/main" val="213199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CAE9C-C43B-7B7F-D7E7-7B1EFE36B681}"/>
              </a:ext>
            </a:extLst>
          </p:cNvPr>
          <p:cNvSpPr>
            <a:spLocks noGrp="1"/>
          </p:cNvSpPr>
          <p:nvPr>
            <p:ph type="title"/>
          </p:nvPr>
        </p:nvSpPr>
        <p:spPr/>
        <p:txBody>
          <a:bodyPr/>
          <a:lstStyle/>
          <a:p>
            <a:r>
              <a:rPr lang="en-AT" dirty="0"/>
              <a:t>How to store XML in MySQL: Option 3</a:t>
            </a:r>
          </a:p>
        </p:txBody>
      </p:sp>
      <p:sp>
        <p:nvSpPr>
          <p:cNvPr id="3" name="Content Placeholder 2">
            <a:extLst>
              <a:ext uri="{FF2B5EF4-FFF2-40B4-BE49-F238E27FC236}">
                <a16:creationId xmlns:a16="http://schemas.microsoft.com/office/drawing/2014/main" id="{8C71E1AC-A9BC-F5BB-C726-44301C32A821}"/>
              </a:ext>
            </a:extLst>
          </p:cNvPr>
          <p:cNvSpPr>
            <a:spLocks noGrp="1"/>
          </p:cNvSpPr>
          <p:nvPr>
            <p:ph idx="1"/>
          </p:nvPr>
        </p:nvSpPr>
        <p:spPr/>
        <p:txBody>
          <a:bodyPr>
            <a:normAutofit/>
          </a:bodyPr>
          <a:lstStyle/>
          <a:p>
            <a:r>
              <a:rPr lang="en-AT" dirty="0"/>
              <a:t>You could store it in shredded form/you parse it</a:t>
            </a:r>
          </a:p>
          <a:p>
            <a:r>
              <a:rPr lang="en-AT" dirty="0"/>
              <a:t>I.e. you translate it by hand into a number of tables in SQL</a:t>
            </a:r>
          </a:p>
          <a:p>
            <a:endParaRPr lang="en-AT" dirty="0"/>
          </a:p>
        </p:txBody>
      </p:sp>
    </p:spTree>
    <p:extLst>
      <p:ext uri="{BB962C8B-B14F-4D97-AF65-F5344CB8AC3E}">
        <p14:creationId xmlns:p14="http://schemas.microsoft.com/office/powerpoint/2010/main" val="12248741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Storing this in each way…</a:t>
            </a:r>
            <a:endParaRPr lang="en-US" sz="2400" dirty="0"/>
          </a:p>
        </p:txBody>
      </p:sp>
      <p:sp>
        <p:nvSpPr>
          <p:cNvPr id="46" name="Oval 45"/>
          <p:cNvSpPr/>
          <p:nvPr/>
        </p:nvSpPr>
        <p:spPr>
          <a:xfrm>
            <a:off x="4804834" y="1920029"/>
            <a:ext cx="274712" cy="274712"/>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52" name="Oval 51"/>
          <p:cNvSpPr/>
          <p:nvPr/>
        </p:nvSpPr>
        <p:spPr>
          <a:xfrm>
            <a:off x="783468" y="3807713"/>
            <a:ext cx="274712" cy="274712"/>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53" name="TextBox 52"/>
          <p:cNvSpPr txBox="1"/>
          <p:nvPr/>
        </p:nvSpPr>
        <p:spPr>
          <a:xfrm>
            <a:off x="308188" y="4167753"/>
            <a:ext cx="1225272" cy="338554"/>
          </a:xfrm>
          <a:prstGeom prst="rect">
            <a:avLst/>
          </a:prstGeom>
          <a:noFill/>
        </p:spPr>
        <p:txBody>
          <a:bodyPr wrap="none" rtlCol="0">
            <a:spAutoFit/>
          </a:bodyPr>
          <a:lstStyle/>
          <a:p>
            <a:pPr algn="ctr"/>
            <a:r>
              <a:rPr lang="en-US" sz="1600" dirty="0">
                <a:solidFill>
                  <a:schemeClr val="accent2"/>
                </a:solidFill>
              </a:rPr>
              <a:t>”J. </a:t>
            </a:r>
            <a:r>
              <a:rPr lang="en-US" sz="1600" dirty="0" err="1">
                <a:solidFill>
                  <a:schemeClr val="accent2"/>
                </a:solidFill>
              </a:rPr>
              <a:t>Fearnley</a:t>
            </a:r>
            <a:r>
              <a:rPr lang="en-US" sz="1600" dirty="0">
                <a:solidFill>
                  <a:schemeClr val="accent2"/>
                </a:solidFill>
              </a:rPr>
              <a:t>”</a:t>
            </a:r>
            <a:endParaRPr lang="en-US" dirty="0">
              <a:solidFill>
                <a:schemeClr val="accent2"/>
              </a:solidFill>
            </a:endParaRPr>
          </a:p>
        </p:txBody>
      </p:sp>
      <p:sp>
        <p:nvSpPr>
          <p:cNvPr id="54" name="Oval 53"/>
          <p:cNvSpPr/>
          <p:nvPr/>
        </p:nvSpPr>
        <p:spPr>
          <a:xfrm>
            <a:off x="1779772" y="3807713"/>
            <a:ext cx="274712" cy="274712"/>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55" name="TextBox 54"/>
          <p:cNvSpPr txBox="1"/>
          <p:nvPr/>
        </p:nvSpPr>
        <p:spPr>
          <a:xfrm>
            <a:off x="1539462" y="4167753"/>
            <a:ext cx="755335" cy="338554"/>
          </a:xfrm>
          <a:prstGeom prst="rect">
            <a:avLst/>
          </a:prstGeom>
          <a:noFill/>
        </p:spPr>
        <p:txBody>
          <a:bodyPr wrap="none" rtlCol="0">
            <a:spAutoFit/>
          </a:bodyPr>
          <a:lstStyle/>
          <a:p>
            <a:pPr algn="ctr"/>
            <a:r>
              <a:rPr lang="en-US" sz="1600" dirty="0">
                <a:solidFill>
                  <a:schemeClr val="accent2"/>
                </a:solidFill>
              </a:rPr>
              <a:t>7954</a:t>
            </a:r>
            <a:r>
              <a:rPr lang="mr-IN" sz="1600" dirty="0">
                <a:solidFill>
                  <a:schemeClr val="accent2"/>
                </a:solidFill>
              </a:rPr>
              <a:t>…</a:t>
            </a:r>
            <a:endParaRPr lang="en-US" dirty="0">
              <a:solidFill>
                <a:schemeClr val="accent2"/>
              </a:solidFill>
            </a:endParaRPr>
          </a:p>
        </p:txBody>
      </p:sp>
      <p:sp>
        <p:nvSpPr>
          <p:cNvPr id="56" name="Oval 55"/>
          <p:cNvSpPr/>
          <p:nvPr/>
        </p:nvSpPr>
        <p:spPr>
          <a:xfrm>
            <a:off x="2203935" y="5110739"/>
            <a:ext cx="274712" cy="274712"/>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57" name="TextBox 56"/>
          <p:cNvSpPr txBox="1"/>
          <p:nvPr/>
        </p:nvSpPr>
        <p:spPr>
          <a:xfrm>
            <a:off x="1744047" y="5470779"/>
            <a:ext cx="1194494" cy="338554"/>
          </a:xfrm>
          <a:prstGeom prst="rect">
            <a:avLst/>
          </a:prstGeom>
          <a:noFill/>
        </p:spPr>
        <p:txBody>
          <a:bodyPr wrap="none" rtlCol="0">
            <a:spAutoFit/>
          </a:bodyPr>
          <a:lstStyle/>
          <a:p>
            <a:pPr algn="ctr"/>
            <a:r>
              <a:rPr lang="en-GB" sz="1600" dirty="0">
                <a:solidFill>
                  <a:schemeClr val="accent2"/>
                </a:solidFill>
              </a:rPr>
              <a:t>“COMP105”</a:t>
            </a:r>
            <a:endParaRPr lang="en-US" dirty="0">
              <a:solidFill>
                <a:schemeClr val="accent2"/>
              </a:solidFill>
            </a:endParaRPr>
          </a:p>
        </p:txBody>
      </p:sp>
      <p:sp>
        <p:nvSpPr>
          <p:cNvPr id="58" name="Oval 57"/>
          <p:cNvSpPr/>
          <p:nvPr/>
        </p:nvSpPr>
        <p:spPr>
          <a:xfrm>
            <a:off x="3586669" y="5111851"/>
            <a:ext cx="274712" cy="274712"/>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59" name="TextBox 58"/>
          <p:cNvSpPr txBox="1"/>
          <p:nvPr/>
        </p:nvSpPr>
        <p:spPr>
          <a:xfrm>
            <a:off x="2851103" y="5471891"/>
            <a:ext cx="1745863" cy="338554"/>
          </a:xfrm>
          <a:prstGeom prst="rect">
            <a:avLst/>
          </a:prstGeom>
          <a:noFill/>
        </p:spPr>
        <p:txBody>
          <a:bodyPr wrap="none" rtlCol="0">
            <a:spAutoFit/>
          </a:bodyPr>
          <a:lstStyle/>
          <a:p>
            <a:pPr algn="ctr"/>
            <a:r>
              <a:rPr lang="en-GB" sz="1600" dirty="0">
                <a:solidFill>
                  <a:schemeClr val="accent2"/>
                </a:solidFill>
              </a:rPr>
              <a:t>“</a:t>
            </a:r>
            <a:r>
              <a:rPr lang="en-GB" sz="1600" dirty="0" err="1">
                <a:solidFill>
                  <a:schemeClr val="accent2"/>
                </a:solidFill>
              </a:rPr>
              <a:t>Progr</a:t>
            </a:r>
            <a:r>
              <a:rPr lang="en-GB" sz="1600" dirty="0">
                <a:solidFill>
                  <a:schemeClr val="accent2"/>
                </a:solidFill>
              </a:rPr>
              <a:t>. Paradigms”</a:t>
            </a:r>
            <a:endParaRPr lang="en-US" dirty="0">
              <a:solidFill>
                <a:schemeClr val="accent2"/>
              </a:solidFill>
            </a:endParaRPr>
          </a:p>
        </p:txBody>
      </p:sp>
      <p:sp>
        <p:nvSpPr>
          <p:cNvPr id="60" name="Oval 59"/>
          <p:cNvSpPr/>
          <p:nvPr/>
        </p:nvSpPr>
        <p:spPr>
          <a:xfrm>
            <a:off x="4261472" y="3807713"/>
            <a:ext cx="274712" cy="274712"/>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61" name="TextBox 60"/>
          <p:cNvSpPr txBox="1"/>
          <p:nvPr/>
        </p:nvSpPr>
        <p:spPr>
          <a:xfrm>
            <a:off x="3592944" y="4167753"/>
            <a:ext cx="1611788" cy="338554"/>
          </a:xfrm>
          <a:prstGeom prst="rect">
            <a:avLst/>
          </a:prstGeom>
          <a:noFill/>
        </p:spPr>
        <p:txBody>
          <a:bodyPr wrap="none" rtlCol="0">
            <a:spAutoFit/>
          </a:bodyPr>
          <a:lstStyle/>
          <a:p>
            <a:pPr algn="ctr"/>
            <a:r>
              <a:rPr lang="en-GB" sz="1600" dirty="0">
                <a:solidFill>
                  <a:schemeClr val="accent2"/>
                </a:solidFill>
              </a:rPr>
              <a:t>”Economics &amp; </a:t>
            </a:r>
            <a:r>
              <a:rPr lang="mr-IN" sz="1600" dirty="0">
                <a:solidFill>
                  <a:schemeClr val="accent2"/>
                </a:solidFill>
              </a:rPr>
              <a:t>…</a:t>
            </a:r>
            <a:r>
              <a:rPr lang="en-GB" sz="1600" dirty="0">
                <a:solidFill>
                  <a:schemeClr val="accent2"/>
                </a:solidFill>
              </a:rPr>
              <a:t>”</a:t>
            </a:r>
            <a:endParaRPr lang="en-US" dirty="0">
              <a:solidFill>
                <a:schemeClr val="accent2"/>
              </a:solidFill>
            </a:endParaRPr>
          </a:p>
        </p:txBody>
      </p:sp>
      <p:sp>
        <p:nvSpPr>
          <p:cNvPr id="62" name="Oval 61"/>
          <p:cNvSpPr/>
          <p:nvPr/>
        </p:nvSpPr>
        <p:spPr>
          <a:xfrm>
            <a:off x="2938541" y="3805793"/>
            <a:ext cx="274712" cy="274712"/>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63" name="Oval 62"/>
          <p:cNvSpPr/>
          <p:nvPr/>
        </p:nvSpPr>
        <p:spPr>
          <a:xfrm>
            <a:off x="2938541" y="2642093"/>
            <a:ext cx="274712" cy="274712"/>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64" name="Oval 63"/>
          <p:cNvSpPr/>
          <p:nvPr/>
        </p:nvSpPr>
        <p:spPr>
          <a:xfrm>
            <a:off x="5656013" y="3806601"/>
            <a:ext cx="274712" cy="274712"/>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65" name="TextBox 64"/>
          <p:cNvSpPr txBox="1"/>
          <p:nvPr/>
        </p:nvSpPr>
        <p:spPr>
          <a:xfrm>
            <a:off x="5175956" y="4166641"/>
            <a:ext cx="1234826" cy="338554"/>
          </a:xfrm>
          <a:prstGeom prst="rect">
            <a:avLst/>
          </a:prstGeom>
          <a:noFill/>
        </p:spPr>
        <p:txBody>
          <a:bodyPr wrap="none" rtlCol="0">
            <a:spAutoFit/>
          </a:bodyPr>
          <a:lstStyle/>
          <a:p>
            <a:pPr algn="ctr"/>
            <a:r>
              <a:rPr lang="en-US" sz="1600" dirty="0">
                <a:solidFill>
                  <a:schemeClr val="accent2"/>
                </a:solidFill>
              </a:rPr>
              <a:t>”M. </a:t>
            </a:r>
            <a:r>
              <a:rPr lang="en-US" sz="1600" dirty="0" err="1">
                <a:solidFill>
                  <a:schemeClr val="accent2"/>
                </a:solidFill>
              </a:rPr>
              <a:t>Gairing</a:t>
            </a:r>
            <a:r>
              <a:rPr lang="en-US" sz="1600" dirty="0">
                <a:solidFill>
                  <a:schemeClr val="accent2"/>
                </a:solidFill>
              </a:rPr>
              <a:t>”</a:t>
            </a:r>
            <a:endParaRPr lang="en-US" dirty="0">
              <a:solidFill>
                <a:schemeClr val="accent2"/>
              </a:solidFill>
            </a:endParaRPr>
          </a:p>
        </p:txBody>
      </p:sp>
      <p:sp>
        <p:nvSpPr>
          <p:cNvPr id="68" name="Oval 67"/>
          <p:cNvSpPr/>
          <p:nvPr/>
        </p:nvSpPr>
        <p:spPr>
          <a:xfrm>
            <a:off x="6382392" y="5110739"/>
            <a:ext cx="274712" cy="274712"/>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69" name="TextBox 68"/>
          <p:cNvSpPr txBox="1"/>
          <p:nvPr/>
        </p:nvSpPr>
        <p:spPr>
          <a:xfrm>
            <a:off x="5943901" y="5470779"/>
            <a:ext cx="1194494" cy="338554"/>
          </a:xfrm>
          <a:prstGeom prst="rect">
            <a:avLst/>
          </a:prstGeom>
          <a:noFill/>
        </p:spPr>
        <p:txBody>
          <a:bodyPr wrap="none" rtlCol="0">
            <a:spAutoFit/>
          </a:bodyPr>
          <a:lstStyle/>
          <a:p>
            <a:pPr algn="ctr"/>
            <a:r>
              <a:rPr lang="en-GB" sz="1600" dirty="0">
                <a:solidFill>
                  <a:schemeClr val="accent2"/>
                </a:solidFill>
              </a:rPr>
              <a:t>“COMP211”</a:t>
            </a:r>
            <a:endParaRPr lang="en-US" dirty="0">
              <a:solidFill>
                <a:schemeClr val="accent2"/>
              </a:solidFill>
            </a:endParaRPr>
          </a:p>
        </p:txBody>
      </p:sp>
      <p:sp>
        <p:nvSpPr>
          <p:cNvPr id="70" name="Oval 69"/>
          <p:cNvSpPr/>
          <p:nvPr/>
        </p:nvSpPr>
        <p:spPr>
          <a:xfrm>
            <a:off x="7525769" y="5111851"/>
            <a:ext cx="274712" cy="274712"/>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71" name="TextBox 70"/>
          <p:cNvSpPr txBox="1"/>
          <p:nvPr/>
        </p:nvSpPr>
        <p:spPr>
          <a:xfrm>
            <a:off x="7170365" y="5471891"/>
            <a:ext cx="1219501" cy="338554"/>
          </a:xfrm>
          <a:prstGeom prst="rect">
            <a:avLst/>
          </a:prstGeom>
          <a:noFill/>
        </p:spPr>
        <p:txBody>
          <a:bodyPr wrap="none" rtlCol="0">
            <a:spAutoFit/>
          </a:bodyPr>
          <a:lstStyle/>
          <a:p>
            <a:pPr algn="ctr"/>
            <a:r>
              <a:rPr lang="en-GB" sz="1600" dirty="0">
                <a:solidFill>
                  <a:schemeClr val="accent2"/>
                </a:solidFill>
              </a:rPr>
              <a:t>“Internet </a:t>
            </a:r>
            <a:r>
              <a:rPr lang="mr-IN" sz="1600" dirty="0">
                <a:solidFill>
                  <a:schemeClr val="accent2"/>
                </a:solidFill>
              </a:rPr>
              <a:t>…</a:t>
            </a:r>
            <a:r>
              <a:rPr lang="en-GB" sz="1600" dirty="0">
                <a:solidFill>
                  <a:schemeClr val="accent2"/>
                </a:solidFill>
              </a:rPr>
              <a:t>”</a:t>
            </a:r>
            <a:endParaRPr lang="en-US" dirty="0">
              <a:solidFill>
                <a:schemeClr val="accent2"/>
              </a:solidFill>
            </a:endParaRPr>
          </a:p>
        </p:txBody>
      </p:sp>
      <p:sp>
        <p:nvSpPr>
          <p:cNvPr id="74" name="Oval 73"/>
          <p:cNvSpPr/>
          <p:nvPr/>
        </p:nvSpPr>
        <p:spPr>
          <a:xfrm>
            <a:off x="7116998" y="3804681"/>
            <a:ext cx="274712" cy="274712"/>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75" name="Oval 74"/>
          <p:cNvSpPr/>
          <p:nvPr/>
        </p:nvSpPr>
        <p:spPr>
          <a:xfrm>
            <a:off x="6675641" y="2642093"/>
            <a:ext cx="274712" cy="274712"/>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cxnSp>
        <p:nvCxnSpPr>
          <p:cNvPr id="77" name="Straight Arrow Connector 76"/>
          <p:cNvCxnSpPr>
            <a:stCxn id="46" idx="3"/>
            <a:endCxn id="63" idx="7"/>
          </p:cNvCxnSpPr>
          <p:nvPr/>
        </p:nvCxnSpPr>
        <p:spPr>
          <a:xfrm flipH="1">
            <a:off x="3173022" y="2154510"/>
            <a:ext cx="1672043" cy="5278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a:stCxn id="46" idx="5"/>
            <a:endCxn id="75" idx="1"/>
          </p:cNvCxnSpPr>
          <p:nvPr/>
        </p:nvCxnSpPr>
        <p:spPr>
          <a:xfrm>
            <a:off x="5039315" y="2154510"/>
            <a:ext cx="1676557" cy="5278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a:stCxn id="63" idx="2"/>
            <a:endCxn id="52" idx="7"/>
          </p:cNvCxnSpPr>
          <p:nvPr/>
        </p:nvCxnSpPr>
        <p:spPr>
          <a:xfrm flipH="1">
            <a:off x="1017949" y="2779450"/>
            <a:ext cx="1920592" cy="10684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p:cNvCxnSpPr>
            <a:stCxn id="63" idx="3"/>
            <a:endCxn id="54" idx="7"/>
          </p:cNvCxnSpPr>
          <p:nvPr/>
        </p:nvCxnSpPr>
        <p:spPr>
          <a:xfrm flipH="1">
            <a:off x="2014254" y="2876574"/>
            <a:ext cx="964519" cy="9713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p:cNvCxnSpPr>
            <a:stCxn id="63" idx="4"/>
            <a:endCxn id="62" idx="0"/>
          </p:cNvCxnSpPr>
          <p:nvPr/>
        </p:nvCxnSpPr>
        <p:spPr>
          <a:xfrm>
            <a:off x="3075897" y="2916805"/>
            <a:ext cx="0" cy="8889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1" name="Straight Arrow Connector 90"/>
          <p:cNvCxnSpPr>
            <a:stCxn id="63" idx="5"/>
            <a:endCxn id="60" idx="1"/>
          </p:cNvCxnSpPr>
          <p:nvPr/>
        </p:nvCxnSpPr>
        <p:spPr>
          <a:xfrm>
            <a:off x="3173023" y="2876574"/>
            <a:ext cx="1128681" cy="9713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p:cNvCxnSpPr>
            <a:stCxn id="75" idx="3"/>
            <a:endCxn id="64" idx="7"/>
          </p:cNvCxnSpPr>
          <p:nvPr/>
        </p:nvCxnSpPr>
        <p:spPr>
          <a:xfrm flipH="1">
            <a:off x="5890494" y="2876574"/>
            <a:ext cx="825378" cy="9702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p:cNvCxnSpPr>
            <a:stCxn id="75" idx="5"/>
            <a:endCxn id="74" idx="0"/>
          </p:cNvCxnSpPr>
          <p:nvPr/>
        </p:nvCxnSpPr>
        <p:spPr>
          <a:xfrm>
            <a:off x="6910122" y="2876575"/>
            <a:ext cx="344232" cy="9281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p:cNvCxnSpPr>
            <a:stCxn id="62" idx="3"/>
            <a:endCxn id="56" idx="7"/>
          </p:cNvCxnSpPr>
          <p:nvPr/>
        </p:nvCxnSpPr>
        <p:spPr>
          <a:xfrm flipH="1">
            <a:off x="2438416" y="4040274"/>
            <a:ext cx="540356" cy="11106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p:cNvCxnSpPr>
            <a:stCxn id="62" idx="5"/>
            <a:endCxn id="58" idx="1"/>
          </p:cNvCxnSpPr>
          <p:nvPr/>
        </p:nvCxnSpPr>
        <p:spPr>
          <a:xfrm>
            <a:off x="3173022" y="4040274"/>
            <a:ext cx="453878" cy="11118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7" name="Straight Arrow Connector 106"/>
          <p:cNvCxnSpPr>
            <a:stCxn id="74" idx="3"/>
            <a:endCxn id="68" idx="7"/>
          </p:cNvCxnSpPr>
          <p:nvPr/>
        </p:nvCxnSpPr>
        <p:spPr>
          <a:xfrm flipH="1">
            <a:off x="6616873" y="4039162"/>
            <a:ext cx="540356" cy="11118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p:cNvCxnSpPr>
            <a:stCxn id="74" idx="4"/>
            <a:endCxn id="70" idx="1"/>
          </p:cNvCxnSpPr>
          <p:nvPr/>
        </p:nvCxnSpPr>
        <p:spPr>
          <a:xfrm>
            <a:off x="7254354" y="4079394"/>
            <a:ext cx="311646" cy="10726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4" name="TextBox 113"/>
          <p:cNvSpPr txBox="1"/>
          <p:nvPr/>
        </p:nvSpPr>
        <p:spPr>
          <a:xfrm>
            <a:off x="3449116" y="2084524"/>
            <a:ext cx="840808" cy="338554"/>
          </a:xfrm>
          <a:prstGeom prst="rect">
            <a:avLst/>
          </a:prstGeom>
          <a:noFill/>
        </p:spPr>
        <p:txBody>
          <a:bodyPr wrap="none" rtlCol="0">
            <a:spAutoFit/>
          </a:bodyPr>
          <a:lstStyle/>
          <a:p>
            <a:r>
              <a:rPr lang="en-US" sz="1600" dirty="0">
                <a:solidFill>
                  <a:schemeClr val="accent3"/>
                </a:solidFill>
              </a:rPr>
              <a:t>lecturer</a:t>
            </a:r>
            <a:endParaRPr lang="en-US" dirty="0">
              <a:solidFill>
                <a:schemeClr val="accent3"/>
              </a:solidFill>
            </a:endParaRPr>
          </a:p>
        </p:txBody>
      </p:sp>
      <p:sp>
        <p:nvSpPr>
          <p:cNvPr id="115" name="TextBox 114"/>
          <p:cNvSpPr txBox="1"/>
          <p:nvPr/>
        </p:nvSpPr>
        <p:spPr>
          <a:xfrm>
            <a:off x="5523497" y="1961231"/>
            <a:ext cx="840808" cy="338554"/>
          </a:xfrm>
          <a:prstGeom prst="rect">
            <a:avLst/>
          </a:prstGeom>
          <a:noFill/>
        </p:spPr>
        <p:txBody>
          <a:bodyPr wrap="none" rtlCol="0">
            <a:spAutoFit/>
          </a:bodyPr>
          <a:lstStyle/>
          <a:p>
            <a:r>
              <a:rPr lang="en-US" sz="1600" dirty="0">
                <a:solidFill>
                  <a:schemeClr val="accent3"/>
                </a:solidFill>
              </a:rPr>
              <a:t>lecturer</a:t>
            </a:r>
            <a:endParaRPr lang="en-US" dirty="0">
              <a:solidFill>
                <a:schemeClr val="accent3"/>
              </a:solidFill>
            </a:endParaRPr>
          </a:p>
        </p:txBody>
      </p:sp>
      <p:sp>
        <p:nvSpPr>
          <p:cNvPr id="116" name="TextBox 115"/>
          <p:cNvSpPr txBox="1"/>
          <p:nvPr/>
        </p:nvSpPr>
        <p:spPr>
          <a:xfrm>
            <a:off x="1617889" y="2875462"/>
            <a:ext cx="655949" cy="338554"/>
          </a:xfrm>
          <a:prstGeom prst="rect">
            <a:avLst/>
          </a:prstGeom>
          <a:noFill/>
        </p:spPr>
        <p:txBody>
          <a:bodyPr wrap="none" rtlCol="0">
            <a:spAutoFit/>
          </a:bodyPr>
          <a:lstStyle/>
          <a:p>
            <a:r>
              <a:rPr lang="en-US" sz="1600" dirty="0">
                <a:solidFill>
                  <a:schemeClr val="accent3"/>
                </a:solidFill>
              </a:rPr>
              <a:t>name</a:t>
            </a:r>
            <a:endParaRPr lang="en-US" dirty="0">
              <a:solidFill>
                <a:schemeClr val="accent3"/>
              </a:solidFill>
            </a:endParaRPr>
          </a:p>
        </p:txBody>
      </p:sp>
      <p:cxnSp>
        <p:nvCxnSpPr>
          <p:cNvPr id="117" name="Straight Arrow Connector 116"/>
          <p:cNvCxnSpPr>
            <a:cxnSpLocks/>
            <a:stCxn id="75" idx="6"/>
          </p:cNvCxnSpPr>
          <p:nvPr/>
        </p:nvCxnSpPr>
        <p:spPr>
          <a:xfrm>
            <a:off x="6950353" y="2779449"/>
            <a:ext cx="2546000" cy="3129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0" name="TextBox 119"/>
          <p:cNvSpPr txBox="1"/>
          <p:nvPr/>
        </p:nvSpPr>
        <p:spPr>
          <a:xfrm>
            <a:off x="2288753" y="3396331"/>
            <a:ext cx="718466" cy="338554"/>
          </a:xfrm>
          <a:prstGeom prst="rect">
            <a:avLst/>
          </a:prstGeom>
          <a:noFill/>
        </p:spPr>
        <p:txBody>
          <a:bodyPr wrap="none" rtlCol="0">
            <a:spAutoFit/>
          </a:bodyPr>
          <a:lstStyle/>
          <a:p>
            <a:r>
              <a:rPr lang="en-US" sz="1600" dirty="0">
                <a:solidFill>
                  <a:schemeClr val="accent3"/>
                </a:solidFill>
              </a:rPr>
              <a:t>phone</a:t>
            </a:r>
            <a:endParaRPr lang="en-US" dirty="0">
              <a:solidFill>
                <a:schemeClr val="accent3"/>
              </a:solidFill>
            </a:endParaRPr>
          </a:p>
        </p:txBody>
      </p:sp>
      <p:sp>
        <p:nvSpPr>
          <p:cNvPr id="121" name="TextBox 120"/>
          <p:cNvSpPr txBox="1"/>
          <p:nvPr/>
        </p:nvSpPr>
        <p:spPr>
          <a:xfrm>
            <a:off x="3048241" y="3340627"/>
            <a:ext cx="828625" cy="338554"/>
          </a:xfrm>
          <a:prstGeom prst="rect">
            <a:avLst/>
          </a:prstGeom>
          <a:noFill/>
        </p:spPr>
        <p:txBody>
          <a:bodyPr wrap="none" rtlCol="0">
            <a:spAutoFit/>
          </a:bodyPr>
          <a:lstStyle/>
          <a:p>
            <a:r>
              <a:rPr lang="en-US" sz="1600" dirty="0">
                <a:solidFill>
                  <a:schemeClr val="accent3"/>
                </a:solidFill>
              </a:rPr>
              <a:t>teaches</a:t>
            </a:r>
            <a:endParaRPr lang="en-US" dirty="0">
              <a:solidFill>
                <a:schemeClr val="accent3"/>
              </a:solidFill>
            </a:endParaRPr>
          </a:p>
        </p:txBody>
      </p:sp>
      <p:sp>
        <p:nvSpPr>
          <p:cNvPr id="122" name="TextBox 121"/>
          <p:cNvSpPr txBox="1"/>
          <p:nvPr/>
        </p:nvSpPr>
        <p:spPr>
          <a:xfrm>
            <a:off x="3725394" y="3047795"/>
            <a:ext cx="1095172" cy="338554"/>
          </a:xfrm>
          <a:prstGeom prst="rect">
            <a:avLst/>
          </a:prstGeom>
          <a:noFill/>
        </p:spPr>
        <p:txBody>
          <a:bodyPr wrap="none" rtlCol="0">
            <a:spAutoFit/>
          </a:bodyPr>
          <a:lstStyle/>
          <a:p>
            <a:r>
              <a:rPr lang="en-US" sz="1600" dirty="0" err="1">
                <a:solidFill>
                  <a:schemeClr val="accent3"/>
                </a:solidFill>
              </a:rPr>
              <a:t>memberOf</a:t>
            </a:r>
            <a:endParaRPr lang="en-US" dirty="0">
              <a:solidFill>
                <a:schemeClr val="accent3"/>
              </a:solidFill>
            </a:endParaRPr>
          </a:p>
        </p:txBody>
      </p:sp>
      <p:sp>
        <p:nvSpPr>
          <p:cNvPr id="124" name="TextBox 123"/>
          <p:cNvSpPr txBox="1"/>
          <p:nvPr/>
        </p:nvSpPr>
        <p:spPr>
          <a:xfrm rot="18847236">
            <a:off x="5761042" y="3254573"/>
            <a:ext cx="655949" cy="338554"/>
          </a:xfrm>
          <a:prstGeom prst="rect">
            <a:avLst/>
          </a:prstGeom>
          <a:noFill/>
        </p:spPr>
        <p:txBody>
          <a:bodyPr wrap="none" rtlCol="0">
            <a:spAutoFit/>
          </a:bodyPr>
          <a:lstStyle/>
          <a:p>
            <a:r>
              <a:rPr lang="en-US" sz="1600" dirty="0">
                <a:solidFill>
                  <a:schemeClr val="accent3"/>
                </a:solidFill>
              </a:rPr>
              <a:t>name</a:t>
            </a:r>
            <a:endParaRPr lang="en-US" dirty="0">
              <a:solidFill>
                <a:schemeClr val="accent3"/>
              </a:solidFill>
            </a:endParaRPr>
          </a:p>
        </p:txBody>
      </p:sp>
      <p:sp>
        <p:nvSpPr>
          <p:cNvPr id="125" name="TextBox 124"/>
          <p:cNvSpPr txBox="1"/>
          <p:nvPr/>
        </p:nvSpPr>
        <p:spPr>
          <a:xfrm>
            <a:off x="6340722" y="3324480"/>
            <a:ext cx="828625" cy="338554"/>
          </a:xfrm>
          <a:prstGeom prst="rect">
            <a:avLst/>
          </a:prstGeom>
          <a:noFill/>
        </p:spPr>
        <p:txBody>
          <a:bodyPr wrap="none" rtlCol="0">
            <a:spAutoFit/>
          </a:bodyPr>
          <a:lstStyle/>
          <a:p>
            <a:r>
              <a:rPr lang="en-US" sz="1600">
                <a:solidFill>
                  <a:schemeClr val="accent3"/>
                </a:solidFill>
              </a:rPr>
              <a:t>teaches</a:t>
            </a:r>
            <a:endParaRPr lang="en-US" dirty="0">
              <a:solidFill>
                <a:schemeClr val="accent3"/>
              </a:solidFill>
            </a:endParaRPr>
          </a:p>
        </p:txBody>
      </p:sp>
      <p:sp>
        <p:nvSpPr>
          <p:cNvPr id="126" name="TextBox 125"/>
          <p:cNvSpPr txBox="1"/>
          <p:nvPr/>
        </p:nvSpPr>
        <p:spPr>
          <a:xfrm>
            <a:off x="2617735" y="4540671"/>
            <a:ext cx="588559" cy="338554"/>
          </a:xfrm>
          <a:prstGeom prst="rect">
            <a:avLst/>
          </a:prstGeom>
          <a:noFill/>
        </p:spPr>
        <p:txBody>
          <a:bodyPr wrap="none" rtlCol="0">
            <a:spAutoFit/>
          </a:bodyPr>
          <a:lstStyle/>
          <a:p>
            <a:r>
              <a:rPr lang="en-US" sz="1600" dirty="0">
                <a:solidFill>
                  <a:schemeClr val="accent3"/>
                </a:solidFill>
              </a:rPr>
              <a:t>code</a:t>
            </a:r>
            <a:endParaRPr lang="en-US" dirty="0">
              <a:solidFill>
                <a:schemeClr val="accent3"/>
              </a:solidFill>
            </a:endParaRPr>
          </a:p>
        </p:txBody>
      </p:sp>
      <p:sp>
        <p:nvSpPr>
          <p:cNvPr id="127" name="TextBox 126"/>
          <p:cNvSpPr txBox="1"/>
          <p:nvPr/>
        </p:nvSpPr>
        <p:spPr>
          <a:xfrm>
            <a:off x="3469049" y="4540671"/>
            <a:ext cx="518091" cy="338554"/>
          </a:xfrm>
          <a:prstGeom prst="rect">
            <a:avLst/>
          </a:prstGeom>
          <a:noFill/>
        </p:spPr>
        <p:txBody>
          <a:bodyPr wrap="none" rtlCol="0">
            <a:spAutoFit/>
          </a:bodyPr>
          <a:lstStyle/>
          <a:p>
            <a:r>
              <a:rPr lang="en-US" sz="1600" dirty="0">
                <a:solidFill>
                  <a:schemeClr val="accent3"/>
                </a:solidFill>
              </a:rPr>
              <a:t>title</a:t>
            </a:r>
            <a:endParaRPr lang="en-US" dirty="0">
              <a:solidFill>
                <a:schemeClr val="accent3"/>
              </a:solidFill>
            </a:endParaRPr>
          </a:p>
        </p:txBody>
      </p:sp>
      <p:sp>
        <p:nvSpPr>
          <p:cNvPr id="128" name="TextBox 127"/>
          <p:cNvSpPr txBox="1"/>
          <p:nvPr/>
        </p:nvSpPr>
        <p:spPr>
          <a:xfrm>
            <a:off x="6239828" y="4549955"/>
            <a:ext cx="588559" cy="338554"/>
          </a:xfrm>
          <a:prstGeom prst="rect">
            <a:avLst/>
          </a:prstGeom>
          <a:noFill/>
        </p:spPr>
        <p:txBody>
          <a:bodyPr wrap="none" rtlCol="0">
            <a:spAutoFit/>
          </a:bodyPr>
          <a:lstStyle/>
          <a:p>
            <a:r>
              <a:rPr lang="en-US" sz="1600" dirty="0">
                <a:solidFill>
                  <a:schemeClr val="accent3"/>
                </a:solidFill>
              </a:rPr>
              <a:t>code</a:t>
            </a:r>
            <a:endParaRPr lang="en-US" dirty="0">
              <a:solidFill>
                <a:schemeClr val="accent3"/>
              </a:solidFill>
            </a:endParaRPr>
          </a:p>
        </p:txBody>
      </p:sp>
      <p:sp>
        <p:nvSpPr>
          <p:cNvPr id="129" name="TextBox 128"/>
          <p:cNvSpPr txBox="1"/>
          <p:nvPr/>
        </p:nvSpPr>
        <p:spPr>
          <a:xfrm>
            <a:off x="6940128" y="4549955"/>
            <a:ext cx="518091" cy="338554"/>
          </a:xfrm>
          <a:prstGeom prst="rect">
            <a:avLst/>
          </a:prstGeom>
          <a:noFill/>
        </p:spPr>
        <p:txBody>
          <a:bodyPr wrap="none" rtlCol="0">
            <a:spAutoFit/>
          </a:bodyPr>
          <a:lstStyle/>
          <a:p>
            <a:r>
              <a:rPr lang="en-US" sz="1600" dirty="0">
                <a:solidFill>
                  <a:schemeClr val="accent3"/>
                </a:solidFill>
              </a:rPr>
              <a:t>title</a:t>
            </a:r>
            <a:endParaRPr lang="en-US" dirty="0">
              <a:solidFill>
                <a:schemeClr val="accent3"/>
              </a:solidFill>
            </a:endParaRPr>
          </a:p>
        </p:txBody>
      </p:sp>
      <p:sp>
        <p:nvSpPr>
          <p:cNvPr id="132" name="Oval 131"/>
          <p:cNvSpPr/>
          <p:nvPr/>
        </p:nvSpPr>
        <p:spPr>
          <a:xfrm>
            <a:off x="8569370" y="5094134"/>
            <a:ext cx="274712" cy="274712"/>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33" name="TextBox 132"/>
          <p:cNvSpPr txBox="1"/>
          <p:nvPr/>
        </p:nvSpPr>
        <p:spPr>
          <a:xfrm>
            <a:off x="8562296" y="5470779"/>
            <a:ext cx="288861" cy="338554"/>
          </a:xfrm>
          <a:prstGeom prst="rect">
            <a:avLst/>
          </a:prstGeom>
          <a:noFill/>
        </p:spPr>
        <p:txBody>
          <a:bodyPr wrap="none" rtlCol="0">
            <a:spAutoFit/>
          </a:bodyPr>
          <a:lstStyle/>
          <a:p>
            <a:pPr algn="ctr"/>
            <a:r>
              <a:rPr lang="en-GB" sz="1600">
                <a:solidFill>
                  <a:schemeClr val="accent2"/>
                </a:solidFill>
              </a:rPr>
              <a:t>2</a:t>
            </a:r>
            <a:endParaRPr lang="en-US" dirty="0">
              <a:solidFill>
                <a:schemeClr val="accent2"/>
              </a:solidFill>
            </a:endParaRPr>
          </a:p>
        </p:txBody>
      </p:sp>
      <p:cxnSp>
        <p:nvCxnSpPr>
          <p:cNvPr id="134" name="Straight Arrow Connector 133"/>
          <p:cNvCxnSpPr>
            <a:stCxn id="74" idx="6"/>
            <a:endCxn id="132" idx="1"/>
          </p:cNvCxnSpPr>
          <p:nvPr/>
        </p:nvCxnSpPr>
        <p:spPr>
          <a:xfrm>
            <a:off x="7391711" y="3942037"/>
            <a:ext cx="1217891" cy="11923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8" name="TextBox 137"/>
          <p:cNvSpPr txBox="1"/>
          <p:nvPr/>
        </p:nvSpPr>
        <p:spPr>
          <a:xfrm>
            <a:off x="7631548" y="4540671"/>
            <a:ext cx="547714" cy="338554"/>
          </a:xfrm>
          <a:prstGeom prst="rect">
            <a:avLst/>
          </a:prstGeom>
          <a:noFill/>
        </p:spPr>
        <p:txBody>
          <a:bodyPr wrap="none" rtlCol="0">
            <a:spAutoFit/>
          </a:bodyPr>
          <a:lstStyle/>
          <a:p>
            <a:r>
              <a:rPr lang="en-US" sz="1600" dirty="0">
                <a:solidFill>
                  <a:schemeClr val="accent3"/>
                </a:solidFill>
              </a:rPr>
              <a:t>year</a:t>
            </a:r>
            <a:endParaRPr lang="en-US" dirty="0">
              <a:solidFill>
                <a:schemeClr val="accent3"/>
              </a:solidFill>
            </a:endParaRPr>
          </a:p>
        </p:txBody>
      </p:sp>
      <p:sp>
        <p:nvSpPr>
          <p:cNvPr id="139" name="TextBox 138"/>
          <p:cNvSpPr txBox="1"/>
          <p:nvPr/>
        </p:nvSpPr>
        <p:spPr>
          <a:xfrm>
            <a:off x="7836225" y="2598814"/>
            <a:ext cx="1095172" cy="338554"/>
          </a:xfrm>
          <a:prstGeom prst="rect">
            <a:avLst/>
          </a:prstGeom>
          <a:noFill/>
        </p:spPr>
        <p:txBody>
          <a:bodyPr wrap="none" rtlCol="0">
            <a:spAutoFit/>
          </a:bodyPr>
          <a:lstStyle/>
          <a:p>
            <a:r>
              <a:rPr lang="en-US" sz="1600" dirty="0" err="1">
                <a:solidFill>
                  <a:schemeClr val="accent3"/>
                </a:solidFill>
              </a:rPr>
              <a:t>memberOf</a:t>
            </a:r>
            <a:endParaRPr lang="en-US" dirty="0">
              <a:solidFill>
                <a:schemeClr val="accent3"/>
              </a:solidFill>
            </a:endParaRPr>
          </a:p>
        </p:txBody>
      </p:sp>
      <p:sp>
        <p:nvSpPr>
          <p:cNvPr id="145" name="Oval 144"/>
          <p:cNvSpPr/>
          <p:nvPr/>
        </p:nvSpPr>
        <p:spPr>
          <a:xfrm>
            <a:off x="8454020" y="3826799"/>
            <a:ext cx="274712" cy="274712"/>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cxnSp>
        <p:nvCxnSpPr>
          <p:cNvPr id="146" name="Straight Arrow Connector 145"/>
          <p:cNvCxnSpPr>
            <a:stCxn id="75" idx="6"/>
            <a:endCxn id="145" idx="1"/>
          </p:cNvCxnSpPr>
          <p:nvPr/>
        </p:nvCxnSpPr>
        <p:spPr>
          <a:xfrm>
            <a:off x="6950353" y="2779450"/>
            <a:ext cx="1543898" cy="10875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7" name="TextBox 146"/>
          <p:cNvSpPr txBox="1"/>
          <p:nvPr/>
        </p:nvSpPr>
        <p:spPr>
          <a:xfrm>
            <a:off x="7663037" y="3057777"/>
            <a:ext cx="641522" cy="338554"/>
          </a:xfrm>
          <a:prstGeom prst="rect">
            <a:avLst/>
          </a:prstGeom>
          <a:noFill/>
        </p:spPr>
        <p:txBody>
          <a:bodyPr wrap="none" rtlCol="0">
            <a:spAutoFit/>
          </a:bodyPr>
          <a:lstStyle/>
          <a:p>
            <a:r>
              <a:rPr lang="en-US" sz="1600">
                <a:solidFill>
                  <a:schemeClr val="accent3"/>
                </a:solidFill>
              </a:rPr>
              <a:t>email</a:t>
            </a:r>
            <a:endParaRPr lang="en-US" dirty="0">
              <a:solidFill>
                <a:schemeClr val="accent3"/>
              </a:solidFill>
            </a:endParaRPr>
          </a:p>
        </p:txBody>
      </p:sp>
      <p:sp>
        <p:nvSpPr>
          <p:cNvPr id="151" name="TextBox 150"/>
          <p:cNvSpPr txBox="1"/>
          <p:nvPr/>
        </p:nvSpPr>
        <p:spPr>
          <a:xfrm>
            <a:off x="8030310" y="4136913"/>
            <a:ext cx="1158587" cy="338554"/>
          </a:xfrm>
          <a:prstGeom prst="rect">
            <a:avLst/>
          </a:prstGeom>
          <a:noFill/>
        </p:spPr>
        <p:txBody>
          <a:bodyPr wrap="none" rtlCol="0">
            <a:spAutoFit/>
          </a:bodyPr>
          <a:lstStyle/>
          <a:p>
            <a:pPr algn="ctr"/>
            <a:r>
              <a:rPr lang="en-US" sz="1600" dirty="0">
                <a:solidFill>
                  <a:schemeClr val="accent2"/>
                </a:solidFill>
              </a:rPr>
              <a:t>“</a:t>
            </a:r>
            <a:r>
              <a:rPr lang="en-US" sz="1600" dirty="0" err="1">
                <a:solidFill>
                  <a:schemeClr val="accent2"/>
                </a:solidFill>
              </a:rPr>
              <a:t>gairing</a:t>
            </a:r>
            <a:r>
              <a:rPr lang="en-US" sz="1600" dirty="0">
                <a:solidFill>
                  <a:schemeClr val="accent2"/>
                </a:solidFill>
              </a:rPr>
              <a:t>@...</a:t>
            </a:r>
            <a:endParaRPr lang="en-US" dirty="0">
              <a:solidFill>
                <a:schemeClr val="accent2"/>
              </a:solidFill>
            </a:endParaRPr>
          </a:p>
        </p:txBody>
      </p:sp>
      <p:pic>
        <p:nvPicPr>
          <p:cNvPr id="76" name="Picture 75" descr="hange Folder Icon in Windows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52754" y="7452824"/>
            <a:ext cx="96247" cy="96247"/>
          </a:xfrm>
          <a:prstGeom prst="rect">
            <a:avLst/>
          </a:prstGeom>
          <a:noFill/>
          <a:extLst>
            <a:ext uri="{909E8E84-426E-40DD-AFC4-6F175D3DCCD1}">
              <a14:hiddenFill xmlns:a14="http://schemas.microsoft.com/office/drawing/2010/main">
                <a:solidFill>
                  <a:srgbClr val="FFFFFF"/>
                </a:solidFill>
              </a14:hiddenFill>
            </a:ext>
          </a:extLst>
        </p:spPr>
      </p:pic>
      <p:sp>
        <p:nvSpPr>
          <p:cNvPr id="95" name="Oval 94">
            <a:extLst>
              <a:ext uri="{FF2B5EF4-FFF2-40B4-BE49-F238E27FC236}">
                <a16:creationId xmlns:a16="http://schemas.microsoft.com/office/drawing/2014/main" id="{F945D9E1-B68B-494C-B041-1A2680898C77}"/>
              </a:ext>
            </a:extLst>
          </p:cNvPr>
          <p:cNvSpPr/>
          <p:nvPr/>
        </p:nvSpPr>
        <p:spPr>
          <a:xfrm>
            <a:off x="9560396" y="2958213"/>
            <a:ext cx="274712" cy="274712"/>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96" name="TextBox 95">
            <a:extLst>
              <a:ext uri="{FF2B5EF4-FFF2-40B4-BE49-F238E27FC236}">
                <a16:creationId xmlns:a16="http://schemas.microsoft.com/office/drawing/2014/main" id="{A9478F05-FF08-4D9D-AF02-A67B16B581F4}"/>
              </a:ext>
            </a:extLst>
          </p:cNvPr>
          <p:cNvSpPr txBox="1"/>
          <p:nvPr/>
        </p:nvSpPr>
        <p:spPr>
          <a:xfrm>
            <a:off x="8891868" y="3318253"/>
            <a:ext cx="1611788" cy="338554"/>
          </a:xfrm>
          <a:prstGeom prst="rect">
            <a:avLst/>
          </a:prstGeom>
          <a:noFill/>
        </p:spPr>
        <p:txBody>
          <a:bodyPr wrap="none" rtlCol="0">
            <a:spAutoFit/>
          </a:bodyPr>
          <a:lstStyle/>
          <a:p>
            <a:pPr algn="ctr"/>
            <a:r>
              <a:rPr lang="en-GB" sz="1600" dirty="0">
                <a:solidFill>
                  <a:schemeClr val="accent2"/>
                </a:solidFill>
              </a:rPr>
              <a:t>”Economics &amp; </a:t>
            </a:r>
            <a:r>
              <a:rPr lang="mr-IN" sz="1600" dirty="0">
                <a:solidFill>
                  <a:schemeClr val="accent2"/>
                </a:solidFill>
              </a:rPr>
              <a:t>…</a:t>
            </a:r>
            <a:r>
              <a:rPr lang="en-GB" sz="1600" dirty="0">
                <a:solidFill>
                  <a:schemeClr val="accent2"/>
                </a:solidFill>
              </a:rPr>
              <a:t>”</a:t>
            </a:r>
            <a:endParaRPr lang="en-US" dirty="0">
              <a:solidFill>
                <a:schemeClr val="accent2"/>
              </a:solidFill>
            </a:endParaRPr>
          </a:p>
        </p:txBody>
      </p:sp>
    </p:spTree>
    <p:custDataLst>
      <p:tags r:id="rId1"/>
    </p:custDataLst>
    <p:extLst>
      <p:ext uri="{BB962C8B-B14F-4D97-AF65-F5344CB8AC3E}">
        <p14:creationId xmlns:p14="http://schemas.microsoft.com/office/powerpoint/2010/main" val="8036763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XQuery: SQL queries for XML files</a:t>
            </a:r>
          </a:p>
        </p:txBody>
      </p:sp>
      <p:sp>
        <p:nvSpPr>
          <p:cNvPr id="5" name="Rectangle 4"/>
          <p:cNvSpPr/>
          <p:nvPr/>
        </p:nvSpPr>
        <p:spPr>
          <a:xfrm>
            <a:off x="4367808" y="2146946"/>
            <a:ext cx="2448272" cy="618152"/>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for clauses &amp;</a:t>
            </a:r>
            <a:br>
              <a:rPr lang="en-US" dirty="0"/>
            </a:br>
            <a:r>
              <a:rPr lang="en-US" dirty="0"/>
              <a:t>let clauses</a:t>
            </a:r>
          </a:p>
        </p:txBody>
      </p:sp>
      <p:sp>
        <p:nvSpPr>
          <p:cNvPr id="6" name="TextBox 5"/>
          <p:cNvSpPr txBox="1"/>
          <p:nvPr/>
        </p:nvSpPr>
        <p:spPr>
          <a:xfrm>
            <a:off x="7104112" y="2132857"/>
            <a:ext cx="2213748" cy="646331"/>
          </a:xfrm>
          <a:prstGeom prst="rect">
            <a:avLst/>
          </a:prstGeom>
          <a:noFill/>
        </p:spPr>
        <p:txBody>
          <a:bodyPr wrap="none" rtlCol="0" anchor="ctr">
            <a:spAutoFit/>
          </a:bodyPr>
          <a:lstStyle/>
          <a:p>
            <a:r>
              <a:rPr lang="en-US" dirty="0"/>
              <a:t>any number,</a:t>
            </a:r>
            <a:br>
              <a:rPr lang="en-US" dirty="0"/>
            </a:br>
            <a:r>
              <a:rPr lang="en-US" dirty="0"/>
              <a:t>interleaved arbitrarily</a:t>
            </a:r>
          </a:p>
        </p:txBody>
      </p:sp>
      <p:sp>
        <p:nvSpPr>
          <p:cNvPr id="7" name="Right Brace 6"/>
          <p:cNvSpPr/>
          <p:nvPr/>
        </p:nvSpPr>
        <p:spPr>
          <a:xfrm>
            <a:off x="6960096" y="2146947"/>
            <a:ext cx="144016" cy="61343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Rectangle 7"/>
          <p:cNvSpPr/>
          <p:nvPr/>
        </p:nvSpPr>
        <p:spPr>
          <a:xfrm>
            <a:off x="4367808" y="2939034"/>
            <a:ext cx="2448272" cy="3957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where clause</a:t>
            </a:r>
          </a:p>
        </p:txBody>
      </p:sp>
      <p:sp>
        <p:nvSpPr>
          <p:cNvPr id="9" name="Right Brace 8"/>
          <p:cNvSpPr/>
          <p:nvPr/>
        </p:nvSpPr>
        <p:spPr>
          <a:xfrm>
            <a:off x="6961160" y="2939035"/>
            <a:ext cx="142952" cy="40331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p:cNvSpPr txBox="1"/>
          <p:nvPr/>
        </p:nvSpPr>
        <p:spPr>
          <a:xfrm>
            <a:off x="7104113" y="2952232"/>
            <a:ext cx="964431" cy="369332"/>
          </a:xfrm>
          <a:prstGeom prst="rect">
            <a:avLst/>
          </a:prstGeom>
          <a:noFill/>
        </p:spPr>
        <p:txBody>
          <a:bodyPr wrap="none" rtlCol="0" anchor="ctr">
            <a:spAutoFit/>
          </a:bodyPr>
          <a:lstStyle/>
          <a:p>
            <a:r>
              <a:rPr lang="en-US" dirty="0"/>
              <a:t>optional</a:t>
            </a:r>
          </a:p>
        </p:txBody>
      </p:sp>
      <p:grpSp>
        <p:nvGrpSpPr>
          <p:cNvPr id="17" name="Group 16"/>
          <p:cNvGrpSpPr/>
          <p:nvPr/>
        </p:nvGrpSpPr>
        <p:grpSpPr>
          <a:xfrm>
            <a:off x="4367808" y="4528800"/>
            <a:ext cx="3976916" cy="945308"/>
            <a:chOff x="2843808" y="3462664"/>
            <a:chExt cx="3976916" cy="945308"/>
          </a:xfrm>
        </p:grpSpPr>
        <p:sp>
          <p:nvSpPr>
            <p:cNvPr id="11" name="Rectangle 10"/>
            <p:cNvSpPr/>
            <p:nvPr/>
          </p:nvSpPr>
          <p:spPr>
            <a:xfrm>
              <a:off x="2843808" y="3991776"/>
              <a:ext cx="2448272" cy="41619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return clause</a:t>
              </a:r>
            </a:p>
          </p:txBody>
        </p:sp>
        <p:sp>
          <p:nvSpPr>
            <p:cNvPr id="12" name="Right Brace 11"/>
            <p:cNvSpPr/>
            <p:nvPr/>
          </p:nvSpPr>
          <p:spPr>
            <a:xfrm>
              <a:off x="5463978" y="3933056"/>
              <a:ext cx="142952" cy="41619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TextBox 12"/>
            <p:cNvSpPr txBox="1"/>
            <p:nvPr/>
          </p:nvSpPr>
          <p:spPr>
            <a:xfrm>
              <a:off x="5606930" y="3956487"/>
              <a:ext cx="1213794" cy="369332"/>
            </a:xfrm>
            <a:prstGeom prst="rect">
              <a:avLst/>
            </a:prstGeom>
            <a:noFill/>
          </p:spPr>
          <p:txBody>
            <a:bodyPr wrap="none" rtlCol="0" anchor="ctr">
              <a:spAutoFit/>
            </a:bodyPr>
            <a:lstStyle/>
            <a:p>
              <a:r>
                <a:rPr lang="en-US" dirty="0"/>
                <a:t>mandatory</a:t>
              </a:r>
            </a:p>
          </p:txBody>
        </p:sp>
        <p:sp>
          <p:nvSpPr>
            <p:cNvPr id="14" name="Rectangle 13"/>
            <p:cNvSpPr/>
            <p:nvPr/>
          </p:nvSpPr>
          <p:spPr>
            <a:xfrm>
              <a:off x="2843808" y="3462664"/>
              <a:ext cx="2448272" cy="41619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order by clause</a:t>
              </a:r>
            </a:p>
          </p:txBody>
        </p:sp>
        <p:sp>
          <p:nvSpPr>
            <p:cNvPr id="15" name="Right Brace 14"/>
            <p:cNvSpPr/>
            <p:nvPr/>
          </p:nvSpPr>
          <p:spPr>
            <a:xfrm>
              <a:off x="5463978" y="3478761"/>
              <a:ext cx="142952" cy="41619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TextBox 15"/>
            <p:cNvSpPr txBox="1"/>
            <p:nvPr/>
          </p:nvSpPr>
          <p:spPr>
            <a:xfrm>
              <a:off x="5606930" y="3502192"/>
              <a:ext cx="964431" cy="369332"/>
            </a:xfrm>
            <a:prstGeom prst="rect">
              <a:avLst/>
            </a:prstGeom>
            <a:noFill/>
          </p:spPr>
          <p:txBody>
            <a:bodyPr wrap="none" rtlCol="0" anchor="ctr">
              <a:spAutoFit/>
            </a:bodyPr>
            <a:lstStyle/>
            <a:p>
              <a:r>
                <a:rPr lang="en-US" dirty="0"/>
                <a:t>optional</a:t>
              </a:r>
            </a:p>
          </p:txBody>
        </p:sp>
      </p:grpSp>
      <p:sp>
        <p:nvSpPr>
          <p:cNvPr id="18" name="Rectangle 17"/>
          <p:cNvSpPr/>
          <p:nvPr/>
        </p:nvSpPr>
        <p:spPr>
          <a:xfrm>
            <a:off x="4367808" y="3459733"/>
            <a:ext cx="2448272" cy="41619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group by clause</a:t>
            </a:r>
          </a:p>
        </p:txBody>
      </p:sp>
      <p:sp>
        <p:nvSpPr>
          <p:cNvPr id="19" name="Right Brace 18"/>
          <p:cNvSpPr/>
          <p:nvPr/>
        </p:nvSpPr>
        <p:spPr>
          <a:xfrm>
            <a:off x="6987978" y="3475830"/>
            <a:ext cx="142952" cy="41619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TextBox 19"/>
          <p:cNvSpPr txBox="1"/>
          <p:nvPr/>
        </p:nvSpPr>
        <p:spPr>
          <a:xfrm>
            <a:off x="7130931" y="3499261"/>
            <a:ext cx="964431" cy="369332"/>
          </a:xfrm>
          <a:prstGeom prst="rect">
            <a:avLst/>
          </a:prstGeom>
          <a:noFill/>
        </p:spPr>
        <p:txBody>
          <a:bodyPr wrap="none" rtlCol="0" anchor="ctr">
            <a:spAutoFit/>
          </a:bodyPr>
          <a:lstStyle/>
          <a:p>
            <a:r>
              <a:rPr lang="en-US" dirty="0"/>
              <a:t>optional</a:t>
            </a:r>
          </a:p>
        </p:txBody>
      </p:sp>
      <p:sp>
        <p:nvSpPr>
          <p:cNvPr id="21" name="Rectangle 20">
            <a:extLst>
              <a:ext uri="{FF2B5EF4-FFF2-40B4-BE49-F238E27FC236}">
                <a16:creationId xmlns:a16="http://schemas.microsoft.com/office/drawing/2014/main" id="{D8658EDE-8DF7-40F2-9837-8C89F2B8D20F}"/>
              </a:ext>
            </a:extLst>
          </p:cNvPr>
          <p:cNvSpPr/>
          <p:nvPr/>
        </p:nvSpPr>
        <p:spPr>
          <a:xfrm>
            <a:off x="4367808" y="3996917"/>
            <a:ext cx="2448272" cy="3957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where clause</a:t>
            </a:r>
          </a:p>
        </p:txBody>
      </p:sp>
      <p:sp>
        <p:nvSpPr>
          <p:cNvPr id="22" name="Right Brace 21">
            <a:extLst>
              <a:ext uri="{FF2B5EF4-FFF2-40B4-BE49-F238E27FC236}">
                <a16:creationId xmlns:a16="http://schemas.microsoft.com/office/drawing/2014/main" id="{9886C7DE-62B3-4060-B482-F9E0D2E317E8}"/>
              </a:ext>
            </a:extLst>
          </p:cNvPr>
          <p:cNvSpPr/>
          <p:nvPr/>
        </p:nvSpPr>
        <p:spPr>
          <a:xfrm>
            <a:off x="6961160" y="4004501"/>
            <a:ext cx="142952" cy="40331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TextBox 22">
            <a:extLst>
              <a:ext uri="{FF2B5EF4-FFF2-40B4-BE49-F238E27FC236}">
                <a16:creationId xmlns:a16="http://schemas.microsoft.com/office/drawing/2014/main" id="{1FA2A6DF-3AE7-4C6E-A659-FCECBD8BCB08}"/>
              </a:ext>
            </a:extLst>
          </p:cNvPr>
          <p:cNvSpPr txBox="1"/>
          <p:nvPr/>
        </p:nvSpPr>
        <p:spPr>
          <a:xfrm>
            <a:off x="7104113" y="4002068"/>
            <a:ext cx="964431" cy="369332"/>
          </a:xfrm>
          <a:prstGeom prst="rect">
            <a:avLst/>
          </a:prstGeom>
          <a:noFill/>
        </p:spPr>
        <p:txBody>
          <a:bodyPr wrap="none" rtlCol="0" anchor="ctr">
            <a:spAutoFit/>
          </a:bodyPr>
          <a:lstStyle/>
          <a:p>
            <a:r>
              <a:rPr lang="en-US" dirty="0"/>
              <a:t>optional</a:t>
            </a:r>
          </a:p>
        </p:txBody>
      </p:sp>
    </p:spTree>
    <p:custDataLst>
      <p:tags r:id="rId1"/>
    </p:custDataLst>
    <p:extLst>
      <p:ext uri="{BB962C8B-B14F-4D97-AF65-F5344CB8AC3E}">
        <p14:creationId xmlns:p14="http://schemas.microsoft.com/office/powerpoint/2010/main" val="5794509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310BC-7D52-268B-6C50-6987307128A1}"/>
              </a:ext>
            </a:extLst>
          </p:cNvPr>
          <p:cNvSpPr>
            <a:spLocks noGrp="1"/>
          </p:cNvSpPr>
          <p:nvPr>
            <p:ph type="title"/>
          </p:nvPr>
        </p:nvSpPr>
        <p:spPr/>
        <p:txBody>
          <a:bodyPr/>
          <a:lstStyle/>
          <a:p>
            <a:r>
              <a:rPr lang="en-AT" dirty="0"/>
              <a:t>Example</a:t>
            </a:r>
          </a:p>
        </p:txBody>
      </p:sp>
      <p:sp>
        <p:nvSpPr>
          <p:cNvPr id="4" name="TextBox 3">
            <a:extLst>
              <a:ext uri="{FF2B5EF4-FFF2-40B4-BE49-F238E27FC236}">
                <a16:creationId xmlns:a16="http://schemas.microsoft.com/office/drawing/2014/main" id="{A13B29B1-76F6-445D-1B46-D8E4BD03851C}"/>
              </a:ext>
            </a:extLst>
          </p:cNvPr>
          <p:cNvSpPr txBox="1"/>
          <p:nvPr/>
        </p:nvSpPr>
        <p:spPr>
          <a:xfrm>
            <a:off x="609600" y="1341095"/>
            <a:ext cx="6076472" cy="3170099"/>
          </a:xfrm>
          <a:prstGeom prst="rect">
            <a:avLst/>
          </a:prstGeom>
          <a:noFill/>
        </p:spPr>
        <p:txBody>
          <a:bodyPr wrap="none" rtlCol="0">
            <a:spAutoFit/>
          </a:bodyPr>
          <a:lstStyle/>
          <a:p>
            <a:r>
              <a:rPr lang="en-GB" sz="4000" dirty="0"/>
              <a:t>&lt;</a:t>
            </a:r>
            <a:r>
              <a:rPr lang="en-GB" sz="4000" dirty="0" err="1"/>
              <a:t>bustrip</a:t>
            </a:r>
            <a:r>
              <a:rPr lang="en-GB" sz="4000" dirty="0"/>
              <a:t>&gt;</a:t>
            </a:r>
          </a:p>
          <a:p>
            <a:r>
              <a:rPr lang="en-GB" sz="4000" dirty="0"/>
              <a:t>	&lt;trip start=“1” end=“5” /&gt;</a:t>
            </a:r>
          </a:p>
          <a:p>
            <a:r>
              <a:rPr lang="en-GB" sz="4000" dirty="0"/>
              <a:t>	&lt;trip start=“4” end=“7” /&gt;</a:t>
            </a:r>
          </a:p>
          <a:p>
            <a:r>
              <a:rPr lang="en-GB" sz="4000" dirty="0"/>
              <a:t>	&lt;trip start=“2” end=“4” /&gt;</a:t>
            </a:r>
          </a:p>
          <a:p>
            <a:r>
              <a:rPr lang="en-GB" sz="4000" dirty="0"/>
              <a:t>&lt;/</a:t>
            </a:r>
            <a:r>
              <a:rPr lang="en-GB" sz="4000" dirty="0" err="1"/>
              <a:t>bustrip</a:t>
            </a:r>
            <a:r>
              <a:rPr lang="en-GB" sz="4000" dirty="0"/>
              <a:t>&gt;</a:t>
            </a:r>
            <a:endParaRPr lang="en-AT" sz="4000" dirty="0"/>
          </a:p>
        </p:txBody>
      </p:sp>
      <p:sp>
        <p:nvSpPr>
          <p:cNvPr id="6" name="TextBox 5">
            <a:extLst>
              <a:ext uri="{FF2B5EF4-FFF2-40B4-BE49-F238E27FC236}">
                <a16:creationId xmlns:a16="http://schemas.microsoft.com/office/drawing/2014/main" id="{C074C79C-5FD4-BD4B-5BD0-0F58115B85C6}"/>
              </a:ext>
            </a:extLst>
          </p:cNvPr>
          <p:cNvSpPr txBox="1"/>
          <p:nvPr/>
        </p:nvSpPr>
        <p:spPr>
          <a:xfrm>
            <a:off x="923700" y="5392727"/>
            <a:ext cx="9845900" cy="553998"/>
          </a:xfrm>
          <a:prstGeom prst="rect">
            <a:avLst/>
          </a:prstGeom>
          <a:noFill/>
        </p:spPr>
        <p:txBody>
          <a:bodyPr wrap="none" rtlCol="0">
            <a:spAutoFit/>
          </a:bodyPr>
          <a:lstStyle/>
          <a:p>
            <a:r>
              <a:rPr lang="en-AT" sz="3000" dirty="0"/>
              <a:t>Find how many people are on the bus at each mentioned stop</a:t>
            </a:r>
          </a:p>
        </p:txBody>
      </p:sp>
    </p:spTree>
    <p:extLst>
      <p:ext uri="{BB962C8B-B14F-4D97-AF65-F5344CB8AC3E}">
        <p14:creationId xmlns:p14="http://schemas.microsoft.com/office/powerpoint/2010/main" val="39812708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61816-27B2-CAE3-F4C8-3D8813562E53}"/>
              </a:ext>
            </a:extLst>
          </p:cNvPr>
          <p:cNvSpPr>
            <a:spLocks noGrp="1"/>
          </p:cNvSpPr>
          <p:nvPr>
            <p:ph type="title"/>
          </p:nvPr>
        </p:nvSpPr>
        <p:spPr/>
        <p:txBody>
          <a:bodyPr/>
          <a:lstStyle/>
          <a:p>
            <a:r>
              <a:rPr lang="en-AT" dirty="0"/>
              <a:t>Solution</a:t>
            </a:r>
          </a:p>
        </p:txBody>
      </p:sp>
      <p:sp>
        <p:nvSpPr>
          <p:cNvPr id="4" name="TextBox 3">
            <a:extLst>
              <a:ext uri="{FF2B5EF4-FFF2-40B4-BE49-F238E27FC236}">
                <a16:creationId xmlns:a16="http://schemas.microsoft.com/office/drawing/2014/main" id="{7420295E-EA22-58C5-612F-93A98A980C79}"/>
              </a:ext>
            </a:extLst>
          </p:cNvPr>
          <p:cNvSpPr txBox="1"/>
          <p:nvPr/>
        </p:nvSpPr>
        <p:spPr>
          <a:xfrm>
            <a:off x="1274915" y="2395478"/>
            <a:ext cx="9123267" cy="2862322"/>
          </a:xfrm>
          <a:prstGeom prst="rect">
            <a:avLst/>
          </a:prstGeom>
          <a:noFill/>
        </p:spPr>
        <p:txBody>
          <a:bodyPr wrap="none" rtlCol="0">
            <a:spAutoFit/>
          </a:bodyPr>
          <a:lstStyle/>
          <a:p>
            <a:r>
              <a:rPr lang="en-GB" sz="3000" dirty="0"/>
              <a:t>let $doc := .</a:t>
            </a:r>
          </a:p>
          <a:p>
            <a:r>
              <a:rPr lang="en-GB" sz="3000" dirty="0"/>
              <a:t>for $</a:t>
            </a:r>
            <a:r>
              <a:rPr lang="en-GB" sz="3000" dirty="0" err="1"/>
              <a:t>stopno</a:t>
            </a:r>
            <a:r>
              <a:rPr lang="en-GB" sz="3000" dirty="0"/>
              <a:t> in distinct-values($doc//trip/@*)</a:t>
            </a:r>
          </a:p>
          <a:p>
            <a:r>
              <a:rPr lang="en-GB" sz="3000" dirty="0"/>
              <a:t>for $trip in $doc//trip</a:t>
            </a:r>
          </a:p>
          <a:p>
            <a:r>
              <a:rPr lang="en-GB" sz="3000" dirty="0"/>
              <a:t>where $</a:t>
            </a:r>
            <a:r>
              <a:rPr lang="en-GB" sz="3000" dirty="0" err="1"/>
              <a:t>stopno</a:t>
            </a:r>
            <a:r>
              <a:rPr lang="en-GB" sz="3000" dirty="0"/>
              <a:t>&gt;=$trip/@start and $</a:t>
            </a:r>
            <a:r>
              <a:rPr lang="en-GB" sz="3000" dirty="0" err="1"/>
              <a:t>stopno</a:t>
            </a:r>
            <a:r>
              <a:rPr lang="en-GB" sz="3000" dirty="0"/>
              <a:t> &lt; $trip/@end</a:t>
            </a:r>
          </a:p>
          <a:p>
            <a:r>
              <a:rPr lang="en-GB" sz="3000" dirty="0"/>
              <a:t>group by $</a:t>
            </a:r>
            <a:r>
              <a:rPr lang="en-GB" sz="3000" dirty="0" err="1"/>
              <a:t>stopno</a:t>
            </a:r>
            <a:endParaRPr lang="en-GB" sz="3000" dirty="0"/>
          </a:p>
          <a:p>
            <a:r>
              <a:rPr lang="en-GB" sz="3000" dirty="0"/>
              <a:t>return &lt;pair&gt;{$</a:t>
            </a:r>
            <a:r>
              <a:rPr lang="en-GB" sz="3000" dirty="0" err="1"/>
              <a:t>stopno</a:t>
            </a:r>
            <a:r>
              <a:rPr lang="en-GB" sz="3000" dirty="0"/>
              <a:t>},{count($trip)}&lt;/pair&gt;</a:t>
            </a:r>
            <a:endParaRPr lang="en-AT" sz="3000" dirty="0"/>
          </a:p>
        </p:txBody>
      </p:sp>
    </p:spTree>
    <p:extLst>
      <p:ext uri="{BB962C8B-B14F-4D97-AF65-F5344CB8AC3E}">
        <p14:creationId xmlns:p14="http://schemas.microsoft.com/office/powerpoint/2010/main" val="19267827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9735C-4E68-0E90-C0C5-EFD5B8F207F8}"/>
              </a:ext>
            </a:extLst>
          </p:cNvPr>
          <p:cNvSpPr>
            <a:spLocks noGrp="1"/>
          </p:cNvSpPr>
          <p:nvPr>
            <p:ph type="title"/>
          </p:nvPr>
        </p:nvSpPr>
        <p:spPr/>
        <p:txBody>
          <a:bodyPr/>
          <a:lstStyle/>
          <a:p>
            <a:r>
              <a:rPr lang="en-AT" dirty="0"/>
              <a:t>NoSQL databases and when to use them</a:t>
            </a:r>
            <a:br>
              <a:rPr lang="en-AT" dirty="0"/>
            </a:br>
            <a:endParaRPr lang="en-AT" dirty="0"/>
          </a:p>
        </p:txBody>
      </p:sp>
      <p:sp>
        <p:nvSpPr>
          <p:cNvPr id="3" name="Content Placeholder 2">
            <a:extLst>
              <a:ext uri="{FF2B5EF4-FFF2-40B4-BE49-F238E27FC236}">
                <a16:creationId xmlns:a16="http://schemas.microsoft.com/office/drawing/2014/main" id="{7381FC01-E51A-3AF7-81F3-43086C64D9B7}"/>
              </a:ext>
            </a:extLst>
          </p:cNvPr>
          <p:cNvSpPr>
            <a:spLocks noGrp="1"/>
          </p:cNvSpPr>
          <p:nvPr>
            <p:ph idx="1"/>
          </p:nvPr>
        </p:nvSpPr>
        <p:spPr/>
        <p:txBody>
          <a:bodyPr/>
          <a:lstStyle/>
          <a:p>
            <a:r>
              <a:rPr lang="en-AT" dirty="0"/>
              <a:t>Key-value stores:</a:t>
            </a:r>
          </a:p>
          <a:p>
            <a:pPr lvl="1"/>
            <a:r>
              <a:rPr lang="en-AT" dirty="0"/>
              <a:t>In essence, it is an index for equality: You give it an ID, it gives you the associated data and nothing else</a:t>
            </a:r>
          </a:p>
          <a:p>
            <a:pPr lvl="2"/>
            <a:r>
              <a:rPr lang="en-AT" dirty="0"/>
              <a:t>You can do some lists and stuff like that as well but it is quite limited</a:t>
            </a:r>
          </a:p>
          <a:p>
            <a:pPr lvl="1"/>
            <a:r>
              <a:rPr lang="en-AT" dirty="0"/>
              <a:t>Use it if what you want fits exactly that</a:t>
            </a:r>
          </a:p>
          <a:p>
            <a:pPr lvl="1"/>
            <a:r>
              <a:rPr lang="en-AT" dirty="0"/>
              <a:t>Try redis</a:t>
            </a:r>
          </a:p>
        </p:txBody>
      </p:sp>
    </p:spTree>
    <p:extLst>
      <p:ext uri="{BB962C8B-B14F-4D97-AF65-F5344CB8AC3E}">
        <p14:creationId xmlns:p14="http://schemas.microsoft.com/office/powerpoint/2010/main" val="36601003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920FB-3918-4616-8203-37F8975C4148}"/>
              </a:ext>
            </a:extLst>
          </p:cNvPr>
          <p:cNvSpPr>
            <a:spLocks noGrp="1"/>
          </p:cNvSpPr>
          <p:nvPr>
            <p:ph type="title"/>
          </p:nvPr>
        </p:nvSpPr>
        <p:spPr/>
        <p:txBody>
          <a:bodyPr/>
          <a:lstStyle/>
          <a:p>
            <a:r>
              <a:rPr lang="en-AT" dirty="0"/>
              <a:t>Document stores</a:t>
            </a:r>
          </a:p>
        </p:txBody>
      </p:sp>
      <p:sp>
        <p:nvSpPr>
          <p:cNvPr id="3" name="Content Placeholder 2">
            <a:extLst>
              <a:ext uri="{FF2B5EF4-FFF2-40B4-BE49-F238E27FC236}">
                <a16:creationId xmlns:a16="http://schemas.microsoft.com/office/drawing/2014/main" id="{88DABB9B-96E2-8C6C-EF68-9919A61ED0C1}"/>
              </a:ext>
            </a:extLst>
          </p:cNvPr>
          <p:cNvSpPr>
            <a:spLocks noGrp="1"/>
          </p:cNvSpPr>
          <p:nvPr>
            <p:ph idx="1"/>
          </p:nvPr>
        </p:nvSpPr>
        <p:spPr/>
        <p:txBody>
          <a:bodyPr>
            <a:normAutofit fontScale="92500" lnSpcReduction="10000"/>
          </a:bodyPr>
          <a:lstStyle/>
          <a:p>
            <a:r>
              <a:rPr lang="en-GB" dirty="0"/>
              <a:t>It is an evolution of key-value stores. You can search in the associated documents (and have an index on them and so on) </a:t>
            </a:r>
          </a:p>
          <a:p>
            <a:r>
              <a:rPr lang="en-GB" dirty="0"/>
              <a:t>You typically do not join things together</a:t>
            </a:r>
          </a:p>
          <a:p>
            <a:pPr lvl="1"/>
            <a:r>
              <a:rPr lang="en-GB" dirty="0"/>
              <a:t>This means you often need to write the same thing in multiple places (expensive to update)</a:t>
            </a:r>
          </a:p>
          <a:p>
            <a:r>
              <a:rPr lang="en-AT" dirty="0"/>
              <a:t>The data stored can be unstructured so you do not need to think of a schema, but you need to think about what to store together (in SQL you just join)</a:t>
            </a:r>
          </a:p>
          <a:p>
            <a:pPr lvl="1"/>
            <a:r>
              <a:rPr lang="en-AT" dirty="0"/>
              <a:t>In MongoDB, which is the typical example of these, you can store 16MB in one document, which is tiny compared to typical database sizes but a fair amount of information</a:t>
            </a:r>
          </a:p>
          <a:p>
            <a:pPr lvl="1"/>
            <a:r>
              <a:rPr lang="en-AT" dirty="0"/>
              <a:t>Mongodb playground</a:t>
            </a:r>
          </a:p>
        </p:txBody>
      </p:sp>
    </p:spTree>
    <p:extLst>
      <p:ext uri="{BB962C8B-B14F-4D97-AF65-F5344CB8AC3E}">
        <p14:creationId xmlns:p14="http://schemas.microsoft.com/office/powerpoint/2010/main" val="3484740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84F89-1B3B-C9A4-6E3C-9B1B36132259}"/>
              </a:ext>
            </a:extLst>
          </p:cNvPr>
          <p:cNvSpPr>
            <a:spLocks noGrp="1"/>
          </p:cNvSpPr>
          <p:nvPr>
            <p:ph type="title"/>
          </p:nvPr>
        </p:nvSpPr>
        <p:spPr/>
        <p:txBody>
          <a:bodyPr/>
          <a:lstStyle/>
          <a:p>
            <a:r>
              <a:rPr lang="en-AT" dirty="0"/>
              <a:t>Column stores</a:t>
            </a:r>
          </a:p>
        </p:txBody>
      </p:sp>
      <p:sp>
        <p:nvSpPr>
          <p:cNvPr id="3" name="Content Placeholder 2">
            <a:extLst>
              <a:ext uri="{FF2B5EF4-FFF2-40B4-BE49-F238E27FC236}">
                <a16:creationId xmlns:a16="http://schemas.microsoft.com/office/drawing/2014/main" id="{18AD0BBB-C4B0-8D54-A384-C4C0BD961AB3}"/>
              </a:ext>
            </a:extLst>
          </p:cNvPr>
          <p:cNvSpPr>
            <a:spLocks noGrp="1"/>
          </p:cNvSpPr>
          <p:nvPr>
            <p:ph idx="1"/>
          </p:nvPr>
        </p:nvSpPr>
        <p:spPr/>
        <p:txBody>
          <a:bodyPr/>
          <a:lstStyle/>
          <a:p>
            <a:r>
              <a:rPr lang="en-AT" dirty="0"/>
              <a:t>Column stores are close to SQL except you can add in new sub-columns for different rows</a:t>
            </a:r>
          </a:p>
          <a:p>
            <a:r>
              <a:rPr lang="en-AT" dirty="0"/>
              <a:t>They can be better if you have many properties objects might have but each on their own are rarely used</a:t>
            </a:r>
          </a:p>
          <a:p>
            <a:r>
              <a:rPr lang="en-AT" dirty="0"/>
              <a:t>You need to do MapReduce to get information out of it (see video on that topic)</a:t>
            </a:r>
          </a:p>
        </p:txBody>
      </p:sp>
    </p:spTree>
    <p:extLst>
      <p:ext uri="{BB962C8B-B14F-4D97-AF65-F5344CB8AC3E}">
        <p14:creationId xmlns:p14="http://schemas.microsoft.com/office/powerpoint/2010/main" val="2027049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1C24B-7137-9BCE-EFC0-DDED3B527982}"/>
              </a:ext>
            </a:extLst>
          </p:cNvPr>
          <p:cNvSpPr>
            <a:spLocks noGrp="1"/>
          </p:cNvSpPr>
          <p:nvPr>
            <p:ph type="title"/>
          </p:nvPr>
        </p:nvSpPr>
        <p:spPr/>
        <p:txBody>
          <a:bodyPr/>
          <a:lstStyle/>
          <a:p>
            <a:r>
              <a:rPr lang="en-AT" dirty="0"/>
              <a:t>Graph database</a:t>
            </a:r>
          </a:p>
        </p:txBody>
      </p:sp>
      <p:sp>
        <p:nvSpPr>
          <p:cNvPr id="3" name="Content Placeholder 2">
            <a:extLst>
              <a:ext uri="{FF2B5EF4-FFF2-40B4-BE49-F238E27FC236}">
                <a16:creationId xmlns:a16="http://schemas.microsoft.com/office/drawing/2014/main" id="{65760D58-1253-CBEC-A85C-C333C850A553}"/>
              </a:ext>
            </a:extLst>
          </p:cNvPr>
          <p:cNvSpPr>
            <a:spLocks noGrp="1"/>
          </p:cNvSpPr>
          <p:nvPr>
            <p:ph idx="1"/>
          </p:nvPr>
        </p:nvSpPr>
        <p:spPr/>
        <p:txBody>
          <a:bodyPr/>
          <a:lstStyle/>
          <a:p>
            <a:r>
              <a:rPr lang="en-AT" dirty="0"/>
              <a:t>XML/JSON are tree-like. If your data is not, you might need a graph database</a:t>
            </a:r>
          </a:p>
          <a:p>
            <a:r>
              <a:rPr lang="en-AT" dirty="0"/>
              <a:t>You can create nodes and relationships between nodes in such graph databases</a:t>
            </a:r>
          </a:p>
          <a:p>
            <a:r>
              <a:rPr lang="en-AT" dirty="0"/>
              <a:t>You can then start at a specific node and ask for other nodes/relationships connected to that node through one or more relationships</a:t>
            </a:r>
          </a:p>
          <a:p>
            <a:r>
              <a:rPr lang="en-GB" dirty="0"/>
              <a:t>N</a:t>
            </a:r>
            <a:r>
              <a:rPr lang="en-AT" dirty="0"/>
              <a:t>eo4j browser</a:t>
            </a:r>
          </a:p>
        </p:txBody>
      </p:sp>
    </p:spTree>
    <p:extLst>
      <p:ext uri="{BB962C8B-B14F-4D97-AF65-F5344CB8AC3E}">
        <p14:creationId xmlns:p14="http://schemas.microsoft.com/office/powerpoint/2010/main" val="276737576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9.6|4.9|15.1|3.7|9.6"/>
</p:tagLst>
</file>

<file path=ppt/tags/tag2.xml><?xml version="1.0" encoding="utf-8"?>
<p:tagLst xmlns:a="http://schemas.openxmlformats.org/drawingml/2006/main" xmlns:r="http://schemas.openxmlformats.org/officeDocument/2006/relationships" xmlns:p="http://schemas.openxmlformats.org/presentationml/2006/main">
  <p:tag name="TIMING" val="|2.4|5|5.6|5.6"/>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ST theme powerpoint">
  <a:themeElements>
    <a:clrScheme name="Custom 8">
      <a:dk1>
        <a:srgbClr val="374C22"/>
      </a:dk1>
      <a:lt1>
        <a:sysClr val="window" lastClr="FFFFFF"/>
      </a:lt1>
      <a:dk2>
        <a:srgbClr val="194431"/>
      </a:dk2>
      <a:lt2>
        <a:srgbClr val="F0E6C3"/>
      </a:lt2>
      <a:accent1>
        <a:srgbClr val="F8C000"/>
      </a:accent1>
      <a:accent2>
        <a:srgbClr val="F88600"/>
      </a:accent2>
      <a:accent3>
        <a:srgbClr val="F83500"/>
      </a:accent3>
      <a:accent4>
        <a:srgbClr val="8B723D"/>
      </a:accent4>
      <a:accent5>
        <a:srgbClr val="818B3D"/>
      </a:accent5>
      <a:accent6>
        <a:srgbClr val="586215"/>
      </a:accent6>
      <a:hlink>
        <a:srgbClr val="FF621D"/>
      </a:hlink>
      <a:folHlink>
        <a:srgbClr val="F3D260"/>
      </a:folHlink>
    </a:clrScheme>
    <a:fontScheme name="Adjacency">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spDef>
      <a:spPr>
        <a:ln w="63500">
          <a:tailEnd type="triangle"/>
        </a:ln>
      </a:spPr>
      <a:bodyPr rtlCol="0" anchor="ctr"/>
      <a:lstStyle>
        <a:defPPr algn="ctr">
          <a:defRPr/>
        </a:defPPr>
      </a:lstStyle>
      <a:style>
        <a:lnRef idx="2">
          <a:schemeClr val="accent1"/>
        </a:lnRef>
        <a:fillRef idx="0">
          <a:schemeClr val="accent1"/>
        </a:fillRef>
        <a:effectRef idx="1">
          <a:schemeClr val="accent1"/>
        </a:effectRef>
        <a:fontRef idx="minor">
          <a:schemeClr val="tx1"/>
        </a:fontRef>
      </a:style>
    </a:spDef>
    <a:lnDef>
      <a:spPr>
        <a:ln w="63500">
          <a:tailEnd type="triangle"/>
        </a:ln>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IST theme powerpoint</Template>
  <TotalTime>405</TotalTime>
  <Words>947</Words>
  <Application>Microsoft Macintosh PowerPoint</Application>
  <PresentationFormat>Widescreen</PresentationFormat>
  <Paragraphs>115</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Cambria</vt:lpstr>
      <vt:lpstr>IST theme powerpoint</vt:lpstr>
      <vt:lpstr>Lecture 19</vt:lpstr>
      <vt:lpstr>Overview</vt:lpstr>
      <vt:lpstr>About grades for weekly assessments </vt:lpstr>
      <vt:lpstr>Storing XML in SQL</vt:lpstr>
      <vt:lpstr>How to store XML in MySQL: Option 1</vt:lpstr>
      <vt:lpstr>How to store XML in MySQL: Option 2</vt:lpstr>
      <vt:lpstr>How to store XML in MySQL: Option 3</vt:lpstr>
      <vt:lpstr>Storing this in each way…</vt:lpstr>
      <vt:lpstr>XQuery: SQL queries for XML files</vt:lpstr>
      <vt:lpstr>Example</vt:lpstr>
      <vt:lpstr>Solution</vt:lpstr>
      <vt:lpstr>NoSQL databases and when to use them </vt:lpstr>
      <vt:lpstr>Document stores</vt:lpstr>
      <vt:lpstr>Column stores</vt:lpstr>
      <vt:lpstr>Graph database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19</dc:title>
  <dc:creator>Ibsen-Jensen, Rasmus</dc:creator>
  <cp:lastModifiedBy>Ibsen-Jensen, Rasmus</cp:lastModifiedBy>
  <cp:revision>1</cp:revision>
  <dcterms:created xsi:type="dcterms:W3CDTF">2023-11-27T14:38:38Z</dcterms:created>
  <dcterms:modified xsi:type="dcterms:W3CDTF">2023-11-27T21:23:40Z</dcterms:modified>
</cp:coreProperties>
</file>