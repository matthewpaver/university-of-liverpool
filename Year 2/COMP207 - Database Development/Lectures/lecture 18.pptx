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368" r:id="rId8"/>
    <p:sldId id="455" r:id="rId9"/>
    <p:sldId id="456" r:id="rId10"/>
    <p:sldId id="4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97"/>
  </p:normalViewPr>
  <p:slideViewPr>
    <p:cSldViewPr snapToGrid="0">
      <p:cViewPr varScale="1">
        <p:scale>
          <a:sx n="90" d="100"/>
          <a:sy n="90" d="100"/>
        </p:scale>
        <p:origin x="232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304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6074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6805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265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7598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9600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7100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2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7928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0007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3945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D044E1E-6C2B-D74C-99BB-5118299E08DF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999FA30-E438-3748-89DB-73E0EE57462D}" type="datetimeFigureOut">
              <a:rPr lang="en-AT" smtClean="0"/>
              <a:t>22.11.23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69653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4FF0-A323-0BDD-DF91-6135EE0B9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4F26-492D-3DC8-F920-A3DFFE234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5662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A787-79E9-9C20-0E75-DEB0D3C3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D837-094B-8411-3BCA-F9C5C6178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Week 6 assessment </a:t>
            </a:r>
          </a:p>
          <a:p>
            <a:r>
              <a:rPr lang="en-AT" dirty="0"/>
              <a:t>Finish up giving feedback for SQL assignment</a:t>
            </a:r>
          </a:p>
          <a:p>
            <a:r>
              <a:rPr lang="en-AT" dirty="0"/>
              <a:t>Storing XML in SQL</a:t>
            </a:r>
          </a:p>
          <a:p>
            <a:r>
              <a:rPr lang="en-AT" dirty="0"/>
              <a:t>If time permits: XQuery</a:t>
            </a:r>
          </a:p>
        </p:txBody>
      </p:sp>
    </p:spTree>
    <p:extLst>
      <p:ext uri="{BB962C8B-B14F-4D97-AF65-F5344CB8AC3E}">
        <p14:creationId xmlns:p14="http://schemas.microsoft.com/office/powerpoint/2010/main" val="339886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DE4D-2BB3-5B7B-7669-0BDAF5FB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Storing XML in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D501-FA8C-F40A-2D29-7AB55E2B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Many big RDBMS support XML as a type:</a:t>
            </a:r>
          </a:p>
          <a:p>
            <a:pPr lvl="1"/>
            <a:r>
              <a:rPr lang="en-GB" dirty="0"/>
              <a:t>IBM DB2</a:t>
            </a:r>
          </a:p>
          <a:p>
            <a:pPr lvl="1"/>
            <a:r>
              <a:rPr lang="en-GB" dirty="0"/>
              <a:t>Microsoft SQL Server</a:t>
            </a:r>
            <a:endParaRPr lang="en-GB" baseline="30000" dirty="0"/>
          </a:p>
          <a:p>
            <a:pPr lvl="1"/>
            <a:r>
              <a:rPr lang="en-GB" dirty="0"/>
              <a:t>Oracle Database</a:t>
            </a:r>
          </a:p>
          <a:p>
            <a:pPr lvl="1"/>
            <a:r>
              <a:rPr lang="en-GB" dirty="0"/>
              <a:t>PostgreSQL</a:t>
            </a:r>
            <a:endParaRPr lang="en-AT" dirty="0"/>
          </a:p>
          <a:p>
            <a:r>
              <a:rPr lang="en-AT" dirty="0"/>
              <a:t>I.e. like you have a first_name which is a VARCHAR(20) you can have a document which is an XML fragment</a:t>
            </a:r>
          </a:p>
          <a:p>
            <a:pPr lvl="1"/>
            <a:r>
              <a:rPr lang="en-AT" dirty="0"/>
              <a:t>You can then do all sorts of operations on them, incl. XPath and XQuery</a:t>
            </a:r>
          </a:p>
          <a:p>
            <a:r>
              <a:rPr lang="en-AT" dirty="0"/>
              <a:t>Note: MySQL does not support it</a:t>
            </a:r>
          </a:p>
        </p:txBody>
      </p:sp>
    </p:spTree>
    <p:extLst>
      <p:ext uri="{BB962C8B-B14F-4D97-AF65-F5344CB8AC3E}">
        <p14:creationId xmlns:p14="http://schemas.microsoft.com/office/powerpoint/2010/main" val="327311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DA62-F4B8-2C3A-1A14-B0ECC33D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to store XML in MySQL: Option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13F0-10BD-78F8-970B-5241A031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T" dirty="0"/>
              <a:t>You could store it as text, using e.g. LONGTEXT</a:t>
            </a:r>
          </a:p>
          <a:p>
            <a:pPr lvl="1"/>
            <a:r>
              <a:rPr lang="en-AT" dirty="0"/>
              <a:t>LONGTEXT can store up to 4GB of text</a:t>
            </a:r>
          </a:p>
          <a:p>
            <a:pPr lvl="2"/>
            <a:r>
              <a:rPr lang="en-AT" dirty="0"/>
              <a:t>The data type is specific for MySQL and has other names in other systems</a:t>
            </a:r>
          </a:p>
          <a:p>
            <a:pPr lvl="1"/>
            <a:r>
              <a:rPr lang="en-GB" dirty="0"/>
              <a:t>Note: you can’t use XPath and so on in MySQL</a:t>
            </a:r>
            <a:endParaRPr lang="en-AT" dirty="0"/>
          </a:p>
          <a:p>
            <a:pPr lvl="1"/>
            <a:endParaRPr lang="en-AT" dirty="0"/>
          </a:p>
          <a:p>
            <a:pPr lvl="1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81050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AE9C-C43B-7B7F-D7E7-7B1EFE36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to store XML in MySQL: Option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E1AC-A9BC-F5BB-C726-44301C32A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T" dirty="0"/>
              <a:t>You could store it in schema-independent form</a:t>
            </a:r>
          </a:p>
          <a:p>
            <a:r>
              <a:rPr lang="en-AT" dirty="0"/>
              <a:t>E.g. you store for each node in the XML file: </a:t>
            </a:r>
          </a:p>
          <a:p>
            <a:pPr lvl="1"/>
            <a:r>
              <a:rPr lang="en-AT" dirty="0"/>
              <a:t>What type it is (attribute or element)</a:t>
            </a:r>
          </a:p>
          <a:p>
            <a:pPr lvl="1"/>
            <a:r>
              <a:rPr lang="en-AT" dirty="0"/>
              <a:t>What is the name</a:t>
            </a:r>
          </a:p>
          <a:p>
            <a:pPr lvl="1"/>
            <a:r>
              <a:rPr lang="en-AT" dirty="0"/>
              <a:t>What content it has</a:t>
            </a:r>
          </a:p>
          <a:p>
            <a:pPr lvl="1"/>
            <a:r>
              <a:rPr lang="en-GB" dirty="0"/>
              <a:t>S</a:t>
            </a:r>
            <a:r>
              <a:rPr lang="en-AT" dirty="0"/>
              <a:t>ome id</a:t>
            </a:r>
          </a:p>
          <a:p>
            <a:pPr lvl="1"/>
            <a:r>
              <a:rPr lang="en-AT" dirty="0"/>
              <a:t>Who its parent is (based on id)</a:t>
            </a:r>
          </a:p>
          <a:p>
            <a:pPr lvl="1"/>
            <a:r>
              <a:rPr lang="en-AT" dirty="0"/>
              <a:t>Other things, depending on what you want to support:</a:t>
            </a:r>
          </a:p>
          <a:p>
            <a:pPr lvl="2"/>
            <a:r>
              <a:rPr lang="en-AT" dirty="0"/>
              <a:t>What the root is (if you store multiple documents)</a:t>
            </a:r>
          </a:p>
          <a:p>
            <a:pPr lvl="2"/>
            <a:r>
              <a:rPr lang="en-AT" dirty="0"/>
              <a:t>What the immediately previous and following sibling is (if you want to support such)</a:t>
            </a:r>
          </a:p>
          <a:p>
            <a:r>
              <a:rPr lang="en-AT" dirty="0"/>
              <a:t>Doing XPath queries is very annoying so often you also want to store solutions to these directly</a:t>
            </a:r>
          </a:p>
        </p:txBody>
      </p:sp>
    </p:spTree>
    <p:extLst>
      <p:ext uri="{BB962C8B-B14F-4D97-AF65-F5344CB8AC3E}">
        <p14:creationId xmlns:p14="http://schemas.microsoft.com/office/powerpoint/2010/main" val="21319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AE9C-C43B-7B7F-D7E7-7B1EFE36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to store XML in MySQL: Option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E1AC-A9BC-F5BB-C726-44301C32A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T" dirty="0"/>
              <a:t>You could store it in shredded form/you parse it</a:t>
            </a:r>
          </a:p>
          <a:p>
            <a:r>
              <a:rPr lang="en-AT" dirty="0"/>
              <a:t>I.e. you translate it by hand into a number of tables in SQL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22487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Storing this in each way…</a:t>
            </a:r>
            <a:endParaRPr lang="en-US" sz="2400" dirty="0"/>
          </a:p>
        </p:txBody>
      </p:sp>
      <p:sp>
        <p:nvSpPr>
          <p:cNvPr id="46" name="Oval 45"/>
          <p:cNvSpPr/>
          <p:nvPr/>
        </p:nvSpPr>
        <p:spPr>
          <a:xfrm>
            <a:off x="4804834" y="192002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783468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08188" y="4167753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1779772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539462" y="4167753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2203935" y="51107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744047" y="5470779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3586669" y="511185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2851103" y="5471891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4261472" y="38077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3592944" y="4167753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938541" y="38057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2938541" y="26420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5656013" y="380660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75956" y="4166641"/>
            <a:ext cx="123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”M. 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6382392" y="511073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5943901" y="5470779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“COMP211”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7525769" y="511185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170365" y="5471891"/>
            <a:ext cx="1219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“Internet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7116998" y="3804681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675641" y="264209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6" idx="3"/>
            <a:endCxn id="63" idx="7"/>
          </p:cNvCxnSpPr>
          <p:nvPr/>
        </p:nvCxnSpPr>
        <p:spPr>
          <a:xfrm flipH="1">
            <a:off x="3173022" y="2154510"/>
            <a:ext cx="1672043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6" idx="5"/>
            <a:endCxn id="75" idx="1"/>
          </p:cNvCxnSpPr>
          <p:nvPr/>
        </p:nvCxnSpPr>
        <p:spPr>
          <a:xfrm>
            <a:off x="5039315" y="2154510"/>
            <a:ext cx="1676557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2"/>
            <a:endCxn id="52" idx="7"/>
          </p:cNvCxnSpPr>
          <p:nvPr/>
        </p:nvCxnSpPr>
        <p:spPr>
          <a:xfrm flipH="1">
            <a:off x="1017949" y="2779450"/>
            <a:ext cx="1920592" cy="10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3" idx="3"/>
            <a:endCxn id="54" idx="7"/>
          </p:cNvCxnSpPr>
          <p:nvPr/>
        </p:nvCxnSpPr>
        <p:spPr>
          <a:xfrm flipH="1">
            <a:off x="2014254" y="2876574"/>
            <a:ext cx="964519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3" idx="4"/>
            <a:endCxn id="62" idx="0"/>
          </p:cNvCxnSpPr>
          <p:nvPr/>
        </p:nvCxnSpPr>
        <p:spPr>
          <a:xfrm>
            <a:off x="3075897" y="2916805"/>
            <a:ext cx="0" cy="88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5"/>
            <a:endCxn id="60" idx="1"/>
          </p:cNvCxnSpPr>
          <p:nvPr/>
        </p:nvCxnSpPr>
        <p:spPr>
          <a:xfrm>
            <a:off x="3173023" y="2876574"/>
            <a:ext cx="1128681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3"/>
            <a:endCxn id="64" idx="7"/>
          </p:cNvCxnSpPr>
          <p:nvPr/>
        </p:nvCxnSpPr>
        <p:spPr>
          <a:xfrm flipH="1">
            <a:off x="5890494" y="2876574"/>
            <a:ext cx="825378" cy="97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5"/>
            <a:endCxn id="74" idx="0"/>
          </p:cNvCxnSpPr>
          <p:nvPr/>
        </p:nvCxnSpPr>
        <p:spPr>
          <a:xfrm>
            <a:off x="6910122" y="2876575"/>
            <a:ext cx="344232" cy="92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2" idx="3"/>
            <a:endCxn id="56" idx="7"/>
          </p:cNvCxnSpPr>
          <p:nvPr/>
        </p:nvCxnSpPr>
        <p:spPr>
          <a:xfrm flipH="1">
            <a:off x="2438416" y="4040274"/>
            <a:ext cx="540356" cy="111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2" idx="5"/>
            <a:endCxn id="58" idx="1"/>
          </p:cNvCxnSpPr>
          <p:nvPr/>
        </p:nvCxnSpPr>
        <p:spPr>
          <a:xfrm>
            <a:off x="3173022" y="4040274"/>
            <a:ext cx="453878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4" idx="3"/>
            <a:endCxn id="68" idx="7"/>
          </p:cNvCxnSpPr>
          <p:nvPr/>
        </p:nvCxnSpPr>
        <p:spPr>
          <a:xfrm flipH="1">
            <a:off x="6616873" y="4039162"/>
            <a:ext cx="540356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4" idx="4"/>
            <a:endCxn id="70" idx="1"/>
          </p:cNvCxnSpPr>
          <p:nvPr/>
        </p:nvCxnSpPr>
        <p:spPr>
          <a:xfrm>
            <a:off x="7254354" y="4079394"/>
            <a:ext cx="311646" cy="107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449116" y="2084524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523497" y="1961231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617889" y="2875462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117" name="Straight Arrow Connector 116"/>
          <p:cNvCxnSpPr>
            <a:cxnSpLocks/>
            <a:stCxn id="75" idx="6"/>
          </p:cNvCxnSpPr>
          <p:nvPr/>
        </p:nvCxnSpPr>
        <p:spPr>
          <a:xfrm>
            <a:off x="6950353" y="2779449"/>
            <a:ext cx="2546000" cy="312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288753" y="3396331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048241" y="3340627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725394" y="3047795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 rot="18847236">
            <a:off x="5761042" y="3254573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340722" y="3324480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617735" y="4540671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469049" y="4540671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239828" y="4549955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940128" y="4549955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8569370" y="5094134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8562296" y="5470779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4" name="Straight Arrow Connector 133"/>
          <p:cNvCxnSpPr>
            <a:stCxn id="74" idx="6"/>
            <a:endCxn id="132" idx="1"/>
          </p:cNvCxnSpPr>
          <p:nvPr/>
        </p:nvCxnSpPr>
        <p:spPr>
          <a:xfrm>
            <a:off x="7391711" y="3942037"/>
            <a:ext cx="1217891" cy="119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7631548" y="4540671"/>
            <a:ext cx="54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year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836225" y="2598814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454020" y="3826799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/>
          <p:cNvCxnSpPr>
            <a:stCxn id="75" idx="6"/>
            <a:endCxn id="145" idx="1"/>
          </p:cNvCxnSpPr>
          <p:nvPr/>
        </p:nvCxnSpPr>
        <p:spPr>
          <a:xfrm>
            <a:off x="6950353" y="2779450"/>
            <a:ext cx="1543898" cy="108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7663037" y="3057777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email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030310" y="4136913"/>
            <a:ext cx="115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@...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76" name="Picture 7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54" y="7452824"/>
            <a:ext cx="96247" cy="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F945D9E1-B68B-494C-B041-1A2680898C77}"/>
              </a:ext>
            </a:extLst>
          </p:cNvPr>
          <p:cNvSpPr/>
          <p:nvPr/>
        </p:nvSpPr>
        <p:spPr>
          <a:xfrm>
            <a:off x="9560396" y="295821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9478F05-FF08-4D9D-AF02-A67B16B581F4}"/>
              </a:ext>
            </a:extLst>
          </p:cNvPr>
          <p:cNvSpPr txBox="1"/>
          <p:nvPr/>
        </p:nvSpPr>
        <p:spPr>
          <a:xfrm>
            <a:off x="8891868" y="3318253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367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XQuery: SQL queries for XML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7808" y="2146946"/>
            <a:ext cx="2448272" cy="6181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clauses &amp;</a:t>
            </a:r>
            <a:br>
              <a:rPr lang="en-US" dirty="0"/>
            </a:br>
            <a:r>
              <a:rPr lang="en-US" dirty="0"/>
              <a:t>let clauses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4112" y="2132857"/>
            <a:ext cx="2213748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any number,</a:t>
            </a:r>
            <a:br>
              <a:rPr lang="en-US" dirty="0"/>
            </a:br>
            <a:r>
              <a:rPr lang="en-US" dirty="0"/>
              <a:t>interleaved arbitrarily</a:t>
            </a:r>
          </a:p>
        </p:txBody>
      </p:sp>
      <p:sp>
        <p:nvSpPr>
          <p:cNvPr id="7" name="Right Brace 6"/>
          <p:cNvSpPr/>
          <p:nvPr/>
        </p:nvSpPr>
        <p:spPr>
          <a:xfrm>
            <a:off x="6960096" y="2146947"/>
            <a:ext cx="144016" cy="6134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367808" y="2939034"/>
            <a:ext cx="2448272" cy="3957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where clause</a:t>
            </a:r>
          </a:p>
        </p:txBody>
      </p:sp>
      <p:sp>
        <p:nvSpPr>
          <p:cNvPr id="9" name="Right Brace 8"/>
          <p:cNvSpPr/>
          <p:nvPr/>
        </p:nvSpPr>
        <p:spPr>
          <a:xfrm>
            <a:off x="6961160" y="2939035"/>
            <a:ext cx="142952" cy="4033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104113" y="2952232"/>
            <a:ext cx="96443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optional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367808" y="4528800"/>
            <a:ext cx="3976916" cy="945308"/>
            <a:chOff x="2843808" y="3462664"/>
            <a:chExt cx="3976916" cy="945308"/>
          </a:xfrm>
        </p:grpSpPr>
        <p:sp>
          <p:nvSpPr>
            <p:cNvPr id="11" name="Rectangle 10"/>
            <p:cNvSpPr/>
            <p:nvPr/>
          </p:nvSpPr>
          <p:spPr>
            <a:xfrm>
              <a:off x="2843808" y="3991776"/>
              <a:ext cx="2448272" cy="4161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return clause</a:t>
              </a:r>
            </a:p>
          </p:txBody>
        </p:sp>
        <p:sp>
          <p:nvSpPr>
            <p:cNvPr id="12" name="Right Brace 11"/>
            <p:cNvSpPr/>
            <p:nvPr/>
          </p:nvSpPr>
          <p:spPr>
            <a:xfrm>
              <a:off x="5463978" y="3933056"/>
              <a:ext cx="142952" cy="4161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06930" y="3956487"/>
              <a:ext cx="121379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dirty="0"/>
                <a:t>mandatory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43808" y="3462664"/>
              <a:ext cx="2448272" cy="4161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order by clause</a:t>
              </a:r>
            </a:p>
          </p:txBody>
        </p:sp>
        <p:sp>
          <p:nvSpPr>
            <p:cNvPr id="15" name="Right Brace 14"/>
            <p:cNvSpPr/>
            <p:nvPr/>
          </p:nvSpPr>
          <p:spPr>
            <a:xfrm>
              <a:off x="5463978" y="3478761"/>
              <a:ext cx="142952" cy="41619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06930" y="3502192"/>
              <a:ext cx="964431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dirty="0"/>
                <a:t>optional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4367808" y="3459733"/>
            <a:ext cx="2448272" cy="4161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group by clause</a:t>
            </a:r>
          </a:p>
        </p:txBody>
      </p:sp>
      <p:sp>
        <p:nvSpPr>
          <p:cNvPr id="19" name="Right Brace 18"/>
          <p:cNvSpPr/>
          <p:nvPr/>
        </p:nvSpPr>
        <p:spPr>
          <a:xfrm>
            <a:off x="6987978" y="3475830"/>
            <a:ext cx="142952" cy="4161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130931" y="3499261"/>
            <a:ext cx="96443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optional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658EDE-8DF7-40F2-9837-8C89F2B8D20F}"/>
              </a:ext>
            </a:extLst>
          </p:cNvPr>
          <p:cNvSpPr/>
          <p:nvPr/>
        </p:nvSpPr>
        <p:spPr>
          <a:xfrm>
            <a:off x="4367808" y="3996917"/>
            <a:ext cx="2448272" cy="3957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where clause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9886C7DE-62B3-4060-B482-F9E0D2E317E8}"/>
              </a:ext>
            </a:extLst>
          </p:cNvPr>
          <p:cNvSpPr/>
          <p:nvPr/>
        </p:nvSpPr>
        <p:spPr>
          <a:xfrm>
            <a:off x="6961160" y="4004501"/>
            <a:ext cx="142952" cy="4033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A2A6DF-3AE7-4C6E-A659-FCECBD8BCB08}"/>
              </a:ext>
            </a:extLst>
          </p:cNvPr>
          <p:cNvSpPr txBox="1"/>
          <p:nvPr/>
        </p:nvSpPr>
        <p:spPr>
          <a:xfrm>
            <a:off x="7104113" y="4002068"/>
            <a:ext cx="96443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/>
              <a:t>optional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945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10BC-7D52-268B-6C50-69873071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B29B1-76F6-445D-1B46-D8E4BD03851C}"/>
              </a:ext>
            </a:extLst>
          </p:cNvPr>
          <p:cNvSpPr txBox="1"/>
          <p:nvPr/>
        </p:nvSpPr>
        <p:spPr>
          <a:xfrm>
            <a:off x="609600" y="1341095"/>
            <a:ext cx="607647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&lt;</a:t>
            </a:r>
            <a:r>
              <a:rPr lang="en-GB" sz="4000" dirty="0" err="1"/>
              <a:t>bustrip</a:t>
            </a:r>
            <a:r>
              <a:rPr lang="en-GB" sz="4000" dirty="0"/>
              <a:t>&gt;</a:t>
            </a:r>
          </a:p>
          <a:p>
            <a:r>
              <a:rPr lang="en-GB" sz="4000" dirty="0"/>
              <a:t>	&lt;trip start=“1” end=“5” /&gt;</a:t>
            </a:r>
          </a:p>
          <a:p>
            <a:r>
              <a:rPr lang="en-GB" sz="4000" dirty="0"/>
              <a:t>	&lt;trip start=“4” end=“7” /&gt;</a:t>
            </a:r>
          </a:p>
          <a:p>
            <a:r>
              <a:rPr lang="en-GB" sz="4000" dirty="0"/>
              <a:t>	&lt;trip start=“2” end=“4” /&gt;</a:t>
            </a:r>
          </a:p>
          <a:p>
            <a:r>
              <a:rPr lang="en-GB" sz="4000" dirty="0"/>
              <a:t>&lt;/</a:t>
            </a:r>
            <a:r>
              <a:rPr lang="en-GB" sz="4000" dirty="0" err="1"/>
              <a:t>bustrip</a:t>
            </a:r>
            <a:r>
              <a:rPr lang="en-GB" sz="4000" dirty="0"/>
              <a:t>&gt;</a:t>
            </a:r>
            <a:endParaRPr lang="en-AT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4C79C-5FD4-BD4B-5BD0-0F58115B85C6}"/>
              </a:ext>
            </a:extLst>
          </p:cNvPr>
          <p:cNvSpPr txBox="1"/>
          <p:nvPr/>
        </p:nvSpPr>
        <p:spPr>
          <a:xfrm>
            <a:off x="923700" y="5392727"/>
            <a:ext cx="9845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3000" dirty="0"/>
              <a:t>Find how many people are on the bus at each mentioned stop</a:t>
            </a:r>
          </a:p>
        </p:txBody>
      </p:sp>
    </p:spTree>
    <p:extLst>
      <p:ext uri="{BB962C8B-B14F-4D97-AF65-F5344CB8AC3E}">
        <p14:creationId xmlns:p14="http://schemas.microsoft.com/office/powerpoint/2010/main" val="398127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1816-27B2-CAE3-F4C8-3D881356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0295E-EA22-58C5-612F-93A98A980C79}"/>
              </a:ext>
            </a:extLst>
          </p:cNvPr>
          <p:cNvSpPr txBox="1"/>
          <p:nvPr/>
        </p:nvSpPr>
        <p:spPr>
          <a:xfrm>
            <a:off x="1274915" y="2395478"/>
            <a:ext cx="912326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let $doc := .</a:t>
            </a:r>
          </a:p>
          <a:p>
            <a:r>
              <a:rPr lang="en-GB" sz="3000" dirty="0"/>
              <a:t>for $</a:t>
            </a:r>
            <a:r>
              <a:rPr lang="en-GB" sz="3000" dirty="0" err="1"/>
              <a:t>stopno</a:t>
            </a:r>
            <a:r>
              <a:rPr lang="en-GB" sz="3000" dirty="0"/>
              <a:t> in distinct-values($doc//trip/@*)</a:t>
            </a:r>
          </a:p>
          <a:p>
            <a:r>
              <a:rPr lang="en-GB" sz="3000" dirty="0"/>
              <a:t>for $trip in $doc//trip</a:t>
            </a:r>
          </a:p>
          <a:p>
            <a:r>
              <a:rPr lang="en-GB" sz="3000" dirty="0"/>
              <a:t>where $</a:t>
            </a:r>
            <a:r>
              <a:rPr lang="en-GB" sz="3000" dirty="0" err="1"/>
              <a:t>stopno</a:t>
            </a:r>
            <a:r>
              <a:rPr lang="en-GB" sz="3000" dirty="0"/>
              <a:t>&gt;=$trip/@start and $</a:t>
            </a:r>
            <a:r>
              <a:rPr lang="en-GB" sz="3000" dirty="0" err="1"/>
              <a:t>stopno</a:t>
            </a:r>
            <a:r>
              <a:rPr lang="en-GB" sz="3000" dirty="0"/>
              <a:t> &lt; $trip/@end</a:t>
            </a:r>
          </a:p>
          <a:p>
            <a:r>
              <a:rPr lang="en-GB" sz="3000" dirty="0"/>
              <a:t>group by $</a:t>
            </a:r>
            <a:r>
              <a:rPr lang="en-GB" sz="3000" dirty="0" err="1"/>
              <a:t>stopno</a:t>
            </a:r>
            <a:endParaRPr lang="en-GB" sz="3000" dirty="0"/>
          </a:p>
          <a:p>
            <a:r>
              <a:rPr lang="en-GB" sz="3000" dirty="0"/>
              <a:t>return &lt;pair&gt;{$</a:t>
            </a:r>
            <a:r>
              <a:rPr lang="en-GB" sz="3000" dirty="0" err="1"/>
              <a:t>stopno</a:t>
            </a:r>
            <a:r>
              <a:rPr lang="en-GB" sz="3000" dirty="0"/>
              <a:t>},{count($trip)}&lt;/pair&gt;</a:t>
            </a:r>
            <a:endParaRPr lang="en-AT" sz="3000" dirty="0"/>
          </a:p>
        </p:txBody>
      </p:sp>
    </p:spTree>
    <p:extLst>
      <p:ext uri="{BB962C8B-B14F-4D97-AF65-F5344CB8AC3E}">
        <p14:creationId xmlns:p14="http://schemas.microsoft.com/office/powerpoint/2010/main" val="19267827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4.9|15.1|3.7|9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5|5.6|5.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122</TotalTime>
  <Words>507</Words>
  <Application>Microsoft Macintosh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IST theme powerpoint</vt:lpstr>
      <vt:lpstr>Lecture 18</vt:lpstr>
      <vt:lpstr>Overview</vt:lpstr>
      <vt:lpstr>Storing XML in SQL</vt:lpstr>
      <vt:lpstr>How to store XML in MySQL: Option 1</vt:lpstr>
      <vt:lpstr>How to store XML in MySQL: Option 2</vt:lpstr>
      <vt:lpstr>How to store XML in MySQL: Option 3</vt:lpstr>
      <vt:lpstr>Storing this in each way…</vt:lpstr>
      <vt:lpstr>XQuery: SQL queries for XML files</vt:lpstr>
      <vt:lpstr>Example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</dc:title>
  <dc:creator>Ibsen-Jensen, Rasmus</dc:creator>
  <cp:lastModifiedBy>Ibsen-Jensen, Rasmus</cp:lastModifiedBy>
  <cp:revision>1</cp:revision>
  <dcterms:created xsi:type="dcterms:W3CDTF">2023-11-22T21:54:08Z</dcterms:created>
  <dcterms:modified xsi:type="dcterms:W3CDTF">2023-11-22T23:56:42Z</dcterms:modified>
</cp:coreProperties>
</file>