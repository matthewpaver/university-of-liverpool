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81"/>
  </p:normalViewPr>
  <p:slideViewPr>
    <p:cSldViewPr snapToGrid="0">
      <p:cViewPr varScale="1">
        <p:scale>
          <a:sx n="90" d="100"/>
          <a:sy n="90" d="100"/>
        </p:scale>
        <p:origin x="232"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F43C728-EC1E-884E-B11F-CF75DFC39B06}" type="datetimeFigureOut">
              <a:rPr lang="en-AT" smtClean="0"/>
              <a:t>30.10.23</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264DD450-0552-2044-B210-31F9ED1AE048}" type="slidenum">
              <a:rPr lang="en-AT" smtClean="0"/>
              <a:t>‹#›</a:t>
            </a:fld>
            <a:endParaRPr lang="en-AT"/>
          </a:p>
        </p:txBody>
      </p:sp>
    </p:spTree>
    <p:extLst>
      <p:ext uri="{BB962C8B-B14F-4D97-AF65-F5344CB8AC3E}">
        <p14:creationId xmlns:p14="http://schemas.microsoft.com/office/powerpoint/2010/main" val="1107469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F43C728-EC1E-884E-B11F-CF75DFC39B06}" type="datetimeFigureOut">
              <a:rPr lang="en-AT" smtClean="0"/>
              <a:t>30.10.23</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264DD450-0552-2044-B210-31F9ED1AE048}" type="slidenum">
              <a:rPr lang="en-AT" smtClean="0"/>
              <a:t>‹#›</a:t>
            </a:fld>
            <a:endParaRPr lang="en-AT"/>
          </a:p>
        </p:txBody>
      </p:sp>
    </p:spTree>
    <p:extLst>
      <p:ext uri="{BB962C8B-B14F-4D97-AF65-F5344CB8AC3E}">
        <p14:creationId xmlns:p14="http://schemas.microsoft.com/office/powerpoint/2010/main" val="627303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GB"/>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F43C728-EC1E-884E-B11F-CF75DFC39B06}" type="datetimeFigureOut">
              <a:rPr lang="en-AT" smtClean="0"/>
              <a:t>30.10.23</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264DD450-0552-2044-B210-31F9ED1AE048}" type="slidenum">
              <a:rPr lang="en-AT" smtClean="0"/>
              <a:t>‹#›</a:t>
            </a:fld>
            <a:endParaRPr lang="en-AT"/>
          </a:p>
        </p:txBody>
      </p:sp>
    </p:spTree>
    <p:extLst>
      <p:ext uri="{BB962C8B-B14F-4D97-AF65-F5344CB8AC3E}">
        <p14:creationId xmlns:p14="http://schemas.microsoft.com/office/powerpoint/2010/main" val="3091950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F43C728-EC1E-884E-B11F-CF75DFC39B06}" type="datetimeFigureOut">
              <a:rPr lang="en-AT" smtClean="0"/>
              <a:t>30.10.23</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264DD450-0552-2044-B210-31F9ED1AE048}" type="slidenum">
              <a:rPr lang="en-AT" smtClean="0"/>
              <a:t>‹#›</a:t>
            </a:fld>
            <a:endParaRPr lang="en-AT"/>
          </a:p>
        </p:txBody>
      </p:sp>
    </p:spTree>
    <p:extLst>
      <p:ext uri="{BB962C8B-B14F-4D97-AF65-F5344CB8AC3E}">
        <p14:creationId xmlns:p14="http://schemas.microsoft.com/office/powerpoint/2010/main" val="2817868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F43C728-EC1E-884E-B11F-CF75DFC39B06}" type="datetimeFigureOut">
              <a:rPr lang="en-AT" smtClean="0"/>
              <a:t>30.10.23</a:t>
            </a:fld>
            <a:endParaRPr lang="en-AT"/>
          </a:p>
        </p:txBody>
      </p:sp>
      <p:sp>
        <p:nvSpPr>
          <p:cNvPr id="8" name="Footer Placeholder 7"/>
          <p:cNvSpPr>
            <a:spLocks noGrp="1"/>
          </p:cNvSpPr>
          <p:nvPr>
            <p:ph type="ftr" sz="quarter" idx="11"/>
          </p:nvPr>
        </p:nvSpPr>
        <p:spPr/>
        <p:txBody>
          <a:bodyPr/>
          <a:lstStyle/>
          <a:p>
            <a:endParaRPr lang="en-AT"/>
          </a:p>
        </p:txBody>
      </p:sp>
      <p:sp>
        <p:nvSpPr>
          <p:cNvPr id="9" name="Slide Number Placeholder 8"/>
          <p:cNvSpPr>
            <a:spLocks noGrp="1"/>
          </p:cNvSpPr>
          <p:nvPr>
            <p:ph type="sldNum" sz="quarter" idx="12"/>
          </p:nvPr>
        </p:nvSpPr>
        <p:spPr/>
        <p:txBody>
          <a:bodyPr/>
          <a:lstStyle/>
          <a:p>
            <a:fld id="{264DD450-0552-2044-B210-31F9ED1AE048}" type="slidenum">
              <a:rPr lang="en-AT" smtClean="0"/>
              <a:t>‹#›</a:t>
            </a:fld>
            <a:endParaRPr lang="en-AT"/>
          </a:p>
        </p:txBody>
      </p:sp>
    </p:spTree>
    <p:extLst>
      <p:ext uri="{BB962C8B-B14F-4D97-AF65-F5344CB8AC3E}">
        <p14:creationId xmlns:p14="http://schemas.microsoft.com/office/powerpoint/2010/main" val="3023527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9F43C728-EC1E-884E-B11F-CF75DFC39B06}" type="datetimeFigureOut">
              <a:rPr lang="en-AT" smtClean="0"/>
              <a:t>30.10.23</a:t>
            </a:fld>
            <a:endParaRPr lang="en-AT"/>
          </a:p>
        </p:txBody>
      </p:sp>
      <p:sp>
        <p:nvSpPr>
          <p:cNvPr id="4" name="Footer Placeholder 3"/>
          <p:cNvSpPr>
            <a:spLocks noGrp="1"/>
          </p:cNvSpPr>
          <p:nvPr>
            <p:ph type="ftr" sz="quarter" idx="11"/>
          </p:nvPr>
        </p:nvSpPr>
        <p:spPr/>
        <p:txBody>
          <a:bodyPr/>
          <a:lstStyle/>
          <a:p>
            <a:endParaRPr lang="en-AT"/>
          </a:p>
        </p:txBody>
      </p:sp>
      <p:sp>
        <p:nvSpPr>
          <p:cNvPr id="5" name="Slide Number Placeholder 4"/>
          <p:cNvSpPr>
            <a:spLocks noGrp="1"/>
          </p:cNvSpPr>
          <p:nvPr>
            <p:ph type="sldNum" sz="quarter" idx="12"/>
          </p:nvPr>
        </p:nvSpPr>
        <p:spPr/>
        <p:txBody>
          <a:bodyPr/>
          <a:lstStyle/>
          <a:p>
            <a:fld id="{264DD450-0552-2044-B210-31F9ED1AE048}" type="slidenum">
              <a:rPr lang="en-AT" smtClean="0"/>
              <a:t>‹#›</a:t>
            </a:fld>
            <a:endParaRPr lang="en-AT"/>
          </a:p>
        </p:txBody>
      </p:sp>
    </p:spTree>
    <p:extLst>
      <p:ext uri="{BB962C8B-B14F-4D97-AF65-F5344CB8AC3E}">
        <p14:creationId xmlns:p14="http://schemas.microsoft.com/office/powerpoint/2010/main" val="2506942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43C728-EC1E-884E-B11F-CF75DFC39B06}" type="datetimeFigureOut">
              <a:rPr lang="en-AT" smtClean="0"/>
              <a:t>30.10.23</a:t>
            </a:fld>
            <a:endParaRPr lang="en-AT"/>
          </a:p>
        </p:txBody>
      </p:sp>
      <p:sp>
        <p:nvSpPr>
          <p:cNvPr id="3" name="Footer Placeholder 2"/>
          <p:cNvSpPr>
            <a:spLocks noGrp="1"/>
          </p:cNvSpPr>
          <p:nvPr>
            <p:ph type="ftr" sz="quarter" idx="11"/>
          </p:nvPr>
        </p:nvSpPr>
        <p:spPr/>
        <p:txBody>
          <a:bodyPr/>
          <a:lstStyle/>
          <a:p>
            <a:endParaRPr lang="en-AT"/>
          </a:p>
        </p:txBody>
      </p:sp>
      <p:sp>
        <p:nvSpPr>
          <p:cNvPr id="4" name="Slide Number Placeholder 3"/>
          <p:cNvSpPr>
            <a:spLocks noGrp="1"/>
          </p:cNvSpPr>
          <p:nvPr>
            <p:ph type="sldNum" sz="quarter" idx="12"/>
          </p:nvPr>
        </p:nvSpPr>
        <p:spPr/>
        <p:txBody>
          <a:bodyPr/>
          <a:lstStyle/>
          <a:p>
            <a:fld id="{264DD450-0552-2044-B210-31F9ED1AE048}" type="slidenum">
              <a:rPr lang="en-AT" smtClean="0"/>
              <a:t>‹#›</a:t>
            </a:fld>
            <a:endParaRPr lang="en-AT"/>
          </a:p>
        </p:txBody>
      </p:sp>
    </p:spTree>
    <p:extLst>
      <p:ext uri="{BB962C8B-B14F-4D97-AF65-F5344CB8AC3E}">
        <p14:creationId xmlns:p14="http://schemas.microsoft.com/office/powerpoint/2010/main" val="3033114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GB"/>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9F43C728-EC1E-884E-B11F-CF75DFC39B06}" type="datetimeFigureOut">
              <a:rPr lang="en-AT" smtClean="0"/>
              <a:t>30.10.23</a:t>
            </a:fld>
            <a:endParaRPr lang="en-AT"/>
          </a:p>
        </p:txBody>
      </p:sp>
      <p:sp>
        <p:nvSpPr>
          <p:cNvPr id="6" name="Footer Placeholder 5"/>
          <p:cNvSpPr>
            <a:spLocks noGrp="1"/>
          </p:cNvSpPr>
          <p:nvPr>
            <p:ph type="ftr" sz="quarter" idx="11"/>
          </p:nvPr>
        </p:nvSpPr>
        <p:spPr/>
        <p:txBody>
          <a:bodyPr/>
          <a:lstStyle/>
          <a:p>
            <a:endParaRPr lang="en-AT"/>
          </a:p>
        </p:txBody>
      </p:sp>
      <p:sp>
        <p:nvSpPr>
          <p:cNvPr id="7" name="Slide Number Placeholder 6"/>
          <p:cNvSpPr>
            <a:spLocks noGrp="1"/>
          </p:cNvSpPr>
          <p:nvPr>
            <p:ph type="sldNum" sz="quarter" idx="12"/>
          </p:nvPr>
        </p:nvSpPr>
        <p:spPr/>
        <p:txBody>
          <a:bodyPr/>
          <a:lstStyle/>
          <a:p>
            <a:fld id="{264DD450-0552-2044-B210-31F9ED1AE048}" type="slidenum">
              <a:rPr lang="en-AT" smtClean="0"/>
              <a:t>‹#›</a:t>
            </a:fld>
            <a:endParaRPr lang="en-AT"/>
          </a:p>
        </p:txBody>
      </p:sp>
      <p:sp>
        <p:nvSpPr>
          <p:cNvPr id="9" name="Content Placeholder 8"/>
          <p:cNvSpPr>
            <a:spLocks noGrp="1"/>
          </p:cNvSpPr>
          <p:nvPr>
            <p:ph sz="quarter" idx="13"/>
          </p:nvPr>
        </p:nvSpPr>
        <p:spPr>
          <a:xfrm>
            <a:off x="406400" y="381000"/>
            <a:ext cx="10363200" cy="494284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769646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GB"/>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8" name="Date Placeholder 7"/>
          <p:cNvSpPr>
            <a:spLocks noGrp="1"/>
          </p:cNvSpPr>
          <p:nvPr>
            <p:ph type="dt" sz="half" idx="10"/>
          </p:nvPr>
        </p:nvSpPr>
        <p:spPr/>
        <p:txBody>
          <a:bodyPr/>
          <a:lstStyle/>
          <a:p>
            <a:fld id="{9F43C728-EC1E-884E-B11F-CF75DFC39B06}" type="datetimeFigureOut">
              <a:rPr lang="en-AT" smtClean="0"/>
              <a:t>30.10.23</a:t>
            </a:fld>
            <a:endParaRPr lang="en-AT"/>
          </a:p>
        </p:txBody>
      </p:sp>
      <p:sp>
        <p:nvSpPr>
          <p:cNvPr id="9" name="Slide Number Placeholder 8"/>
          <p:cNvSpPr>
            <a:spLocks noGrp="1"/>
          </p:cNvSpPr>
          <p:nvPr>
            <p:ph type="sldNum" sz="quarter" idx="11"/>
          </p:nvPr>
        </p:nvSpPr>
        <p:spPr/>
        <p:txBody>
          <a:bodyPr/>
          <a:lstStyle/>
          <a:p>
            <a:fld id="{264DD450-0552-2044-B210-31F9ED1AE048}" type="slidenum">
              <a:rPr lang="en-AT" smtClean="0"/>
              <a:t>‹#›</a:t>
            </a:fld>
            <a:endParaRPr lang="en-AT"/>
          </a:p>
        </p:txBody>
      </p:sp>
      <p:sp>
        <p:nvSpPr>
          <p:cNvPr id="10" name="Footer Placeholder 9"/>
          <p:cNvSpPr>
            <a:spLocks noGrp="1"/>
          </p:cNvSpPr>
          <p:nvPr>
            <p:ph type="ftr" sz="quarter" idx="12"/>
          </p:nvPr>
        </p:nvSpPr>
        <p:spPr/>
        <p:txBody>
          <a:bodyPr/>
          <a:lstStyle/>
          <a:p>
            <a:endParaRPr lang="en-AT"/>
          </a:p>
        </p:txBody>
      </p:sp>
    </p:spTree>
    <p:extLst>
      <p:ext uri="{BB962C8B-B14F-4D97-AF65-F5344CB8AC3E}">
        <p14:creationId xmlns:p14="http://schemas.microsoft.com/office/powerpoint/2010/main" val="2032451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F43C728-EC1E-884E-B11F-CF75DFC39B06}" type="datetimeFigureOut">
              <a:rPr lang="en-AT" smtClean="0"/>
              <a:t>30.10.23</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264DD450-0552-2044-B210-31F9ED1AE048}" type="slidenum">
              <a:rPr lang="en-AT" smtClean="0"/>
              <a:t>‹#›</a:t>
            </a:fld>
            <a:endParaRPr lang="en-AT"/>
          </a:p>
        </p:txBody>
      </p:sp>
    </p:spTree>
    <p:extLst>
      <p:ext uri="{BB962C8B-B14F-4D97-AF65-F5344CB8AC3E}">
        <p14:creationId xmlns:p14="http://schemas.microsoft.com/office/powerpoint/2010/main" val="449196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F43C728-EC1E-884E-B11F-CF75DFC39B06}" type="datetimeFigureOut">
              <a:rPr lang="en-AT" smtClean="0"/>
              <a:t>30.10.23</a:t>
            </a:fld>
            <a:endParaRPr lang="en-AT"/>
          </a:p>
        </p:txBody>
      </p:sp>
      <p:sp>
        <p:nvSpPr>
          <p:cNvPr id="5" name="Footer Placeholder 4"/>
          <p:cNvSpPr>
            <a:spLocks noGrp="1"/>
          </p:cNvSpPr>
          <p:nvPr>
            <p:ph type="ftr" sz="quarter" idx="11"/>
          </p:nvPr>
        </p:nvSpPr>
        <p:spPr/>
        <p:txBody>
          <a:bodyPr/>
          <a:lstStyle/>
          <a:p>
            <a:endParaRPr lang="en-AT"/>
          </a:p>
        </p:txBody>
      </p:sp>
      <p:sp>
        <p:nvSpPr>
          <p:cNvPr id="6" name="Slide Number Placeholder 5"/>
          <p:cNvSpPr>
            <a:spLocks noGrp="1"/>
          </p:cNvSpPr>
          <p:nvPr>
            <p:ph type="sldNum" sz="quarter" idx="12"/>
          </p:nvPr>
        </p:nvSpPr>
        <p:spPr/>
        <p:txBody>
          <a:bodyPr/>
          <a:lstStyle/>
          <a:p>
            <a:fld id="{264DD450-0552-2044-B210-31F9ED1AE048}" type="slidenum">
              <a:rPr lang="en-AT" smtClean="0"/>
              <a:t>‹#›</a:t>
            </a:fld>
            <a:endParaRPr lang="en-AT"/>
          </a:p>
        </p:txBody>
      </p:sp>
    </p:spTree>
    <p:extLst>
      <p:ext uri="{BB962C8B-B14F-4D97-AF65-F5344CB8AC3E}">
        <p14:creationId xmlns:p14="http://schemas.microsoft.com/office/powerpoint/2010/main" val="1690157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25438"/>
            <a:ext cx="10160000" cy="1143000"/>
          </a:xfrm>
          <a:prstGeom prst="rect">
            <a:avLst/>
          </a:prstGeom>
        </p:spPr>
        <p:txBody>
          <a:bodyPr vert="horz" lIns="91440" tIns="45720" rIns="91440" bIns="45720" rtlCol="0" anchor="t" anchorCtr="0">
            <a:noAutofit/>
          </a:bodyPr>
          <a:lstStyle/>
          <a:p>
            <a:r>
              <a:rPr lang="en-GB"/>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Rectangle 6"/>
          <p:cNvSpPr/>
          <p:nvPr/>
        </p:nvSpPr>
        <p:spPr>
          <a:xfrm>
            <a:off x="11067627" y="-121920"/>
            <a:ext cx="1246293" cy="71323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p:cNvSpPr/>
          <p:nvPr/>
        </p:nvSpPr>
        <p:spPr>
          <a:xfrm>
            <a:off x="11067627" y="5753100"/>
            <a:ext cx="1246293" cy="838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264DD450-0552-2044-B210-31F9ED1AE048}" type="slidenum">
              <a:rPr lang="en-AT" smtClean="0"/>
              <a:t>‹#›</a:t>
            </a:fld>
            <a:endParaRPr lang="en-AT"/>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AT"/>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9F43C728-EC1E-884E-B11F-CF75DFC39B06}" type="datetimeFigureOut">
              <a:rPr lang="en-AT" smtClean="0"/>
              <a:t>30.10.23</a:t>
            </a:fld>
            <a:endParaRPr lang="en-AT"/>
          </a:p>
        </p:txBody>
      </p:sp>
    </p:spTree>
    <p:extLst>
      <p:ext uri="{BB962C8B-B14F-4D97-AF65-F5344CB8AC3E}">
        <p14:creationId xmlns:p14="http://schemas.microsoft.com/office/powerpoint/2010/main" val="28090674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800" kern="1200">
          <a:solidFill>
            <a:schemeClr val="tx1"/>
          </a:solidFill>
          <a:latin typeface="Arial"/>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500" kern="1200">
          <a:solidFill>
            <a:schemeClr val="tx1"/>
          </a:solidFill>
          <a:latin typeface="Arial"/>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2200" kern="1200">
          <a:solidFill>
            <a:schemeClr val="tx1"/>
          </a:solidFill>
          <a:latin typeface="Arial"/>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Arial"/>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Arial"/>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B1CE3-AD48-E3ED-755A-CAA8DC4F3EDC}"/>
              </a:ext>
            </a:extLst>
          </p:cNvPr>
          <p:cNvSpPr>
            <a:spLocks noGrp="1"/>
          </p:cNvSpPr>
          <p:nvPr>
            <p:ph type="ctrTitle"/>
          </p:nvPr>
        </p:nvSpPr>
        <p:spPr/>
        <p:txBody>
          <a:bodyPr/>
          <a:lstStyle/>
          <a:p>
            <a:r>
              <a:rPr lang="en-AT" dirty="0"/>
              <a:t>Lecture 11</a:t>
            </a:r>
          </a:p>
        </p:txBody>
      </p:sp>
      <p:sp>
        <p:nvSpPr>
          <p:cNvPr id="3" name="Subtitle 2">
            <a:extLst>
              <a:ext uri="{FF2B5EF4-FFF2-40B4-BE49-F238E27FC236}">
                <a16:creationId xmlns:a16="http://schemas.microsoft.com/office/drawing/2014/main" id="{C1739BB4-2C7C-2006-9BF3-FD3CAE5F7159}"/>
              </a:ext>
            </a:extLst>
          </p:cNvPr>
          <p:cNvSpPr>
            <a:spLocks noGrp="1"/>
          </p:cNvSpPr>
          <p:nvPr>
            <p:ph type="subTitle" idx="1"/>
          </p:nvPr>
        </p:nvSpPr>
        <p:spPr/>
        <p:txBody>
          <a:bodyPr/>
          <a:lstStyle/>
          <a:p>
            <a:r>
              <a:rPr lang="en-AT" dirty="0"/>
              <a:t>COMP207</a:t>
            </a:r>
          </a:p>
        </p:txBody>
      </p:sp>
    </p:spTree>
    <p:extLst>
      <p:ext uri="{BB962C8B-B14F-4D97-AF65-F5344CB8AC3E}">
        <p14:creationId xmlns:p14="http://schemas.microsoft.com/office/powerpoint/2010/main" val="1360628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7D3C8-CD6E-3075-9CD1-62DE1C24B545}"/>
              </a:ext>
            </a:extLst>
          </p:cNvPr>
          <p:cNvSpPr>
            <a:spLocks noGrp="1"/>
          </p:cNvSpPr>
          <p:nvPr>
            <p:ph type="title"/>
          </p:nvPr>
        </p:nvSpPr>
        <p:spPr/>
        <p:txBody>
          <a:bodyPr/>
          <a:lstStyle/>
          <a:p>
            <a:r>
              <a:rPr lang="en-AT" dirty="0"/>
              <a:t>Overview</a:t>
            </a:r>
          </a:p>
        </p:txBody>
      </p:sp>
      <p:sp>
        <p:nvSpPr>
          <p:cNvPr id="3" name="Content Placeholder 2">
            <a:extLst>
              <a:ext uri="{FF2B5EF4-FFF2-40B4-BE49-F238E27FC236}">
                <a16:creationId xmlns:a16="http://schemas.microsoft.com/office/drawing/2014/main" id="{801DF03E-EC7E-1510-42FD-FA63B9A3267C}"/>
              </a:ext>
            </a:extLst>
          </p:cNvPr>
          <p:cNvSpPr>
            <a:spLocks noGrp="1"/>
          </p:cNvSpPr>
          <p:nvPr>
            <p:ph idx="1"/>
          </p:nvPr>
        </p:nvSpPr>
        <p:spPr/>
        <p:txBody>
          <a:bodyPr/>
          <a:lstStyle/>
          <a:p>
            <a:r>
              <a:rPr lang="en-AT" dirty="0"/>
              <a:t>Go over weekly assessment</a:t>
            </a:r>
          </a:p>
          <a:p>
            <a:r>
              <a:rPr lang="en-AT" dirty="0"/>
              <a:t>Go over weekly survey</a:t>
            </a:r>
          </a:p>
          <a:p>
            <a:r>
              <a:rPr lang="en-AT" dirty="0"/>
              <a:t>How to deal with deadlocks</a:t>
            </a:r>
          </a:p>
          <a:p>
            <a:r>
              <a:rPr lang="en-AT" dirty="0"/>
              <a:t>Timestamp based approaches to schedules</a:t>
            </a:r>
          </a:p>
        </p:txBody>
      </p:sp>
    </p:spTree>
    <p:extLst>
      <p:ext uri="{BB962C8B-B14F-4D97-AF65-F5344CB8AC3E}">
        <p14:creationId xmlns:p14="http://schemas.microsoft.com/office/powerpoint/2010/main" val="2040248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C1E32-20A7-AD99-2E21-7A731F1169A2}"/>
              </a:ext>
            </a:extLst>
          </p:cNvPr>
          <p:cNvSpPr>
            <a:spLocks noGrp="1"/>
          </p:cNvSpPr>
          <p:nvPr>
            <p:ph type="title"/>
          </p:nvPr>
        </p:nvSpPr>
        <p:spPr/>
        <p:txBody>
          <a:bodyPr/>
          <a:lstStyle/>
          <a:p>
            <a:r>
              <a:rPr lang="en-AT" dirty="0"/>
              <a:t>Weekly survey</a:t>
            </a:r>
          </a:p>
        </p:txBody>
      </p:sp>
      <p:sp>
        <p:nvSpPr>
          <p:cNvPr id="3" name="Content Placeholder 2">
            <a:extLst>
              <a:ext uri="{FF2B5EF4-FFF2-40B4-BE49-F238E27FC236}">
                <a16:creationId xmlns:a16="http://schemas.microsoft.com/office/drawing/2014/main" id="{CD1710BE-EB58-1DDC-DFB7-3FE389331232}"/>
              </a:ext>
            </a:extLst>
          </p:cNvPr>
          <p:cNvSpPr>
            <a:spLocks noGrp="1"/>
          </p:cNvSpPr>
          <p:nvPr>
            <p:ph idx="1"/>
          </p:nvPr>
        </p:nvSpPr>
        <p:spPr/>
        <p:txBody>
          <a:bodyPr/>
          <a:lstStyle/>
          <a:p>
            <a:r>
              <a:rPr lang="en-AT" dirty="0"/>
              <a:t>Positive:</a:t>
            </a:r>
          </a:p>
          <a:p>
            <a:pPr lvl="1"/>
            <a:r>
              <a:rPr lang="en-GB" dirty="0"/>
              <a:t>Discussion Board extremely helpful with quick and detailed responses.</a:t>
            </a:r>
            <a:br>
              <a:rPr lang="en-GB" dirty="0"/>
            </a:br>
            <a:r>
              <a:rPr lang="en-GB" dirty="0"/>
              <a:t>Nice to see feedback about it being hard to read what is being typed/output taken seriously and improved - thank you!</a:t>
            </a:r>
            <a:br>
              <a:rPr lang="en-GB" dirty="0"/>
            </a:br>
            <a:r>
              <a:rPr lang="en-GB" dirty="0"/>
              <a:t>From a few lectures ago, but going through an example exam question helped greatly with the assignment and understanding how to handle questions.</a:t>
            </a:r>
          </a:p>
          <a:p>
            <a:r>
              <a:rPr lang="en-GB" dirty="0">
                <a:solidFill>
                  <a:srgbClr val="FF0000"/>
                </a:solidFill>
              </a:rPr>
              <a:t>Response: That is nice to hear! I am glad that people use the discussion board.</a:t>
            </a:r>
            <a:endParaRPr lang="en-AT" dirty="0">
              <a:solidFill>
                <a:srgbClr val="FF0000"/>
              </a:solidFill>
            </a:endParaRPr>
          </a:p>
        </p:txBody>
      </p:sp>
    </p:spTree>
    <p:extLst>
      <p:ext uri="{BB962C8B-B14F-4D97-AF65-F5344CB8AC3E}">
        <p14:creationId xmlns:p14="http://schemas.microsoft.com/office/powerpoint/2010/main" val="3833695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4B291-ADFF-2C53-CBC9-C91FFB1346CF}"/>
              </a:ext>
            </a:extLst>
          </p:cNvPr>
          <p:cNvSpPr>
            <a:spLocks noGrp="1"/>
          </p:cNvSpPr>
          <p:nvPr>
            <p:ph type="title"/>
          </p:nvPr>
        </p:nvSpPr>
        <p:spPr/>
        <p:txBody>
          <a:bodyPr/>
          <a:lstStyle/>
          <a:p>
            <a:r>
              <a:rPr lang="en-AT" dirty="0"/>
              <a:t>Weekly survey part 2</a:t>
            </a:r>
          </a:p>
        </p:txBody>
      </p:sp>
      <p:sp>
        <p:nvSpPr>
          <p:cNvPr id="3" name="Content Placeholder 2">
            <a:extLst>
              <a:ext uri="{FF2B5EF4-FFF2-40B4-BE49-F238E27FC236}">
                <a16:creationId xmlns:a16="http://schemas.microsoft.com/office/drawing/2014/main" id="{7FAC60F3-2EAC-7190-10FE-0F90C63E3F09}"/>
              </a:ext>
            </a:extLst>
          </p:cNvPr>
          <p:cNvSpPr>
            <a:spLocks noGrp="1"/>
          </p:cNvSpPr>
          <p:nvPr>
            <p:ph idx="1"/>
          </p:nvPr>
        </p:nvSpPr>
        <p:spPr/>
        <p:txBody>
          <a:bodyPr/>
          <a:lstStyle/>
          <a:p>
            <a:r>
              <a:rPr lang="en-AT" dirty="0"/>
              <a:t>Negative:</a:t>
            </a:r>
          </a:p>
          <a:p>
            <a:pPr lvl="1"/>
            <a:r>
              <a:rPr lang="en-GB" dirty="0"/>
              <a:t>Not necessarily something that didn't work well, but maybe adding more going through exam questions where applicable? Would be especially useful, personally, regarding locks as I still understand them less than other aspects of the course. (I understand if we have to move on in the course and cannot do this, still believe it would be beneficial to add more example exam questions for later topics)</a:t>
            </a:r>
          </a:p>
          <a:p>
            <a:r>
              <a:rPr lang="en-GB" dirty="0">
                <a:solidFill>
                  <a:srgbClr val="FF0000"/>
                </a:solidFill>
              </a:rPr>
              <a:t>Response: I will try to do that more in the future. I won’t have time today though, I believe, because this timestamp based schedules/deadlock detection is quite large</a:t>
            </a:r>
            <a:endParaRPr lang="en-AT" dirty="0">
              <a:solidFill>
                <a:srgbClr val="FF0000"/>
              </a:solidFill>
            </a:endParaRPr>
          </a:p>
        </p:txBody>
      </p:sp>
    </p:spTree>
    <p:extLst>
      <p:ext uri="{BB962C8B-B14F-4D97-AF65-F5344CB8AC3E}">
        <p14:creationId xmlns:p14="http://schemas.microsoft.com/office/powerpoint/2010/main" val="3482634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FC775-2CE4-82D6-4037-33ACD32BF63B}"/>
              </a:ext>
            </a:extLst>
          </p:cNvPr>
          <p:cNvSpPr>
            <a:spLocks noGrp="1"/>
          </p:cNvSpPr>
          <p:nvPr>
            <p:ph type="title"/>
          </p:nvPr>
        </p:nvSpPr>
        <p:spPr/>
        <p:txBody>
          <a:bodyPr/>
          <a:lstStyle/>
          <a:p>
            <a:r>
              <a:rPr lang="en-AT" dirty="0"/>
              <a:t>Deadlocks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1E057B0-2838-7402-6EF1-9675AD01CC96}"/>
                  </a:ext>
                </a:extLst>
              </p:cNvPr>
              <p:cNvSpPr>
                <a:spLocks noGrp="1"/>
              </p:cNvSpPr>
              <p:nvPr>
                <p:ph idx="1"/>
              </p:nvPr>
            </p:nvSpPr>
            <p:spPr/>
            <p:txBody>
              <a:bodyPr/>
              <a:lstStyle/>
              <a:p>
                <a:r>
                  <a:rPr lang="en-AT" dirty="0"/>
                  <a:t>Deadlocks occur when one transaction waits the lock for another, which in turn waits for another and so on until we get back to the first</a:t>
                </a:r>
              </a:p>
              <a:p>
                <a:r>
                  <a:rPr lang="en-AT" dirty="0"/>
                  <a:t>The shortest examples are transactions like:</a:t>
                </a:r>
              </a:p>
              <a:p>
                <a:pPr lvl="1"/>
                <a:r>
                  <a:rPr lang="en-GB" b="0" dirty="0"/>
                  <a:t>Transaction 1: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𝑙</m:t>
                        </m:r>
                      </m:e>
                      <m:sub>
                        <m:r>
                          <a:rPr lang="en-GB" b="0" i="1" smtClean="0">
                            <a:latin typeface="Cambria Math" panose="02040503050406030204" pitchFamily="18" charset="0"/>
                          </a:rPr>
                          <m:t>1</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𝑋</m:t>
                        </m:r>
                      </m:e>
                    </m:d>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𝑙</m:t>
                        </m:r>
                      </m:e>
                      <m:sub>
                        <m:r>
                          <a:rPr lang="en-GB" b="0" i="1" smtClean="0">
                            <a:latin typeface="Cambria Math" panose="02040503050406030204" pitchFamily="18" charset="0"/>
                          </a:rPr>
                          <m:t>1</m:t>
                        </m:r>
                      </m:sub>
                    </m:sSub>
                    <m:d>
                      <m:dPr>
                        <m:ctrlPr>
                          <a:rPr lang="en-GB" i="1">
                            <a:latin typeface="Cambria Math" panose="02040503050406030204" pitchFamily="18" charset="0"/>
                          </a:rPr>
                        </m:ctrlPr>
                      </m:dPr>
                      <m:e>
                        <m:r>
                          <a:rPr lang="en-GB" b="0" i="1" smtClean="0">
                            <a:latin typeface="Cambria Math" panose="02040503050406030204" pitchFamily="18" charset="0"/>
                          </a:rPr>
                          <m:t>𝑌</m:t>
                        </m:r>
                      </m:e>
                    </m:d>
                    <m:r>
                      <a:rPr lang="en-GB" i="1">
                        <a:latin typeface="Cambria Math" panose="02040503050406030204" pitchFamily="18" charset="0"/>
                      </a:rPr>
                      <m:t>;</m:t>
                    </m:r>
                    <m:r>
                      <a:rPr lang="en-GB" b="0" i="1" smtClean="0">
                        <a:latin typeface="Cambria Math" panose="02040503050406030204" pitchFamily="18" charset="0"/>
                      </a:rPr>
                      <m:t>…</m:t>
                    </m:r>
                  </m:oMath>
                </a14:m>
                <a:endParaRPr lang="en-GB" b="0" dirty="0"/>
              </a:p>
              <a:p>
                <a:pPr lvl="1"/>
                <a:r>
                  <a:rPr lang="en-GB" b="0" dirty="0"/>
                  <a:t>Transaction 2: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𝑙</m:t>
                        </m:r>
                      </m:e>
                      <m:sub>
                        <m:r>
                          <a:rPr lang="en-GB" b="0" i="1" smtClean="0">
                            <a:latin typeface="Cambria Math" panose="02040503050406030204" pitchFamily="18" charset="0"/>
                          </a:rPr>
                          <m:t>2</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𝑌</m:t>
                        </m:r>
                      </m:e>
                    </m:d>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𝑙</m:t>
                        </m:r>
                      </m:e>
                      <m:sub>
                        <m:r>
                          <a:rPr lang="en-GB" b="0" i="1" smtClean="0">
                            <a:latin typeface="Cambria Math" panose="02040503050406030204" pitchFamily="18" charset="0"/>
                          </a:rPr>
                          <m:t>2</m:t>
                        </m:r>
                      </m:sub>
                    </m:sSub>
                    <m:d>
                      <m:dPr>
                        <m:ctrlPr>
                          <a:rPr lang="en-GB" i="1">
                            <a:latin typeface="Cambria Math" panose="02040503050406030204" pitchFamily="18" charset="0"/>
                          </a:rPr>
                        </m:ctrlPr>
                      </m:dPr>
                      <m:e>
                        <m:r>
                          <a:rPr lang="en-GB" b="0" i="1" smtClean="0">
                            <a:latin typeface="Cambria Math" panose="02040503050406030204" pitchFamily="18" charset="0"/>
                          </a:rPr>
                          <m:t>𝑋</m:t>
                        </m:r>
                      </m:e>
                    </m:d>
                    <m:r>
                      <a:rPr lang="en-GB" i="1">
                        <a:latin typeface="Cambria Math" panose="02040503050406030204" pitchFamily="18" charset="0"/>
                      </a:rPr>
                      <m:t>;</m:t>
                    </m:r>
                    <m:r>
                      <a:rPr lang="en-GB" b="0" i="1" smtClean="0">
                        <a:latin typeface="Cambria Math" panose="02040503050406030204" pitchFamily="18" charset="0"/>
                      </a:rPr>
                      <m:t>…</m:t>
                    </m:r>
                  </m:oMath>
                </a14:m>
                <a:endParaRPr lang="en-AT" dirty="0"/>
              </a:p>
              <a:p>
                <a:r>
                  <a:rPr lang="en-AT" dirty="0"/>
                  <a:t>Then, if we first do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𝑙</m:t>
                        </m:r>
                      </m:e>
                      <m:sub>
                        <m:r>
                          <a:rPr lang="en-GB" b="0" i="1" smtClean="0">
                            <a:latin typeface="Cambria Math" panose="02040503050406030204" pitchFamily="18" charset="0"/>
                          </a:rPr>
                          <m:t>1</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𝑋</m:t>
                        </m:r>
                      </m:e>
                    </m:d>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𝑙</m:t>
                        </m:r>
                      </m:e>
                      <m:sub>
                        <m:r>
                          <a:rPr lang="en-GB" i="1">
                            <a:latin typeface="Cambria Math" panose="02040503050406030204" pitchFamily="18" charset="0"/>
                          </a:rPr>
                          <m:t>2</m:t>
                        </m:r>
                      </m:sub>
                    </m:sSub>
                    <m:d>
                      <m:dPr>
                        <m:ctrlPr>
                          <a:rPr lang="en-GB" i="1">
                            <a:latin typeface="Cambria Math" panose="02040503050406030204" pitchFamily="18" charset="0"/>
                          </a:rPr>
                        </m:ctrlPr>
                      </m:dPr>
                      <m:e>
                        <m:r>
                          <a:rPr lang="en-GB" i="1">
                            <a:latin typeface="Cambria Math" panose="02040503050406030204" pitchFamily="18" charset="0"/>
                          </a:rPr>
                          <m:t>𝑌</m:t>
                        </m:r>
                      </m:e>
                    </m:d>
                    <m:r>
                      <a:rPr lang="en-GB" i="1">
                        <a:latin typeface="Cambria Math" panose="02040503050406030204" pitchFamily="18" charset="0"/>
                      </a:rPr>
                      <m:t>;</m:t>
                    </m:r>
                  </m:oMath>
                </a14:m>
                <a:r>
                  <a:rPr lang="en-AT" dirty="0"/>
                  <a:t> in the prefix of a schedule, we are stuck: We can’t do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𝑙</m:t>
                        </m:r>
                      </m:e>
                      <m:sub>
                        <m:r>
                          <a:rPr lang="en-GB" i="1">
                            <a:latin typeface="Cambria Math" panose="02040503050406030204" pitchFamily="18" charset="0"/>
                          </a:rPr>
                          <m:t>1</m:t>
                        </m:r>
                      </m:sub>
                    </m:sSub>
                    <m:d>
                      <m:dPr>
                        <m:ctrlPr>
                          <a:rPr lang="en-GB" i="1">
                            <a:latin typeface="Cambria Math" panose="02040503050406030204" pitchFamily="18" charset="0"/>
                          </a:rPr>
                        </m:ctrlPr>
                      </m:dPr>
                      <m:e>
                        <m:r>
                          <a:rPr lang="en-GB" i="1">
                            <a:latin typeface="Cambria Math" panose="02040503050406030204" pitchFamily="18" charset="0"/>
                          </a:rPr>
                          <m:t>𝑌</m:t>
                        </m:r>
                      </m:e>
                    </m:d>
                    <m:r>
                      <a:rPr lang="en-GB" i="1">
                        <a:latin typeface="Cambria Math" panose="02040503050406030204" pitchFamily="18" charset="0"/>
                      </a:rPr>
                      <m:t>;</m:t>
                    </m:r>
                  </m:oMath>
                </a14:m>
                <a:r>
                  <a:rPr lang="en-AT" dirty="0"/>
                  <a:t> because Transaction 2 has the lock on Y, we can’t do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𝑙</m:t>
                        </m:r>
                      </m:e>
                      <m:sub>
                        <m:r>
                          <a:rPr lang="en-GB" i="1">
                            <a:latin typeface="Cambria Math" panose="02040503050406030204" pitchFamily="18" charset="0"/>
                          </a:rPr>
                          <m:t>2</m:t>
                        </m:r>
                      </m:sub>
                    </m:sSub>
                    <m:d>
                      <m:dPr>
                        <m:ctrlPr>
                          <a:rPr lang="en-GB" i="1">
                            <a:latin typeface="Cambria Math" panose="02040503050406030204" pitchFamily="18" charset="0"/>
                          </a:rPr>
                        </m:ctrlPr>
                      </m:dPr>
                      <m:e>
                        <m:r>
                          <a:rPr lang="en-GB" i="1">
                            <a:latin typeface="Cambria Math" panose="02040503050406030204" pitchFamily="18" charset="0"/>
                          </a:rPr>
                          <m:t>𝑋</m:t>
                        </m:r>
                      </m:e>
                    </m:d>
                    <m:r>
                      <a:rPr lang="en-GB" i="1">
                        <a:latin typeface="Cambria Math" panose="02040503050406030204" pitchFamily="18" charset="0"/>
                      </a:rPr>
                      <m:t>;</m:t>
                    </m:r>
                  </m:oMath>
                </a14:m>
                <a:r>
                  <a:rPr lang="en-AT" dirty="0"/>
                  <a:t> because Transaction 1 has the lock on X</a:t>
                </a:r>
              </a:p>
            </p:txBody>
          </p:sp>
        </mc:Choice>
        <mc:Fallback>
          <p:sp>
            <p:nvSpPr>
              <p:cNvPr id="3" name="Content Placeholder 2">
                <a:extLst>
                  <a:ext uri="{FF2B5EF4-FFF2-40B4-BE49-F238E27FC236}">
                    <a16:creationId xmlns:a16="http://schemas.microsoft.com/office/drawing/2014/main" id="{F1E057B0-2838-7402-6EF1-9675AD01CC96}"/>
                  </a:ext>
                </a:extLst>
              </p:cNvPr>
              <p:cNvSpPr>
                <a:spLocks noGrp="1" noRot="1" noChangeAspect="1" noMove="1" noResize="1" noEditPoints="1" noAdjustHandles="1" noChangeArrowheads="1" noChangeShapeType="1" noTextEdit="1"/>
              </p:cNvSpPr>
              <p:nvPr>
                <p:ph idx="1"/>
              </p:nvPr>
            </p:nvSpPr>
            <p:spPr>
              <a:blipFill>
                <a:blip r:embed="rId2"/>
                <a:stretch>
                  <a:fillRect t="-1583"/>
                </a:stretch>
              </a:blipFill>
            </p:spPr>
            <p:txBody>
              <a:bodyPr/>
              <a:lstStyle/>
              <a:p>
                <a:r>
                  <a:rPr lang="en-AT">
                    <a:noFill/>
                  </a:rPr>
                  <a:t> </a:t>
                </a:r>
              </a:p>
            </p:txBody>
          </p:sp>
        </mc:Fallback>
      </mc:AlternateContent>
    </p:spTree>
    <p:extLst>
      <p:ext uri="{BB962C8B-B14F-4D97-AF65-F5344CB8AC3E}">
        <p14:creationId xmlns:p14="http://schemas.microsoft.com/office/powerpoint/2010/main" val="108204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5F945-F595-5CB5-D8DC-7CFAC1E7B225}"/>
              </a:ext>
            </a:extLst>
          </p:cNvPr>
          <p:cNvSpPr>
            <a:spLocks noGrp="1"/>
          </p:cNvSpPr>
          <p:nvPr>
            <p:ph type="title"/>
          </p:nvPr>
        </p:nvSpPr>
        <p:spPr/>
        <p:txBody>
          <a:bodyPr/>
          <a:lstStyle/>
          <a:p>
            <a:r>
              <a:rPr lang="en-AT" dirty="0"/>
              <a:t>Are we deadlocked?</a:t>
            </a:r>
          </a:p>
        </p:txBody>
      </p:sp>
      <p:sp>
        <p:nvSpPr>
          <p:cNvPr id="3" name="Content Placeholder 2">
            <a:extLst>
              <a:ext uri="{FF2B5EF4-FFF2-40B4-BE49-F238E27FC236}">
                <a16:creationId xmlns:a16="http://schemas.microsoft.com/office/drawing/2014/main" id="{1ECA71E2-9E05-143B-9AF7-0050D3A64775}"/>
              </a:ext>
            </a:extLst>
          </p:cNvPr>
          <p:cNvSpPr>
            <a:spLocks noGrp="1"/>
          </p:cNvSpPr>
          <p:nvPr>
            <p:ph idx="1"/>
          </p:nvPr>
        </p:nvSpPr>
        <p:spPr/>
        <p:txBody>
          <a:bodyPr/>
          <a:lstStyle/>
          <a:p>
            <a:r>
              <a:rPr lang="en-AT" dirty="0"/>
              <a:t>The simplest way that typically works is to just wait: If a transaction waits for a lock for long, it is likely deadlocked</a:t>
            </a:r>
          </a:p>
          <a:p>
            <a:pPr lvl="1"/>
            <a:r>
              <a:rPr lang="en-AT" dirty="0"/>
              <a:t>This is used in many DBMS. The version of MySQL used in the University computers does it by default</a:t>
            </a:r>
          </a:p>
          <a:p>
            <a:r>
              <a:rPr lang="en-AT" dirty="0"/>
              <a:t>Wait for graphs: Draw a graph of who waits for whom. A deadlock is then a cycle in that graph</a:t>
            </a:r>
          </a:p>
          <a:p>
            <a:pPr lvl="1"/>
            <a:r>
              <a:rPr lang="en-AT" dirty="0"/>
              <a:t>Newer versions of MySQL does this, except if there is above 200 in a cycle, it skips it and just rollback the transaction asking for this. Also the case if there are more than 1000000 locks.</a:t>
            </a:r>
          </a:p>
          <a:p>
            <a:endParaRPr lang="en-AT" dirty="0"/>
          </a:p>
        </p:txBody>
      </p:sp>
    </p:spTree>
    <p:extLst>
      <p:ext uri="{BB962C8B-B14F-4D97-AF65-F5344CB8AC3E}">
        <p14:creationId xmlns:p14="http://schemas.microsoft.com/office/powerpoint/2010/main" val="361381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49FA9-23B3-0B72-E4BF-45F4264F5D11}"/>
              </a:ext>
            </a:extLst>
          </p:cNvPr>
          <p:cNvSpPr>
            <a:spLocks noGrp="1"/>
          </p:cNvSpPr>
          <p:nvPr>
            <p:ph type="title"/>
          </p:nvPr>
        </p:nvSpPr>
        <p:spPr/>
        <p:txBody>
          <a:bodyPr/>
          <a:lstStyle/>
          <a:p>
            <a:r>
              <a:rPr lang="en-AT" dirty="0"/>
              <a:t>Timestamp based approaches</a:t>
            </a:r>
          </a:p>
        </p:txBody>
      </p:sp>
      <p:sp>
        <p:nvSpPr>
          <p:cNvPr id="3" name="Content Placeholder 2">
            <a:extLst>
              <a:ext uri="{FF2B5EF4-FFF2-40B4-BE49-F238E27FC236}">
                <a16:creationId xmlns:a16="http://schemas.microsoft.com/office/drawing/2014/main" id="{723608D2-0170-4E55-9A81-FF300E79C2A8}"/>
              </a:ext>
            </a:extLst>
          </p:cNvPr>
          <p:cNvSpPr>
            <a:spLocks noGrp="1"/>
          </p:cNvSpPr>
          <p:nvPr>
            <p:ph idx="1"/>
          </p:nvPr>
        </p:nvSpPr>
        <p:spPr/>
        <p:txBody>
          <a:bodyPr>
            <a:normAutofit fontScale="85000" lnSpcReduction="20000"/>
          </a:bodyPr>
          <a:lstStyle/>
          <a:p>
            <a:r>
              <a:rPr lang="en-AT" dirty="0"/>
              <a:t>In common for the variants, we see:</a:t>
            </a:r>
          </a:p>
          <a:p>
            <a:pPr lvl="1"/>
            <a:r>
              <a:rPr lang="en-AT" dirty="0"/>
              <a:t>You are older than someone else if you start first</a:t>
            </a:r>
          </a:p>
          <a:p>
            <a:pPr lvl="2"/>
            <a:r>
              <a:rPr lang="en-AT" dirty="0"/>
              <a:t>=You get a timestamp based on start time</a:t>
            </a:r>
          </a:p>
          <a:p>
            <a:pPr lvl="1"/>
            <a:r>
              <a:rPr lang="en-AT" dirty="0"/>
              <a:t>The young ones might die</a:t>
            </a:r>
          </a:p>
          <a:p>
            <a:pPr lvl="2"/>
            <a:r>
              <a:rPr lang="en-AT" dirty="0"/>
              <a:t>Die=rollback and start over (no new timestamp)</a:t>
            </a:r>
          </a:p>
          <a:p>
            <a:pPr marL="114300" indent="0">
              <a:buNone/>
            </a:pPr>
            <a:endParaRPr lang="en-AT" dirty="0"/>
          </a:p>
          <a:p>
            <a:r>
              <a:rPr lang="en-AT" dirty="0"/>
              <a:t>There are two variants:</a:t>
            </a:r>
          </a:p>
          <a:p>
            <a:pPr lvl="1"/>
            <a:r>
              <a:rPr lang="en-AT" dirty="0"/>
              <a:t>Wait-die: You die if an older transaction has a lock you want</a:t>
            </a:r>
          </a:p>
          <a:p>
            <a:pPr lvl="1"/>
            <a:r>
              <a:rPr lang="en-AT" dirty="0"/>
              <a:t>Wound-wait: You die if an older transaction wants a lock you have</a:t>
            </a:r>
          </a:p>
          <a:p>
            <a:endParaRPr lang="en-AT" dirty="0"/>
          </a:p>
          <a:p>
            <a:r>
              <a:rPr lang="en-AT" dirty="0"/>
              <a:t>It is trivial to see that we can’t have a deadlock: A deadlock is a cycle in the wait-for graph and there must be at least one place where an older transaction waits for a younger one and a younger transaction waits for an older</a:t>
            </a:r>
          </a:p>
        </p:txBody>
      </p:sp>
    </p:spTree>
    <p:extLst>
      <p:ext uri="{BB962C8B-B14F-4D97-AF65-F5344CB8AC3E}">
        <p14:creationId xmlns:p14="http://schemas.microsoft.com/office/powerpoint/2010/main" val="326802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7489-131F-082E-2A4E-C789AF1ABB75}"/>
              </a:ext>
            </a:extLst>
          </p:cNvPr>
          <p:cNvSpPr>
            <a:spLocks noGrp="1"/>
          </p:cNvSpPr>
          <p:nvPr>
            <p:ph type="title"/>
          </p:nvPr>
        </p:nvSpPr>
        <p:spPr>
          <a:xfrm>
            <a:off x="214313" y="325438"/>
            <a:ext cx="10872787" cy="1143000"/>
          </a:xfrm>
        </p:spPr>
        <p:txBody>
          <a:bodyPr/>
          <a:lstStyle/>
          <a:p>
            <a:r>
              <a:rPr lang="en-AT" dirty="0"/>
              <a:t>Timestamp-based approaches to scheduling</a:t>
            </a:r>
          </a:p>
        </p:txBody>
      </p:sp>
      <p:sp>
        <p:nvSpPr>
          <p:cNvPr id="3" name="Content Placeholder 2">
            <a:extLst>
              <a:ext uri="{FF2B5EF4-FFF2-40B4-BE49-F238E27FC236}">
                <a16:creationId xmlns:a16="http://schemas.microsoft.com/office/drawing/2014/main" id="{0E0B20F6-0E2A-DAC0-64FB-745DEC745F64}"/>
              </a:ext>
            </a:extLst>
          </p:cNvPr>
          <p:cNvSpPr>
            <a:spLocks noGrp="1"/>
          </p:cNvSpPr>
          <p:nvPr>
            <p:ph idx="1"/>
          </p:nvPr>
        </p:nvSpPr>
        <p:spPr/>
        <p:txBody>
          <a:bodyPr/>
          <a:lstStyle/>
          <a:p>
            <a:r>
              <a:rPr lang="en-AT" dirty="0"/>
              <a:t>We also saw a different way of dealing with prob</a:t>
            </a:r>
            <a:r>
              <a:rPr lang="en-GB" dirty="0"/>
              <a:t>le</a:t>
            </a:r>
            <a:r>
              <a:rPr lang="en-AT" dirty="0"/>
              <a:t>ms than locks: timestamp-based approaches</a:t>
            </a:r>
          </a:p>
          <a:p>
            <a:r>
              <a:rPr lang="en-AT" dirty="0"/>
              <a:t>Intuitively, we want each transaction to do everything in the order they started in</a:t>
            </a:r>
          </a:p>
          <a:p>
            <a:pPr lvl="1"/>
            <a:r>
              <a:rPr lang="en-AT" dirty="0"/>
              <a:t>If something messes with that view, we restart some transactions</a:t>
            </a:r>
          </a:p>
          <a:p>
            <a:pPr lvl="1"/>
            <a:r>
              <a:rPr lang="en-AT" dirty="0"/>
              <a:t>As opposed to timestamps for deadlock detection, restarting </a:t>
            </a:r>
            <a:r>
              <a:rPr lang="en-AT" b="1" dirty="0"/>
              <a:t>DOES</a:t>
            </a:r>
            <a:r>
              <a:rPr lang="en-AT" dirty="0"/>
              <a:t> give you a new timestamp!</a:t>
            </a:r>
          </a:p>
          <a:p>
            <a:endParaRPr lang="en-AT" dirty="0"/>
          </a:p>
          <a:p>
            <a:endParaRPr lang="en-AT" dirty="0"/>
          </a:p>
        </p:txBody>
      </p:sp>
    </p:spTree>
    <p:extLst>
      <p:ext uri="{BB962C8B-B14F-4D97-AF65-F5344CB8AC3E}">
        <p14:creationId xmlns:p14="http://schemas.microsoft.com/office/powerpoint/2010/main" val="3652790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A1A9D-88A8-7211-074D-61E03192A5C7}"/>
              </a:ext>
            </a:extLst>
          </p:cNvPr>
          <p:cNvSpPr>
            <a:spLocks noGrp="1"/>
          </p:cNvSpPr>
          <p:nvPr>
            <p:ph type="title"/>
          </p:nvPr>
        </p:nvSpPr>
        <p:spPr/>
        <p:txBody>
          <a:bodyPr/>
          <a:lstStyle/>
          <a:p>
            <a:r>
              <a:rPr lang="en-AT" dirty="0"/>
              <a:t>What? A mess?</a:t>
            </a:r>
          </a:p>
        </p:txBody>
      </p:sp>
      <p:sp>
        <p:nvSpPr>
          <p:cNvPr id="3" name="Content Placeholder 2">
            <a:extLst>
              <a:ext uri="{FF2B5EF4-FFF2-40B4-BE49-F238E27FC236}">
                <a16:creationId xmlns:a16="http://schemas.microsoft.com/office/drawing/2014/main" id="{BAEC63FA-BC99-3EBC-3A94-FBDAD5CEFFB1}"/>
              </a:ext>
            </a:extLst>
          </p:cNvPr>
          <p:cNvSpPr>
            <a:spLocks noGrp="1"/>
          </p:cNvSpPr>
          <p:nvPr>
            <p:ph idx="1"/>
          </p:nvPr>
        </p:nvSpPr>
        <p:spPr/>
        <p:txBody>
          <a:bodyPr/>
          <a:lstStyle/>
          <a:p>
            <a:r>
              <a:rPr lang="en-AT" dirty="0"/>
              <a:t>We have two variants:</a:t>
            </a:r>
          </a:p>
          <a:p>
            <a:pPr lvl="1"/>
            <a:r>
              <a:rPr lang="en-AT" dirty="0"/>
              <a:t>Basic</a:t>
            </a:r>
          </a:p>
          <a:p>
            <a:pPr lvl="1"/>
            <a:r>
              <a:rPr lang="en-AT" dirty="0"/>
              <a:t>MVCC</a:t>
            </a:r>
          </a:p>
          <a:p>
            <a:endParaRPr lang="en-AT" dirty="0"/>
          </a:p>
          <a:p>
            <a:r>
              <a:rPr lang="en-AT" dirty="0"/>
              <a:t>Basic: We give each item a read-timestamp and a write time-stamp for when they were last read/written to</a:t>
            </a:r>
          </a:p>
          <a:p>
            <a:pPr lvl="1"/>
            <a:r>
              <a:rPr lang="en-AT" dirty="0"/>
              <a:t>If you try to write and the read or write timestamp is later than your timestamp, you restart (otherwise things are fine)</a:t>
            </a:r>
          </a:p>
          <a:p>
            <a:pPr lvl="1"/>
            <a:r>
              <a:rPr lang="en-AT" dirty="0"/>
              <a:t>If you try to read and the write timestamp is later than your timestamp, you restart (otherwise things are fine)</a:t>
            </a:r>
          </a:p>
        </p:txBody>
      </p:sp>
    </p:spTree>
    <p:extLst>
      <p:ext uri="{BB962C8B-B14F-4D97-AF65-F5344CB8AC3E}">
        <p14:creationId xmlns:p14="http://schemas.microsoft.com/office/powerpoint/2010/main" val="3501145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6D97E-3948-7538-90D2-A387004CC6AB}"/>
              </a:ext>
            </a:extLst>
          </p:cNvPr>
          <p:cNvSpPr>
            <a:spLocks noGrp="1"/>
          </p:cNvSpPr>
          <p:nvPr>
            <p:ph type="title"/>
          </p:nvPr>
        </p:nvSpPr>
        <p:spPr/>
        <p:txBody>
          <a:bodyPr/>
          <a:lstStyle/>
          <a:p>
            <a:r>
              <a:rPr lang="en-AT" dirty="0"/>
              <a:t>MVCC</a:t>
            </a:r>
          </a:p>
        </p:txBody>
      </p:sp>
      <p:sp>
        <p:nvSpPr>
          <p:cNvPr id="3" name="Content Placeholder 2">
            <a:extLst>
              <a:ext uri="{FF2B5EF4-FFF2-40B4-BE49-F238E27FC236}">
                <a16:creationId xmlns:a16="http://schemas.microsoft.com/office/drawing/2014/main" id="{91EE2D6F-889F-7CB2-63EA-6C12948D7FF0}"/>
              </a:ext>
            </a:extLst>
          </p:cNvPr>
          <p:cNvSpPr>
            <a:spLocks noGrp="1"/>
          </p:cNvSpPr>
          <p:nvPr>
            <p:ph idx="1"/>
          </p:nvPr>
        </p:nvSpPr>
        <p:spPr/>
        <p:txBody>
          <a:bodyPr/>
          <a:lstStyle/>
          <a:p>
            <a:r>
              <a:rPr lang="en-AT" dirty="0"/>
              <a:t>In MVCC, we have many versions of each variable, one for each time it was written to</a:t>
            </a:r>
          </a:p>
          <a:p>
            <a:pPr lvl="1"/>
            <a:r>
              <a:rPr lang="en-AT" dirty="0"/>
              <a:t>Each has a read time as well!</a:t>
            </a:r>
          </a:p>
          <a:p>
            <a:endParaRPr lang="en-AT" dirty="0"/>
          </a:p>
          <a:p>
            <a:r>
              <a:rPr lang="en-AT" dirty="0"/>
              <a:t>If you try to read in MVCC, you get the version with the largest timestamp smaller than yours</a:t>
            </a:r>
          </a:p>
          <a:p>
            <a:r>
              <a:rPr lang="en-AT" dirty="0"/>
              <a:t>If you try to write, you check if the version with the the largest timestamp smaller than yours had a bigger read time than your own timestamp, if so, you restart otherwise, you write a new version of the variable </a:t>
            </a:r>
          </a:p>
          <a:p>
            <a:endParaRPr lang="en-AT" dirty="0"/>
          </a:p>
        </p:txBody>
      </p:sp>
    </p:spTree>
    <p:extLst>
      <p:ext uri="{BB962C8B-B14F-4D97-AF65-F5344CB8AC3E}">
        <p14:creationId xmlns:p14="http://schemas.microsoft.com/office/powerpoint/2010/main" val="2925775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6BF1C-D655-AC0B-E290-79DE4D3AE104}"/>
              </a:ext>
            </a:extLst>
          </p:cNvPr>
          <p:cNvSpPr>
            <a:spLocks noGrp="1"/>
          </p:cNvSpPr>
          <p:nvPr>
            <p:ph type="title"/>
          </p:nvPr>
        </p:nvSpPr>
        <p:spPr/>
        <p:txBody>
          <a:bodyPr/>
          <a:lstStyle/>
          <a:p>
            <a:r>
              <a:rPr lang="en-AT" dirty="0"/>
              <a:t>Strict versions</a:t>
            </a:r>
          </a:p>
        </p:txBody>
      </p:sp>
      <p:sp>
        <p:nvSpPr>
          <p:cNvPr id="3" name="Content Placeholder 2">
            <a:extLst>
              <a:ext uri="{FF2B5EF4-FFF2-40B4-BE49-F238E27FC236}">
                <a16:creationId xmlns:a16="http://schemas.microsoft.com/office/drawing/2014/main" id="{F4E25EBD-E38C-B540-ADD3-559FA6F1112D}"/>
              </a:ext>
            </a:extLst>
          </p:cNvPr>
          <p:cNvSpPr>
            <a:spLocks noGrp="1"/>
          </p:cNvSpPr>
          <p:nvPr>
            <p:ph idx="1"/>
          </p:nvPr>
        </p:nvSpPr>
        <p:spPr/>
        <p:txBody>
          <a:bodyPr/>
          <a:lstStyle/>
          <a:p>
            <a:r>
              <a:rPr lang="en-AT" dirty="0"/>
              <a:t>We can also do strict, by only allowing you to read/write to variables after other transactions that access them have committed</a:t>
            </a:r>
          </a:p>
        </p:txBody>
      </p:sp>
    </p:spTree>
    <p:extLst>
      <p:ext uri="{BB962C8B-B14F-4D97-AF65-F5344CB8AC3E}">
        <p14:creationId xmlns:p14="http://schemas.microsoft.com/office/powerpoint/2010/main" val="983118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20189-FBA1-64A4-1E41-30697B3260A3}"/>
              </a:ext>
            </a:extLst>
          </p:cNvPr>
          <p:cNvSpPr>
            <a:spLocks noGrp="1"/>
          </p:cNvSpPr>
          <p:nvPr>
            <p:ph type="title"/>
          </p:nvPr>
        </p:nvSpPr>
        <p:spPr>
          <a:xfrm>
            <a:off x="95240" y="26109"/>
            <a:ext cx="10363200" cy="594626"/>
          </a:xfrm>
        </p:spPr>
        <p:txBody>
          <a:bodyPr vert="horz" lIns="91440" tIns="45720" rIns="91440" bIns="45720" rtlCol="0" anchor="b" anchorCtr="0">
            <a:normAutofit/>
          </a:bodyPr>
          <a:lstStyle/>
          <a:p>
            <a:r>
              <a:rPr lang="en-AT" dirty="0"/>
              <a:t>Happy Halloween!</a:t>
            </a:r>
          </a:p>
        </p:txBody>
      </p:sp>
      <p:pic>
        <p:nvPicPr>
          <p:cNvPr id="1026" name="Picture 2" descr="Halloween background in flat design">
            <a:extLst>
              <a:ext uri="{FF2B5EF4-FFF2-40B4-BE49-F238E27FC236}">
                <a16:creationId xmlns:a16="http://schemas.microsoft.com/office/drawing/2014/main" id="{5227F827-5AD3-9C44-C0F5-F8D15BF90732}"/>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t="26844"/>
          <a:stretch/>
        </p:blipFill>
        <p:spPr bwMode="auto">
          <a:xfrm>
            <a:off x="0" y="750875"/>
            <a:ext cx="11277580" cy="5486390"/>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E2251EC-E871-3D0E-7EC0-743EDD69D010}"/>
              </a:ext>
            </a:extLst>
          </p:cNvPr>
          <p:cNvSpPr txBox="1"/>
          <p:nvPr/>
        </p:nvSpPr>
        <p:spPr>
          <a:xfrm>
            <a:off x="7946136" y="6237265"/>
            <a:ext cx="3198114" cy="618744"/>
          </a:xfrm>
          <a:prstGeom prst="rect">
            <a:avLst/>
          </a:prstGeom>
        </p:spPr>
        <p:txBody>
          <a:bodyPr vert="horz" lIns="91440" tIns="45720" rIns="91440" bIns="45720" rtlCol="0">
            <a:normAutofit fontScale="85000" lnSpcReduction="20000"/>
          </a:bodyPr>
          <a:lstStyle/>
          <a:p>
            <a:pPr algn="ctr" defTabSz="914400">
              <a:spcBef>
                <a:spcPct val="20000"/>
              </a:spcBef>
              <a:buClr>
                <a:schemeClr val="accent1"/>
              </a:buClr>
            </a:pPr>
            <a:r>
              <a:rPr lang="en-GB" sz="1600" kern="1200" dirty="0">
                <a:latin typeface="Arial"/>
                <a:ea typeface="+mn-ea"/>
                <a:cs typeface="+mn-cs"/>
              </a:rPr>
              <a:t>"image: </a:t>
            </a:r>
            <a:r>
              <a:rPr lang="en-GB" sz="1600" kern="1200" dirty="0" err="1">
                <a:latin typeface="Arial"/>
                <a:ea typeface="+mn-ea"/>
                <a:cs typeface="+mn-cs"/>
              </a:rPr>
              <a:t>Freepik.com</a:t>
            </a:r>
            <a:r>
              <a:rPr lang="en-GB" sz="1600" kern="1200" dirty="0">
                <a:latin typeface="Arial"/>
                <a:ea typeface="+mn-ea"/>
                <a:cs typeface="+mn-cs"/>
              </a:rPr>
              <a:t>". This slide has been designed using assets from </a:t>
            </a:r>
            <a:r>
              <a:rPr lang="en-GB" sz="1600" kern="1200" dirty="0" err="1">
                <a:latin typeface="Arial"/>
                <a:ea typeface="+mn-ea"/>
                <a:cs typeface="+mn-cs"/>
              </a:rPr>
              <a:t>Freepik.com</a:t>
            </a:r>
            <a:r>
              <a:rPr lang="en-GB" sz="1600" kern="1200" dirty="0">
                <a:latin typeface="Arial"/>
                <a:ea typeface="+mn-ea"/>
                <a:cs typeface="+mn-cs"/>
              </a:rPr>
              <a:t> </a:t>
            </a:r>
          </a:p>
        </p:txBody>
      </p:sp>
    </p:spTree>
    <p:extLst>
      <p:ext uri="{BB962C8B-B14F-4D97-AF65-F5344CB8AC3E}">
        <p14:creationId xmlns:p14="http://schemas.microsoft.com/office/powerpoint/2010/main" val="13394964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ST theme powerpoint">
  <a:themeElements>
    <a:clrScheme name="Custom 8">
      <a:dk1>
        <a:srgbClr val="374C22"/>
      </a:dk1>
      <a:lt1>
        <a:sysClr val="window" lastClr="FFFFFF"/>
      </a:lt1>
      <a:dk2>
        <a:srgbClr val="194431"/>
      </a:dk2>
      <a:lt2>
        <a:srgbClr val="F0E6C3"/>
      </a:lt2>
      <a:accent1>
        <a:srgbClr val="F8C000"/>
      </a:accent1>
      <a:accent2>
        <a:srgbClr val="F88600"/>
      </a:accent2>
      <a:accent3>
        <a:srgbClr val="F83500"/>
      </a:accent3>
      <a:accent4>
        <a:srgbClr val="8B723D"/>
      </a:accent4>
      <a:accent5>
        <a:srgbClr val="818B3D"/>
      </a:accent5>
      <a:accent6>
        <a:srgbClr val="586215"/>
      </a:accent6>
      <a:hlink>
        <a:srgbClr val="FF621D"/>
      </a:hlink>
      <a:folHlink>
        <a:srgbClr val="F3D260"/>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spDef>
      <a:spPr>
        <a:ln w="63500">
          <a:tailEnd type="triangle"/>
        </a:ln>
      </a:spPr>
      <a:bodyPr rtlCol="0" anchor="ctr"/>
      <a:lstStyle>
        <a:defPPr algn="ctr">
          <a:defRPr/>
        </a:defPPr>
      </a:lstStyle>
      <a:style>
        <a:lnRef idx="2">
          <a:schemeClr val="accent1"/>
        </a:lnRef>
        <a:fillRef idx="0">
          <a:schemeClr val="accent1"/>
        </a:fillRef>
        <a:effectRef idx="1">
          <a:schemeClr val="accent1"/>
        </a:effectRef>
        <a:fontRef idx="minor">
          <a:schemeClr val="tx1"/>
        </a:fontRef>
      </a:style>
    </a:spDef>
    <a:lnDef>
      <a:spPr>
        <a:ln w="63500">
          <a:tailEnd type="triangle"/>
        </a:ln>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IST theme powerpoint</Template>
  <TotalTime>285</TotalTime>
  <Words>841</Words>
  <Application>Microsoft Macintosh PowerPoint</Application>
  <PresentationFormat>Widescreen</PresentationFormat>
  <Paragraphs>61</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Cambria Math</vt:lpstr>
      <vt:lpstr>IST theme powerpoint</vt:lpstr>
      <vt:lpstr>Lecture 11</vt:lpstr>
      <vt:lpstr>Overview</vt:lpstr>
      <vt:lpstr>Weekly survey</vt:lpstr>
      <vt:lpstr>Weekly survey part 2</vt:lpstr>
      <vt:lpstr>Deadlocks</vt:lpstr>
      <vt:lpstr>Are we deadlocked?</vt:lpstr>
      <vt:lpstr>Timestamp based approaches</vt:lpstr>
      <vt:lpstr>Timestamp-based approaches to scheduling</vt:lpstr>
      <vt:lpstr>What? A mess?</vt:lpstr>
      <vt:lpstr>MVCC</vt:lpstr>
      <vt:lpstr>Strict versions</vt:lpstr>
      <vt:lpstr>Happy Halloween!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dc:title>
  <dc:creator>Ibsen-Jensen, Rasmus</dc:creator>
  <cp:lastModifiedBy>Ibsen-Jensen, Rasmus</cp:lastModifiedBy>
  <cp:revision>1</cp:revision>
  <dcterms:created xsi:type="dcterms:W3CDTF">2023-10-30T17:22:01Z</dcterms:created>
  <dcterms:modified xsi:type="dcterms:W3CDTF">2023-10-30T22:07:12Z</dcterms:modified>
</cp:coreProperties>
</file>