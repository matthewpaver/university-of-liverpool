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347" r:id="rId8"/>
    <p:sldId id="370" r:id="rId9"/>
    <p:sldId id="364" r:id="rId10"/>
    <p:sldId id="393" r:id="rId11"/>
    <p:sldId id="395" r:id="rId12"/>
    <p:sldId id="396" r:id="rId13"/>
    <p:sldId id="444" r:id="rId14"/>
    <p:sldId id="445" r:id="rId15"/>
    <p:sldId id="446" r:id="rId16"/>
    <p:sldId id="412" r:id="rId17"/>
    <p:sldId id="41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90" d="100"/>
          <a:sy n="90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1320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259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3497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7496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3859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85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3249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202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6144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0572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71D2376-54D2-9B45-B69F-8B465DD7FE27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4AF7434F-B1F3-A94A-B5C9-8EFA464B1F71}" type="datetimeFigureOut">
              <a:rPr lang="en-AT" smtClean="0"/>
              <a:t>06.11.23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1774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7.png"/><Relationship Id="rId5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90.png"/><Relationship Id="rId5" Type="http://schemas.openxmlformats.org/officeDocument/2006/relationships/image" Target="../media/image2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A8F8-9AD1-F050-0C9D-BBED29487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336A5-9556-98D4-8919-30B32B54F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COMP207</a:t>
            </a:r>
          </a:p>
        </p:txBody>
      </p:sp>
    </p:spTree>
    <p:extLst>
      <p:ext uri="{BB962C8B-B14F-4D97-AF65-F5344CB8AC3E}">
        <p14:creationId xmlns:p14="http://schemas.microsoft.com/office/powerpoint/2010/main" val="73953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A507-A486-CEFE-4064-9BCA0029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87AA-05C9-5FFA-11F1-4C546ECAA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Weekly assessment</a:t>
            </a:r>
          </a:p>
          <a:p>
            <a:r>
              <a:rPr lang="en-AT" dirty="0"/>
              <a:t>Practical SQL assessment</a:t>
            </a:r>
          </a:p>
          <a:p>
            <a:r>
              <a:rPr lang="en-AT" dirty="0"/>
              <a:t>Weekly survey</a:t>
            </a:r>
          </a:p>
          <a:p>
            <a:r>
              <a:rPr lang="en-AT" dirty="0"/>
              <a:t>Week 7 module will only be covered Thursday!</a:t>
            </a:r>
          </a:p>
          <a:p>
            <a:r>
              <a:rPr lang="en-AT" dirty="0"/>
              <a:t>A bit more on index</a:t>
            </a:r>
          </a:p>
          <a:p>
            <a:r>
              <a:rPr lang="en-AT" dirty="0"/>
              <a:t>Optimizing query plans</a:t>
            </a:r>
          </a:p>
          <a:p>
            <a:r>
              <a:rPr lang="en-AT" dirty="0"/>
              <a:t>Physical query plans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15734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71E6-C76C-9B59-F6CB-420C4BAC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Practical SQL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8166-83C9-2707-3427-C87B1E49D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T" dirty="0"/>
              <a:t>How to find what error you made if CodeGrade says a table is missing:</a:t>
            </a:r>
          </a:p>
          <a:p>
            <a:pPr lvl="1"/>
            <a:r>
              <a:rPr lang="en-AT" dirty="0"/>
              <a:t>Click on &gt; besides Setup, scroll down to Per Student Setup and then click on stderr</a:t>
            </a:r>
          </a:p>
          <a:p>
            <a:r>
              <a:rPr lang="en-AT" dirty="0"/>
              <a:t>Plagiarism: Is it a good idea?</a:t>
            </a:r>
          </a:p>
          <a:p>
            <a:pPr lvl="1"/>
            <a:r>
              <a:rPr lang="en-AT" dirty="0"/>
              <a:t>Every year a few % get caught</a:t>
            </a:r>
          </a:p>
          <a:p>
            <a:pPr lvl="1"/>
            <a:r>
              <a:rPr lang="en-AT" dirty="0"/>
              <a:t>They get 0 on their assessment (or course if they did it before – or perhaps get thrown out of the programme)</a:t>
            </a:r>
          </a:p>
          <a:p>
            <a:pPr lvl="1"/>
            <a:r>
              <a:rPr lang="en-AT" dirty="0"/>
              <a:t>If you first start now, you should still easily be able to do the first few and get a passing mark. It might be hard to do 5-7 (getting your grade from 70 to 100) though if you have not spent any time on SQL before</a:t>
            </a:r>
          </a:p>
        </p:txBody>
      </p:sp>
    </p:spTree>
    <p:extLst>
      <p:ext uri="{BB962C8B-B14F-4D97-AF65-F5344CB8AC3E}">
        <p14:creationId xmlns:p14="http://schemas.microsoft.com/office/powerpoint/2010/main" val="424001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A778-4749-972D-C590-FE0AC52D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Weekly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C879-0E26-DA25-B02E-2F883C23D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No answers this week</a:t>
            </a:r>
          </a:p>
          <a:p>
            <a:pPr lvl="1"/>
            <a:r>
              <a:rPr lang="en-AT" dirty="0"/>
              <a:t>I imagine most are working on the assignment</a:t>
            </a:r>
          </a:p>
        </p:txBody>
      </p:sp>
    </p:spTree>
    <p:extLst>
      <p:ext uri="{BB962C8B-B14F-4D97-AF65-F5344CB8AC3E}">
        <p14:creationId xmlns:p14="http://schemas.microsoft.com/office/powerpoint/2010/main" val="164719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7781-C301-E3C5-F52B-91AB12CF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Week 7 module = only covered Thursday!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100D-094A-5AC0-FC16-ABA159F73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We have 10 weeks of material and used the first lecture on an overview…</a:t>
            </a:r>
          </a:p>
          <a:p>
            <a:pPr lvl="1"/>
            <a:r>
              <a:rPr lang="en-AT" dirty="0"/>
              <a:t>(There is also the lesser problem that I would like to use some time for feedback on the SQL assignment + a bit directly about the exam)</a:t>
            </a:r>
          </a:p>
          <a:p>
            <a:pPr lvl="1"/>
            <a:r>
              <a:rPr lang="en-AT" dirty="0"/>
              <a:t>Feedback is coming Tuesday, not next week but the week after</a:t>
            </a:r>
          </a:p>
          <a:p>
            <a:endParaRPr lang="en-AT" dirty="0"/>
          </a:p>
          <a:p>
            <a:r>
              <a:rPr lang="en-AT" dirty="0"/>
              <a:t>Week 7 is small anyway, so I chose that to be short…</a:t>
            </a:r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674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1FB4-5DC6-041C-746D-AA613E9B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More on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349D7-8F8A-644B-3C79-18A4551E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30" y="1600200"/>
            <a:ext cx="10591470" cy="4800600"/>
          </a:xfrm>
        </p:spPr>
        <p:txBody>
          <a:bodyPr>
            <a:normAutofit lnSpcReduction="10000"/>
          </a:bodyPr>
          <a:lstStyle/>
          <a:p>
            <a:r>
              <a:rPr lang="en-AT" dirty="0"/>
              <a:t>What are Hash index and B++ tree index?</a:t>
            </a:r>
          </a:p>
          <a:p>
            <a:r>
              <a:rPr lang="en-AT" dirty="0"/>
              <a:t>Hash index depends on how many values N you want to store </a:t>
            </a:r>
          </a:p>
          <a:p>
            <a:pPr lvl="1"/>
            <a:r>
              <a:rPr lang="en-AT" dirty="0"/>
              <a:t>That said if you end up storing a factor more/less, you just redo the computation, which, due to the factor does not end up costing much more</a:t>
            </a:r>
          </a:p>
          <a:p>
            <a:r>
              <a:rPr lang="en-AT" dirty="0"/>
              <a:t>Given a value you want to store, you do some computation that will produce a (mostly) unique key x from 1 to N and store it in spot </a:t>
            </a:r>
            <a:r>
              <a:rPr lang="en-GB" dirty="0"/>
              <a:t>x</a:t>
            </a:r>
          </a:p>
          <a:p>
            <a:r>
              <a:rPr lang="en-GB" dirty="0"/>
              <a:t>We can then find if we have a given value by doing the same computation again and see if anything is stored in spot x</a:t>
            </a:r>
          </a:p>
          <a:p>
            <a:pPr lvl="1"/>
            <a:r>
              <a:rPr lang="en-GB" dirty="0"/>
              <a:t>Hence, fast for doing equalities but can’t really do anything else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100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Level vs Multi-Level Indexes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level index: stored in single list</a:t>
            </a:r>
          </a:p>
          <a:p>
            <a:r>
              <a:rPr lang="en-US" dirty="0"/>
              <a:t>Multi-level index: distributed across </a:t>
            </a:r>
            <a:br>
              <a:rPr lang="en-US" dirty="0"/>
            </a:br>
            <a:r>
              <a:rPr lang="en-US" dirty="0"/>
              <a:t>different layers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7033" y="3356992"/>
          <a:ext cx="1620736" cy="18542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84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29940" y="3556215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1001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746164" y="2673699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46164" y="4545907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1201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1301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 rot="5400000">
            <a:off x="7294562" y="61034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62388" y="1809603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762388" y="3588387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121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131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7" name="Elbow Connector 26"/>
          <p:cNvCxnSpPr/>
          <p:nvPr/>
        </p:nvCxnSpPr>
        <p:spPr>
          <a:xfrm flipV="1">
            <a:off x="6170100" y="2849887"/>
            <a:ext cx="576064" cy="1191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>
            <a:off x="6170100" y="4420311"/>
            <a:ext cx="576064" cy="255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Elbow Connector 53"/>
          <p:cNvCxnSpPr/>
          <p:nvPr/>
        </p:nvCxnSpPr>
        <p:spPr>
          <a:xfrm flipV="1">
            <a:off x="8186324" y="1991060"/>
            <a:ext cx="576064" cy="1191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Elbow Connector 54"/>
          <p:cNvCxnSpPr/>
          <p:nvPr/>
        </p:nvCxnSpPr>
        <p:spPr>
          <a:xfrm>
            <a:off x="8186324" y="3511362"/>
            <a:ext cx="576064" cy="255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 rot="5400000">
            <a:off x="9310786" y="52696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57" name="Rounded Rectangular Callout 56"/>
          <p:cNvSpPr/>
          <p:nvPr/>
        </p:nvSpPr>
        <p:spPr>
          <a:xfrm>
            <a:off x="5068700" y="5384708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Level 1</a:t>
            </a:r>
            <a:endParaRPr lang="en-US" dirty="0"/>
          </a:p>
        </p:txBody>
      </p:sp>
      <p:sp>
        <p:nvSpPr>
          <p:cNvPr id="58" name="Rounded Rectangular Callout 57"/>
          <p:cNvSpPr/>
          <p:nvPr/>
        </p:nvSpPr>
        <p:spPr>
          <a:xfrm>
            <a:off x="1847528" y="5425466"/>
            <a:ext cx="1331544" cy="595822"/>
          </a:xfrm>
          <a:prstGeom prst="wedgeRoundRectCallout">
            <a:avLst>
              <a:gd name="adj1" fmla="val 20245"/>
              <a:gd name="adj2" fmla="val -716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Single-level index</a:t>
            </a:r>
            <a:endParaRPr lang="en-US" dirty="0"/>
          </a:p>
        </p:txBody>
      </p:sp>
      <p:sp>
        <p:nvSpPr>
          <p:cNvPr id="61" name="Rounded Rectangular Callout 60"/>
          <p:cNvSpPr/>
          <p:nvPr/>
        </p:nvSpPr>
        <p:spPr>
          <a:xfrm>
            <a:off x="7589501" y="6360158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Level 2</a:t>
            </a:r>
            <a:endParaRPr lang="en-US" dirty="0"/>
          </a:p>
        </p:txBody>
      </p:sp>
      <p:sp>
        <p:nvSpPr>
          <p:cNvPr id="62" name="Rounded Rectangular Callout 61"/>
          <p:cNvSpPr/>
          <p:nvPr/>
        </p:nvSpPr>
        <p:spPr>
          <a:xfrm>
            <a:off x="9621416" y="5408986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Level 3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9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6" grpId="0"/>
      <p:bldP spid="57" grpId="0" animBg="1"/>
      <p:bldP spid="58" grpId="0" animBg="1"/>
      <p:bldP spid="61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Leaves (Idea)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9692" y="1837112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1"/>
            <a:endCxn id="5" idx="3"/>
          </p:cNvCxnSpPr>
          <p:nvPr/>
        </p:nvCxnSpPr>
        <p:spPr>
          <a:xfrm>
            <a:off x="3819692" y="2341168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431760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043828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492100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43728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4719792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168064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816136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25559" y="183711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7626" y="183711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8289" y="1837113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n</a:t>
            </a:r>
            <a:endParaRPr lang="en-US" baseline="-25000" dirty="0"/>
          </a:p>
        </p:txBody>
      </p:sp>
      <p:cxnSp>
        <p:nvCxnSpPr>
          <p:cNvPr id="35" name="Straight Arrow Connector 34"/>
          <p:cNvCxnSpPr>
            <a:stCxn id="72" idx="2"/>
            <a:endCxn id="36" idx="0"/>
          </p:cNvCxnSpPr>
          <p:nvPr/>
        </p:nvCxnSpPr>
        <p:spPr>
          <a:xfrm flipH="1">
            <a:off x="3719228" y="2638506"/>
            <a:ext cx="269905" cy="66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98682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7" name="Straight Arrow Connector 36"/>
          <p:cNvCxnSpPr>
            <a:stCxn id="73" idx="2"/>
            <a:endCxn id="45" idx="0"/>
          </p:cNvCxnSpPr>
          <p:nvPr/>
        </p:nvCxnSpPr>
        <p:spPr>
          <a:xfrm>
            <a:off x="4431759" y="2635598"/>
            <a:ext cx="1144582" cy="664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55796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122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n</a:t>
            </a:r>
          </a:p>
        </p:txBody>
      </p:sp>
      <p:cxnSp>
        <p:nvCxnSpPr>
          <p:cNvPr id="50" name="Straight Arrow Connector 49"/>
          <p:cNvCxnSpPr>
            <a:stCxn id="74" idx="2"/>
            <a:endCxn id="49" idx="0"/>
          </p:cNvCxnSpPr>
          <p:nvPr/>
        </p:nvCxnSpPr>
        <p:spPr>
          <a:xfrm>
            <a:off x="7492101" y="2630774"/>
            <a:ext cx="187567" cy="669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71415" y="2453839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next </a:t>
            </a:r>
            <a:r>
              <a:rPr lang="en-US" dirty="0">
                <a:solidFill>
                  <a:schemeClr val="accent1"/>
                </a:solidFill>
              </a:rPr>
              <a:t>leaf</a:t>
            </a:r>
            <a:endParaRPr lang="en-US" baseline="-25000" dirty="0">
              <a:solidFill>
                <a:schemeClr val="accent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945058" y="2651501"/>
            <a:ext cx="6108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890463" y="2455899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333090" y="2452992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7393431" y="2448167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3719227" y="1765105"/>
            <a:ext cx="4492953" cy="6547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1981200" y="1796214"/>
            <a:ext cx="1703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 in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increasing order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09834" y="179621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mr-IN" sz="2400"/>
              <a:t>…</a:t>
            </a:r>
            <a:endParaRPr lang="en-US" sz="2400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09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Inner Nodes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125663"/>
            <a:ext cx="8229600" cy="1322589"/>
          </a:xfrm>
        </p:spPr>
        <p:txBody>
          <a:bodyPr>
            <a:normAutofit/>
          </a:bodyPr>
          <a:lstStyle/>
          <a:p>
            <a:r>
              <a:rPr lang="en-US" dirty="0"/>
              <a:t>Pointers point to B+ tree nodes at level below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5760" y="2094119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8" idx="1"/>
            <a:endCxn id="8" idx="3"/>
          </p:cNvCxnSpPr>
          <p:nvPr/>
        </p:nvCxnSpPr>
        <p:spPr>
          <a:xfrm>
            <a:off x="3935760" y="2598175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547828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159896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608168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259796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5860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284132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932204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41627" y="209412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3694" y="209412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4357" y="2094120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n</a:t>
            </a:r>
            <a:endParaRPr lang="en-US" baseline="-25000" dirty="0"/>
          </a:p>
        </p:txBody>
      </p:sp>
      <p:cxnSp>
        <p:nvCxnSpPr>
          <p:cNvPr id="23" name="Straight Arrow Connector 22"/>
          <p:cNvCxnSpPr>
            <a:stCxn id="31" idx="2"/>
            <a:endCxn id="24" idx="0"/>
          </p:cNvCxnSpPr>
          <p:nvPr/>
        </p:nvCxnSpPr>
        <p:spPr>
          <a:xfrm flipH="1">
            <a:off x="3051230" y="2895513"/>
            <a:ext cx="1053970" cy="8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79576" y="3790782"/>
            <a:ext cx="1543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node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for values &lt;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25" name="Straight Arrow Connector 24"/>
          <p:cNvCxnSpPr>
            <a:stCxn id="32" idx="2"/>
            <a:endCxn id="26" idx="0"/>
          </p:cNvCxnSpPr>
          <p:nvPr/>
        </p:nvCxnSpPr>
        <p:spPr>
          <a:xfrm>
            <a:off x="4547828" y="2892606"/>
            <a:ext cx="490833" cy="92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981320" y="3817057"/>
                <a:ext cx="21146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20" y="3817057"/>
                <a:ext cx="2114681" cy="646331"/>
              </a:xfrm>
              <a:prstGeom prst="rect">
                <a:avLst/>
              </a:prstGeom>
              <a:blipFill>
                <a:blip r:embed="rId5"/>
                <a:stretch>
                  <a:fillRect l="-57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75042" y="3817057"/>
                <a:ext cx="21900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n-1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042" y="3817057"/>
                <a:ext cx="2190023" cy="646331"/>
              </a:xfrm>
              <a:prstGeom prst="rect">
                <a:avLst/>
              </a:prstGeom>
              <a:blipFill>
                <a:blip r:embed="rId6"/>
                <a:stretch>
                  <a:fillRect l="-1950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33" idx="2"/>
            <a:endCxn id="27" idx="0"/>
          </p:cNvCxnSpPr>
          <p:nvPr/>
        </p:nvCxnSpPr>
        <p:spPr>
          <a:xfrm flipH="1">
            <a:off x="7270054" y="2887780"/>
            <a:ext cx="338115" cy="929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006531" y="2712906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449158" y="2709999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509499" y="2705174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448158" y="3798769"/>
                <a:ext cx="15666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for 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158" y="3798769"/>
                <a:ext cx="1566647" cy="646331"/>
              </a:xfrm>
              <a:prstGeom prst="rect">
                <a:avLst/>
              </a:prstGeom>
              <a:blipFill>
                <a:blip r:embed="rId7"/>
                <a:stretch>
                  <a:fillRect l="-3113" t="-4717" r="-194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46" idx="2"/>
            <a:endCxn id="44" idx="0"/>
          </p:cNvCxnSpPr>
          <p:nvPr/>
        </p:nvCxnSpPr>
        <p:spPr>
          <a:xfrm>
            <a:off x="8081085" y="2887780"/>
            <a:ext cx="1150396" cy="910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982416" y="2705174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835295" y="2027826"/>
            <a:ext cx="4492953" cy="67734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097268" y="2062590"/>
            <a:ext cx="1703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 in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increasing order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057" y="203632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mr-IN" sz="2400"/>
              <a:t>…</a:t>
            </a:r>
            <a:endParaRPr lang="en-US" sz="2400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906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9" grpId="0" animBg="1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B+ Tree Index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7" y="4941168"/>
            <a:ext cx="292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4" y="4941168"/>
            <a:ext cx="3300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32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0" y="4941168"/>
            <a:ext cx="3326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7BEF99-35C3-4D83-9AEE-4B9145A19AD5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BA60A-3471-8588-4707-BFDD5FBAB49F}"/>
              </a:ext>
            </a:extLst>
          </p:cNvPr>
          <p:cNvSpPr txBox="1"/>
          <p:nvPr/>
        </p:nvSpPr>
        <p:spPr>
          <a:xfrm>
            <a:off x="8609459" y="1603169"/>
            <a:ext cx="15967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Four searches: </a:t>
            </a:r>
          </a:p>
          <a:p>
            <a:r>
              <a:rPr lang="en-AT" dirty="0"/>
              <a:t>19</a:t>
            </a:r>
          </a:p>
          <a:p>
            <a:r>
              <a:rPr lang="en-AT" dirty="0"/>
              <a:t>&gt;19</a:t>
            </a:r>
          </a:p>
          <a:p>
            <a:r>
              <a:rPr lang="en-AT" dirty="0"/>
              <a:t>&lt;19</a:t>
            </a:r>
          </a:p>
          <a:p>
            <a:r>
              <a:rPr lang="en-AT" dirty="0"/>
              <a:t>[19,38]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192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16B1-40B8-A772-2393-E6DC4741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Index over multiple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8A1E-29C1-0867-F43A-6DB10D28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If you have an index over a, b it is basically like having one index over a#b</a:t>
            </a:r>
          </a:p>
          <a:p>
            <a:pPr lvl="1"/>
            <a:r>
              <a:rPr lang="en-AT" dirty="0"/>
              <a:t>Perhaps easier for some: if a and b are single digit numbers, you have a search tree over a*10+b</a:t>
            </a:r>
          </a:p>
        </p:txBody>
      </p:sp>
    </p:spTree>
    <p:extLst>
      <p:ext uri="{BB962C8B-B14F-4D97-AF65-F5344CB8AC3E}">
        <p14:creationId xmlns:p14="http://schemas.microsoft.com/office/powerpoint/2010/main" val="141449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FDF4-69D2-B6BC-4011-DE0D4C18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Optimizing query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C7EE4-3B24-DCE3-0359-3FC0C4D84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There are many tricks for this, but we saw just 3:</a:t>
            </a:r>
          </a:p>
          <a:p>
            <a:pPr lvl="1"/>
            <a:r>
              <a:rPr lang="en-AT" dirty="0"/>
              <a:t>Push projections (i.e. remove columns) as far down as possible</a:t>
            </a:r>
          </a:p>
          <a:p>
            <a:pPr lvl="2"/>
            <a:r>
              <a:rPr lang="en-AT" dirty="0"/>
              <a:t>That way you have less data to keep track of</a:t>
            </a:r>
          </a:p>
          <a:p>
            <a:pPr lvl="1"/>
            <a:r>
              <a:rPr lang="en-AT" dirty="0"/>
              <a:t>Push selections (i.e. like WHERE in SQL) as far down as possible</a:t>
            </a:r>
          </a:p>
          <a:p>
            <a:pPr lvl="2"/>
            <a:r>
              <a:rPr lang="en-AT" dirty="0"/>
              <a:t>Again always less information to keep track of</a:t>
            </a:r>
          </a:p>
          <a:p>
            <a:pPr lvl="1"/>
            <a:r>
              <a:rPr lang="en-AT" dirty="0"/>
              <a:t>Combine selections that are over both sides in a join into an equi-join – join where you also have some condition (basically combing the operations)</a:t>
            </a:r>
          </a:p>
          <a:p>
            <a:pPr lvl="2"/>
            <a:r>
              <a:rPr lang="en-AT" dirty="0"/>
              <a:t>We can then do some tricks with sorting to speed up these joins</a:t>
            </a:r>
          </a:p>
          <a:p>
            <a:pPr lvl="1"/>
            <a:endParaRPr lang="en-AT" dirty="0"/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82466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E349-C038-499B-ACC6-EE7F66A9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11CF7-8653-42EE-9C7E-BBF5197B5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GB" dirty="0"/>
                  <a:t>SELECT </a:t>
                </a:r>
                <a:r>
                  <a:rPr lang="en-GB" dirty="0" err="1"/>
                  <a:t>first_name</a:t>
                </a:r>
                <a:r>
                  <a:rPr lang="en-GB" dirty="0"/>
                  <a:t>, </a:t>
                </a:r>
                <a:r>
                  <a:rPr lang="en-GB" dirty="0" err="1"/>
                  <a:t>c_id</a:t>
                </a:r>
                <a:r>
                  <a:rPr lang="en-GB" dirty="0"/>
                  <a:t> AS </a:t>
                </a:r>
                <a:r>
                  <a:rPr lang="en-GB" dirty="0" err="1"/>
                  <a:t>customer_id</a:t>
                </a:r>
                <a:br>
                  <a:rPr lang="en-GB" dirty="0"/>
                </a:br>
                <a:r>
                  <a:rPr lang="en-GB" dirty="0"/>
                  <a:t>FROM Employees, Transactions</a:t>
                </a:r>
                <a:br>
                  <a:rPr lang="en-GB" dirty="0"/>
                </a:br>
                <a:r>
                  <a:rPr lang="en-GB" dirty="0"/>
                  <a:t>WHERE </a:t>
                </a:r>
                <a:r>
                  <a:rPr lang="en-GB" dirty="0" err="1"/>
                  <a:t>birth_day</a:t>
                </a:r>
                <a:r>
                  <a:rPr lang="en-GB" dirty="0"/>
                  <a:t>&lt;=‘1995-01-01’;</a:t>
                </a: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first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name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GB" dirty="0"/>
                          <m:t>customer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c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GB" dirty="0"/>
                          <m:t>customer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birth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day</m:t>
                        </m:r>
                        <m:r>
                          <m:rPr>
                            <m:nor/>
                          </m:rPr>
                          <a:rPr lang="en-GB" dirty="0"/>
                          <m:t>&lt;=‘1995−01−01’</m:t>
                        </m:r>
                      </m:sub>
                    </m:sSub>
                    <m:r>
                      <a:rPr lang="en-GB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GB" dirty="0"/>
                  <a:t>(Employees)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 </m:t>
                    </m:r>
                  </m:oMath>
                </a14:m>
                <a:r>
                  <a:rPr lang="en-GB" dirty="0" err="1"/>
                  <a:t>Transactions</a:t>
                </a:r>
                <a:r>
                  <a:rPr lang="en-GB" dirty="0"/>
                  <a:t>))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11CF7-8653-42EE-9C7E-BBF5197B5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2" r="-1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C231AD-4873-45FB-9EDB-5D453F1056AF}"/>
              </a:ext>
            </a:extLst>
          </p:cNvPr>
          <p:cNvGraphicFramePr>
            <a:graphicFrameLocks noGrp="1"/>
          </p:cNvGraphicFramePr>
          <p:nvPr/>
        </p:nvGraphicFramePr>
        <p:xfrm>
          <a:off x="6062444" y="184666"/>
          <a:ext cx="5716894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2081DA-AB94-4483-98CA-266B1C8ACB4D}"/>
              </a:ext>
            </a:extLst>
          </p:cNvPr>
          <p:cNvSpPr txBox="1"/>
          <p:nvPr/>
        </p:nvSpPr>
        <p:spPr>
          <a:xfrm>
            <a:off x="5966949" y="-184666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AEDE6C-DE7F-4ACC-A5E4-2F6201194AFA}"/>
              </a:ext>
            </a:extLst>
          </p:cNvPr>
          <p:cNvGraphicFramePr>
            <a:graphicFrameLocks noGrp="1"/>
          </p:cNvGraphicFramePr>
          <p:nvPr/>
        </p:nvGraphicFramePr>
        <p:xfrm>
          <a:off x="6986511" y="2928491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EA2CC7-5514-4057-A12F-16202907AEB7}"/>
              </a:ext>
            </a:extLst>
          </p:cNvPr>
          <p:cNvSpPr txBox="1"/>
          <p:nvPr/>
        </p:nvSpPr>
        <p:spPr>
          <a:xfrm>
            <a:off x="6911388" y="2559159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30442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7758-FDA2-4C70-B643-D6DFC4A4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plans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D79A2-6714-4B37-9353-485A86393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9542" y="-137927"/>
                <a:ext cx="10160000" cy="4800600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first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name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GB" dirty="0"/>
                          <m:t>customer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c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GB" dirty="0"/>
                          <m:t>customer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id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GB" dirty="0"/>
                          <m:t>birth</m:t>
                        </m:r>
                        <m:r>
                          <m:rPr>
                            <m:nor/>
                          </m:rPr>
                          <a:rPr lang="en-GB" dirty="0"/>
                          <m:t>_</m:t>
                        </m:r>
                        <m:r>
                          <m:rPr>
                            <m:nor/>
                          </m:rPr>
                          <a:rPr lang="en-GB" dirty="0"/>
                          <m:t>day</m:t>
                        </m:r>
                        <m:r>
                          <m:rPr>
                            <m:nor/>
                          </m:rPr>
                          <a:rPr lang="en-GB" dirty="0"/>
                          <m:t>&lt;=‘1995−01−01’</m:t>
                        </m:r>
                      </m:sub>
                    </m:sSub>
                    <m:r>
                      <a:rPr lang="en-GB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GB" dirty="0"/>
                  <a:t>(Employees)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 </m:t>
                    </m:r>
                  </m:oMath>
                </a14:m>
                <a:r>
                  <a:rPr lang="en-GB" dirty="0" err="1"/>
                  <a:t>Transactions</a:t>
                </a:r>
                <a:r>
                  <a:rPr lang="en-GB" dirty="0"/>
                  <a:t>))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D79A2-6714-4B37-9353-485A86393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542" y="-137927"/>
                <a:ext cx="10160000" cy="4800600"/>
              </a:xfrm>
              <a:blipFill>
                <a:blip r:embed="rId2"/>
                <a:stretch>
                  <a:fillRect t="-1269" r="-36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BB7EA5-7A8A-4D31-9985-336F9E4B5FE2}"/>
              </a:ext>
            </a:extLst>
          </p:cNvPr>
          <p:cNvSpPr txBox="1"/>
          <p:nvPr/>
        </p:nvSpPr>
        <p:spPr>
          <a:xfrm>
            <a:off x="7382313" y="6389949"/>
            <a:ext cx="27776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Transactions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0AE41-E7C1-423A-8636-F01A515AD7A0}"/>
              </a:ext>
            </a:extLst>
          </p:cNvPr>
          <p:cNvSpPr txBox="1"/>
          <p:nvPr/>
        </p:nvSpPr>
        <p:spPr>
          <a:xfrm>
            <a:off x="31101" y="6247311"/>
            <a:ext cx="24358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Employees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BB294E-2CCB-4070-BC58-CE7171567E28}"/>
                  </a:ext>
                </a:extLst>
              </p:cNvPr>
              <p:cNvSpPr txBox="1"/>
              <p:nvPr/>
            </p:nvSpPr>
            <p:spPr>
              <a:xfrm>
                <a:off x="3100917" y="2594769"/>
                <a:ext cx="5990166" cy="831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latin typeface="Cambria Math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4000" dirty="0"/>
                            <m:t>birth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_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day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&lt;=‘1995−01−01’</m:t>
                          </m:r>
                        </m:sub>
                      </m:sSub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BB294E-2CCB-4070-BC58-CE7171567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917" y="2594769"/>
                <a:ext cx="5990166" cy="831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9875F3-1FF6-4A32-971B-AAD4B5847874}"/>
              </a:ext>
            </a:extLst>
          </p:cNvPr>
          <p:cNvCxnSpPr>
            <a:cxnSpLocks/>
          </p:cNvCxnSpPr>
          <p:nvPr/>
        </p:nvCxnSpPr>
        <p:spPr>
          <a:xfrm>
            <a:off x="5847127" y="2435153"/>
            <a:ext cx="1" cy="553683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AC0FE2-5C5D-4AA1-ABDD-575AB5F755DE}"/>
                  </a:ext>
                </a:extLst>
              </p:cNvPr>
              <p:cNvSpPr txBox="1"/>
              <p:nvPr/>
            </p:nvSpPr>
            <p:spPr>
              <a:xfrm>
                <a:off x="5612235" y="3280095"/>
                <a:ext cx="66717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AC0FE2-5C5D-4AA1-ABDD-575AB5F75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235" y="3280095"/>
                <a:ext cx="66717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DCA5CA-A3EC-45FF-A1A8-CB52B5E1CA1F}"/>
              </a:ext>
            </a:extLst>
          </p:cNvPr>
          <p:cNvCxnSpPr>
            <a:cxnSpLocks/>
          </p:cNvCxnSpPr>
          <p:nvPr/>
        </p:nvCxnSpPr>
        <p:spPr>
          <a:xfrm flipH="1">
            <a:off x="1249031" y="3967993"/>
            <a:ext cx="4448959" cy="2421956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171D92-1E5C-43A1-B9FC-55E4458731E5}"/>
              </a:ext>
            </a:extLst>
          </p:cNvPr>
          <p:cNvCxnSpPr/>
          <p:nvPr/>
        </p:nvCxnSpPr>
        <p:spPr>
          <a:xfrm>
            <a:off x="6279405" y="3987981"/>
            <a:ext cx="2747149" cy="247993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0AA926-624C-4E28-BEDA-965A6DACB9EF}"/>
                  </a:ext>
                </a:extLst>
              </p:cNvPr>
              <p:cNvSpPr txBox="1"/>
              <p:nvPr/>
            </p:nvSpPr>
            <p:spPr>
              <a:xfrm>
                <a:off x="4009368" y="1741276"/>
                <a:ext cx="4394601" cy="828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latin typeface="Cambria Math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4000" dirty="0"/>
                            <m:t>c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_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id</m:t>
                          </m:r>
                          <m:r>
                            <a:rPr lang="en-GB" sz="40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customer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_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id</m:t>
                          </m:r>
                        </m:sub>
                      </m:sSub>
                    </m:oMath>
                  </m:oMathPara>
                </a14:m>
                <a:endParaRPr lang="en-GB" sz="400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0AA926-624C-4E28-BEDA-965A6DACB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368" y="1741276"/>
                <a:ext cx="4394601" cy="8287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AEF00-3FBA-428B-878D-E95B14C23062}"/>
              </a:ext>
            </a:extLst>
          </p:cNvPr>
          <p:cNvCxnSpPr/>
          <p:nvPr/>
        </p:nvCxnSpPr>
        <p:spPr>
          <a:xfrm>
            <a:off x="5847127" y="3148333"/>
            <a:ext cx="0" cy="39946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D25507-0359-4D86-BA7D-B47F14388793}"/>
                  </a:ext>
                </a:extLst>
              </p:cNvPr>
              <p:cNvSpPr txBox="1"/>
              <p:nvPr/>
            </p:nvSpPr>
            <p:spPr>
              <a:xfrm>
                <a:off x="3615655" y="643346"/>
                <a:ext cx="5574411" cy="831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latin typeface="Cambria Math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4000" dirty="0"/>
                            <m:t>first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_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name</m:t>
                          </m:r>
                          <m:r>
                            <a:rPr lang="en-GB" sz="4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customer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_</m:t>
                          </m:r>
                          <m:r>
                            <m:rPr>
                              <m:nor/>
                            </m:rPr>
                            <a:rPr lang="en-GB" sz="4000" dirty="0"/>
                            <m:t>id</m:t>
                          </m:r>
                        </m:sub>
                      </m:sSub>
                    </m:oMath>
                  </m:oMathPara>
                </a14:m>
                <a:endParaRPr lang="en-GB" sz="400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D25507-0359-4D86-BA7D-B47F14388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55" y="643346"/>
                <a:ext cx="5574411" cy="8315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E744F-3062-4FF4-B264-497385384D91}"/>
              </a:ext>
            </a:extLst>
          </p:cNvPr>
          <p:cNvCxnSpPr>
            <a:cxnSpLocks/>
          </p:cNvCxnSpPr>
          <p:nvPr/>
        </p:nvCxnSpPr>
        <p:spPr>
          <a:xfrm flipH="1">
            <a:off x="5945820" y="1535135"/>
            <a:ext cx="85864" cy="55858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B637AE9-76FC-416F-A8BF-9C662EFF6634}"/>
              </a:ext>
            </a:extLst>
          </p:cNvPr>
          <p:cNvGraphicFramePr>
            <a:graphicFrameLocks noGrp="1"/>
          </p:cNvGraphicFramePr>
          <p:nvPr/>
        </p:nvGraphicFramePr>
        <p:xfrm>
          <a:off x="2516952" y="5041251"/>
          <a:ext cx="5716894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2000-02-05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David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Taylor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9D1A8FA-F7AE-451B-AB74-FC2A1C287740}"/>
              </a:ext>
            </a:extLst>
          </p:cNvPr>
          <p:cNvSpPr txBox="1"/>
          <p:nvPr/>
        </p:nvSpPr>
        <p:spPr>
          <a:xfrm>
            <a:off x="1367550" y="5325158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Employees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A5B24C5-2ACF-4839-B0F0-6FB4B00F1CF5}"/>
              </a:ext>
            </a:extLst>
          </p:cNvPr>
          <p:cNvGraphicFramePr>
            <a:graphicFrameLocks noGrp="1"/>
          </p:cNvGraphicFramePr>
          <p:nvPr/>
        </p:nvGraphicFramePr>
        <p:xfrm>
          <a:off x="8657638" y="4488292"/>
          <a:ext cx="4595889" cy="1478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7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4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B1AFB4F-C74F-449D-B8C5-3C7143A63AC4}"/>
              </a:ext>
            </a:extLst>
          </p:cNvPr>
          <p:cNvSpPr txBox="1"/>
          <p:nvPr/>
        </p:nvSpPr>
        <p:spPr>
          <a:xfrm>
            <a:off x="8582515" y="4118960"/>
            <a:ext cx="137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Transactions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4A636BE-42DD-4390-BF14-CF70C59D7979}"/>
              </a:ext>
            </a:extLst>
          </p:cNvPr>
          <p:cNvGraphicFramePr>
            <a:graphicFrameLocks noGrp="1"/>
          </p:cNvGraphicFramePr>
          <p:nvPr/>
        </p:nvGraphicFramePr>
        <p:xfrm>
          <a:off x="-182449" y="3596217"/>
          <a:ext cx="5716894" cy="736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151BD88-39A0-43AC-88FA-544A054B8BEA}"/>
              </a:ext>
            </a:extLst>
          </p:cNvPr>
          <p:cNvGraphicFramePr>
            <a:graphicFrameLocks noGrp="1"/>
          </p:cNvGraphicFramePr>
          <p:nvPr/>
        </p:nvGraphicFramePr>
        <p:xfrm>
          <a:off x="7027382" y="2384187"/>
          <a:ext cx="8424151" cy="1752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49982">
                  <a:extLst>
                    <a:ext uri="{9D8B030D-6E8A-4147-A177-3AD203B41FA5}">
                      <a16:colId xmlns:a16="http://schemas.microsoft.com/office/drawing/2014/main" val="2930259444"/>
                    </a:ext>
                  </a:extLst>
                </a:gridCol>
                <a:gridCol w="1249982">
                  <a:extLst>
                    <a:ext uri="{9D8B030D-6E8A-4147-A177-3AD203B41FA5}">
                      <a16:colId xmlns:a16="http://schemas.microsoft.com/office/drawing/2014/main" val="3105497223"/>
                    </a:ext>
                  </a:extLst>
                </a:gridCol>
                <a:gridCol w="1249982">
                  <a:extLst>
                    <a:ext uri="{9D8B030D-6E8A-4147-A177-3AD203B41FA5}">
                      <a16:colId xmlns:a16="http://schemas.microsoft.com/office/drawing/2014/main" val="815463608"/>
                    </a:ext>
                  </a:extLst>
                </a:gridCol>
                <a:gridCol w="1249982">
                  <a:extLst>
                    <a:ext uri="{9D8B030D-6E8A-4147-A177-3AD203B41FA5}">
                      <a16:colId xmlns:a16="http://schemas.microsoft.com/office/drawing/2014/main" val="2016402607"/>
                    </a:ext>
                  </a:extLst>
                </a:gridCol>
                <a:gridCol w="1249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458">
                  <a:extLst>
                    <a:ext uri="{9D8B030D-6E8A-4147-A177-3AD203B41FA5}">
                      <a16:colId xmlns:a16="http://schemas.microsoft.com/office/drawing/2014/main" val="1242789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Birth_day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Family_name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Employees. </a:t>
                      </a:r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1990-11-10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1B1AEC-752F-45AC-849C-14F819934CCF}"/>
              </a:ext>
            </a:extLst>
          </p:cNvPr>
          <p:cNvCxnSpPr/>
          <p:nvPr/>
        </p:nvCxnSpPr>
        <p:spPr>
          <a:xfrm flipV="1">
            <a:off x="6096000" y="3148333"/>
            <a:ext cx="2230318" cy="199730"/>
          </a:xfrm>
          <a:prstGeom prst="line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B3AB1A6-9C0B-4E0A-8B86-5548ACAA3903}"/>
              </a:ext>
            </a:extLst>
          </p:cNvPr>
          <p:cNvGraphicFramePr>
            <a:graphicFrameLocks noGrp="1"/>
          </p:cNvGraphicFramePr>
          <p:nvPr/>
        </p:nvGraphicFramePr>
        <p:xfrm>
          <a:off x="2011356" y="1023647"/>
          <a:ext cx="1466021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86560">
                  <a:extLst>
                    <a:ext uri="{9D8B030D-6E8A-4147-A177-3AD203B41FA5}">
                      <a16:colId xmlns:a16="http://schemas.microsoft.com/office/drawing/2014/main" val="3105497223"/>
                    </a:ext>
                  </a:extLst>
                </a:gridCol>
                <a:gridCol w="679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868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  <a:p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3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3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Anne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5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DE09-C739-9733-A726-4E766F2E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Physical query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3CE2-1C78-69FA-9551-D1BDFBAB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31" y="1600200"/>
            <a:ext cx="10543969" cy="4800600"/>
          </a:xfrm>
        </p:spPr>
        <p:txBody>
          <a:bodyPr/>
          <a:lstStyle/>
          <a:p>
            <a:r>
              <a:rPr lang="en-AT" dirty="0"/>
              <a:t>Many operations have multiple ways that they could be done in</a:t>
            </a:r>
          </a:p>
          <a:p>
            <a:r>
              <a:rPr lang="en-AT" dirty="0"/>
              <a:t>A physical query plan is meant to tell us what to do exactly</a:t>
            </a:r>
          </a:p>
          <a:p>
            <a:pPr lvl="1"/>
            <a:r>
              <a:rPr lang="en-AT" dirty="0"/>
              <a:t>Do we use the index? </a:t>
            </a:r>
          </a:p>
          <a:p>
            <a:pPr lvl="1"/>
            <a:r>
              <a:rPr lang="en-AT" dirty="0"/>
              <a:t>Which way to join things/which way to do other operations? </a:t>
            </a:r>
          </a:p>
          <a:p>
            <a:pPr lvl="1"/>
            <a:r>
              <a:rPr lang="en-AT" dirty="0"/>
              <a:t>How do we exchange information between operations? </a:t>
            </a:r>
          </a:p>
          <a:p>
            <a:pPr lvl="1"/>
            <a:r>
              <a:rPr lang="en-AT" dirty="0"/>
              <a:t>What about which order we join in if there are multiple joins?</a:t>
            </a:r>
          </a:p>
          <a:p>
            <a:r>
              <a:rPr lang="en-AT" dirty="0"/>
              <a:t>We try to estimate how good these are and then select the one that looks cheapest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39848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where join 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69162" y="4910377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162" y="4910377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52968" y="5962412"/>
            <a:ext cx="1130219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Modules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86589" y="3404126"/>
            <a:ext cx="0" cy="602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348070" y="4422800"/>
            <a:ext cx="726182" cy="487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06827" y="4442227"/>
            <a:ext cx="1601857" cy="82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name=Rasmus Ibsen-Jensen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2380412" y="5467481"/>
            <a:ext cx="460215" cy="58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0707" y="5962669"/>
            <a:ext cx="1184977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298135" y="5739477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9892" y="5963677"/>
            <a:ext cx="1140734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Students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15681" y="5467481"/>
            <a:ext cx="495481" cy="58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015631" y="3937655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31" y="3937655"/>
                <a:ext cx="541916" cy="587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006734" y="2041207"/>
            <a:ext cx="699092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*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FROM Lecturers NATURAL JOIN Modules NATURAL JOIN Students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WHERE Lecturers.name = Rasmus Ibsen-Jensen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13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3" grpId="0"/>
      <p:bldP spid="15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where join 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6140" y="3359455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140" y="3359455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53898" y="5920687"/>
            <a:ext cx="1130219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Modules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551087" y="2924945"/>
            <a:ext cx="0" cy="602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730863" y="3766431"/>
            <a:ext cx="391448" cy="495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375920" y="4599086"/>
            <a:ext cx="720080" cy="774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name=Rasmus Ibsen-Jensen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87" y="5173762"/>
                <a:ext cx="2743096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2380414" y="3946895"/>
            <a:ext cx="1958715" cy="2134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27610" y="5930259"/>
            <a:ext cx="1184977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298135" y="5739477"/>
            <a:ext cx="0" cy="351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59677" y="5924022"/>
            <a:ext cx="1140734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Students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711164" y="4599085"/>
            <a:ext cx="1278185" cy="145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80296" y="4165047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296" y="4165047"/>
                <a:ext cx="541916" cy="587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DB2A8E4-1B9D-4E1A-9228-803E3E548248}"/>
              </a:ext>
            </a:extLst>
          </p:cNvPr>
          <p:cNvSpPr txBox="1"/>
          <p:nvPr/>
        </p:nvSpPr>
        <p:spPr>
          <a:xfrm>
            <a:off x="2135062" y="1784569"/>
            <a:ext cx="699092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*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FROM Lecturers NATURAL JOIN Modules NATURAL JOIN Students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WHERE Lecturers.name = Rasmus Ibsen-Jensen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85314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14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|11.4|11.3|1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|69.7|1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9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240</TotalTime>
  <Words>1131</Words>
  <Application>Microsoft Macintosh PowerPoint</Application>
  <PresentationFormat>Widescreen</PresentationFormat>
  <Paragraphs>308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Cambria Math</vt:lpstr>
      <vt:lpstr>IST theme powerpoint</vt:lpstr>
      <vt:lpstr>Lecture 13</vt:lpstr>
      <vt:lpstr>Overview</vt:lpstr>
      <vt:lpstr>Practical SQL assignment</vt:lpstr>
      <vt:lpstr>Weekly survey</vt:lpstr>
      <vt:lpstr>Week 7 module = only covered Thursday!</vt:lpstr>
      <vt:lpstr>More on index</vt:lpstr>
      <vt:lpstr>Single Level vs Multi-Level Indexes</vt:lpstr>
      <vt:lpstr>B+ Tree: Leaves (Idea)</vt:lpstr>
      <vt:lpstr>B+ Tree: Inner Nodes (Idea)</vt:lpstr>
      <vt:lpstr>A B+ Tree Index</vt:lpstr>
      <vt:lpstr>Index over multiple attributes</vt:lpstr>
      <vt:lpstr>Optimizing query plans</vt:lpstr>
      <vt:lpstr>Example</vt:lpstr>
      <vt:lpstr>Query plans</vt:lpstr>
      <vt:lpstr>Physical query plans</vt:lpstr>
      <vt:lpstr>Example where join order matters</vt:lpstr>
      <vt:lpstr>Example where join order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Ibsen-Jensen, Rasmus</dc:creator>
  <cp:lastModifiedBy>Ibsen-Jensen, Rasmus</cp:lastModifiedBy>
  <cp:revision>1</cp:revision>
  <dcterms:created xsi:type="dcterms:W3CDTF">2023-11-06T19:45:11Z</dcterms:created>
  <dcterms:modified xsi:type="dcterms:W3CDTF">2023-11-06T23:46:05Z</dcterms:modified>
</cp:coreProperties>
</file>