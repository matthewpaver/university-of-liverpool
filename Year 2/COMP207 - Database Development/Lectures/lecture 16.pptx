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368" r:id="rId5"/>
    <p:sldId id="453" r:id="rId6"/>
    <p:sldId id="352" r:id="rId7"/>
    <p:sldId id="454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4831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0"/>
    <p:restoredTop sz="95903"/>
  </p:normalViewPr>
  <p:slideViewPr>
    <p:cSldViewPr snapToGrid="0">
      <p:cViewPr varScale="1">
        <p:scale>
          <a:sx n="114" d="100"/>
          <a:sy n="114" d="100"/>
        </p:scale>
        <p:origin x="472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905001"/>
            <a:ext cx="10058400" cy="2593975"/>
          </a:xfrm>
        </p:spPr>
        <p:txBody>
          <a:bodyPr anchor="b"/>
          <a:lstStyle>
            <a:lvl1pPr>
              <a:defRPr sz="6600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4572000"/>
            <a:ext cx="861568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1E80F-4EBB-7A4D-A960-B2B8B1B6B9A4}" type="datetimeFigureOut">
              <a:rPr lang="en-AT" smtClean="0"/>
              <a:t>15.11.23</a:t>
            </a:fld>
            <a:endParaRPr lang="en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69771-4CDB-A648-B935-5AF454A14C66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37067924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1E80F-4EBB-7A4D-A960-B2B8B1B6B9A4}" type="datetimeFigureOut">
              <a:rPr lang="en-AT" smtClean="0"/>
              <a:t>15.11.23</a:t>
            </a:fld>
            <a:endParaRPr lang="en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69771-4CDB-A648-B935-5AF454A14C66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27338167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5" y="5486400"/>
            <a:ext cx="10212916" cy="1168400"/>
          </a:xfrm>
        </p:spPr>
        <p:txBody>
          <a:bodyPr anchor="t"/>
          <a:lstStyle>
            <a:lvl1pPr algn="l">
              <a:defRPr sz="3600" b="0" cap="all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5" y="3852863"/>
            <a:ext cx="8180916" cy="16335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1E80F-4EBB-7A4D-A960-B2B8B1B6B9A4}" type="datetimeFigureOut">
              <a:rPr lang="en-AT" smtClean="0"/>
              <a:t>15.11.23</a:t>
            </a:fld>
            <a:endParaRPr lang="en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69771-4CDB-A648-B935-5AF454A14C66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22736090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536192"/>
            <a:ext cx="48768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92800" y="1536192"/>
            <a:ext cx="48768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1E80F-4EBB-7A4D-A960-B2B8B1B6B9A4}" type="datetimeFigureOut">
              <a:rPr lang="en-AT" smtClean="0"/>
              <a:t>15.11.23</a:t>
            </a:fld>
            <a:endParaRPr lang="en-A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69771-4CDB-A648-B935-5AF454A14C66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21566617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48768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48768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92800" y="1535113"/>
            <a:ext cx="48768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92800" y="2174875"/>
            <a:ext cx="48768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1E80F-4EBB-7A4D-A960-B2B8B1B6B9A4}" type="datetimeFigureOut">
              <a:rPr lang="en-AT" smtClean="0"/>
              <a:t>15.11.23</a:t>
            </a:fld>
            <a:endParaRPr lang="en-A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69771-4CDB-A648-B935-5AF454A14C66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22435489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1E80F-4EBB-7A4D-A960-B2B8B1B6B9A4}" type="datetimeFigureOut">
              <a:rPr lang="en-AT" smtClean="0"/>
              <a:t>15.11.23</a:t>
            </a:fld>
            <a:endParaRPr lang="en-A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69771-4CDB-A648-B935-5AF454A14C66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38362905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1E80F-4EBB-7A4D-A960-B2B8B1B6B9A4}" type="datetimeFigureOut">
              <a:rPr lang="en-AT" smtClean="0"/>
              <a:t>15.11.23</a:t>
            </a:fld>
            <a:endParaRPr lang="en-A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69771-4CDB-A648-B935-5AF454A14C66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40664780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6401" y="5495544"/>
            <a:ext cx="10363200" cy="594360"/>
          </a:xfrm>
        </p:spPr>
        <p:txBody>
          <a:bodyPr anchor="b"/>
          <a:lstStyle>
            <a:lvl1pPr algn="ctr">
              <a:defRPr sz="2200" b="1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6400" y="6096000"/>
            <a:ext cx="10363201" cy="6096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1E80F-4EBB-7A4D-A960-B2B8B1B6B9A4}" type="datetimeFigureOut">
              <a:rPr lang="en-AT" smtClean="0"/>
              <a:t>15.11.23</a:t>
            </a:fld>
            <a:endParaRPr lang="en-A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69771-4CDB-A648-B935-5AF454A14C66}" type="slidenum">
              <a:rPr lang="en-AT" smtClean="0"/>
              <a:t>‹#›</a:t>
            </a:fld>
            <a:endParaRPr lang="en-AT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406400" y="381000"/>
            <a:ext cx="10363200" cy="494284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1227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2336" y="5495278"/>
            <a:ext cx="10363200" cy="594626"/>
          </a:xfrm>
        </p:spPr>
        <p:txBody>
          <a:bodyPr anchor="b"/>
          <a:lstStyle>
            <a:lvl1pPr algn="ctr">
              <a:defRPr sz="2200" b="1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112776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2336" y="6096000"/>
            <a:ext cx="10363200" cy="612648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1E80F-4EBB-7A4D-A960-B2B8B1B6B9A4}" type="datetimeFigureOut">
              <a:rPr lang="en-AT" smtClean="0"/>
              <a:t>15.11.23</a:t>
            </a:fld>
            <a:endParaRPr lang="en-A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2869771-4CDB-A648-B935-5AF454A14C66}" type="slidenum">
              <a:rPr lang="en-AT" smtClean="0"/>
              <a:t>‹#›</a:t>
            </a:fld>
            <a:endParaRPr lang="en-AT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25122400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1E80F-4EBB-7A4D-A960-B2B8B1B6B9A4}" type="datetimeFigureOut">
              <a:rPr lang="en-AT" smtClean="0"/>
              <a:t>15.11.23</a:t>
            </a:fld>
            <a:endParaRPr lang="en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69771-4CDB-A648-B935-5AF454A14C66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25897391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336800" cy="5851525"/>
          </a:xfrm>
        </p:spPr>
        <p:txBody>
          <a:bodyPr vert="eaVert" anchor="b" anchorCtr="0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1E80F-4EBB-7A4D-A960-B2B8B1B6B9A4}" type="datetimeFigureOut">
              <a:rPr lang="en-AT" smtClean="0"/>
              <a:t>15.11.23</a:t>
            </a:fld>
            <a:endParaRPr lang="en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69771-4CDB-A648-B935-5AF454A14C66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31040832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325438"/>
            <a:ext cx="10160000" cy="11430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160000" cy="480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1067627" y="-121920"/>
            <a:ext cx="1246293" cy="71323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Rectangle 7"/>
          <p:cNvSpPr/>
          <p:nvPr/>
        </p:nvSpPr>
        <p:spPr>
          <a:xfrm>
            <a:off x="11067627" y="5753100"/>
            <a:ext cx="1246293" cy="838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75717" y="5648960"/>
            <a:ext cx="73152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lvl1pPr algn="ctr">
              <a:defRPr sz="1800">
                <a:solidFill>
                  <a:srgbClr val="FFFFFF"/>
                </a:solidFill>
              </a:defRPr>
            </a:lvl1pPr>
          </a:lstStyle>
          <a:p>
            <a:fld id="{82869771-4CDB-A648-B935-5AF454A14C66}" type="slidenum">
              <a:rPr lang="en-AT" smtClean="0"/>
              <a:t>‹#›</a:t>
            </a:fld>
            <a:endParaRPr lang="en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10510428" y="3987800"/>
            <a:ext cx="2367281" cy="4876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endParaRPr lang="en-AT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474869" y="1584960"/>
            <a:ext cx="2438399" cy="4876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fld id="{2D51E80F-4EBB-7A4D-A960-B2B8B1B6B9A4}" type="datetimeFigureOut">
              <a:rPr lang="en-AT" smtClean="0"/>
              <a:t>15.11.23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12905256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600" kern="1200" cap="none" spc="-100" baseline="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3429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800" kern="1200">
          <a:solidFill>
            <a:schemeClr val="tx1"/>
          </a:solidFill>
          <a:latin typeface="Arial"/>
          <a:ea typeface="+mn-ea"/>
          <a:cs typeface="+mn-cs"/>
        </a:defRPr>
      </a:lvl1pPr>
      <a:lvl2pPr marL="640080" indent="-22860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2500" kern="1200">
          <a:solidFill>
            <a:schemeClr val="tx1"/>
          </a:solidFill>
          <a:latin typeface="Arial"/>
          <a:ea typeface="+mn-ea"/>
          <a:cs typeface="+mn-cs"/>
        </a:defRPr>
      </a:lvl2pPr>
      <a:lvl3pPr marL="1005840" indent="-22860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2200" kern="1200">
          <a:solidFill>
            <a:schemeClr val="tx1"/>
          </a:solidFill>
          <a:latin typeface="Arial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600" kern="1200">
          <a:solidFill>
            <a:schemeClr val="tx1"/>
          </a:solidFill>
          <a:latin typeface="Arial"/>
          <a:ea typeface="+mn-ea"/>
          <a:cs typeface="+mn-cs"/>
        </a:defRPr>
      </a:lvl4pPr>
      <a:lvl5pPr marL="1554480" indent="-228600" algn="l" defTabSz="914400" rtl="0" eaLnBrk="1" latinLnBrk="0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Arial"/>
          <a:ea typeface="+mn-ea"/>
          <a:cs typeface="+mn-cs"/>
        </a:defRPr>
      </a:lvl5pPr>
      <a:lvl6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.xml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B7794-1C77-0842-F240-06366AB30FF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T" dirty="0"/>
              <a:t>Lecture 16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8E64A4-1AC3-535A-1E38-A509CFF9EFA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T" dirty="0"/>
              <a:t>COMP207</a:t>
            </a:r>
          </a:p>
        </p:txBody>
      </p:sp>
    </p:spTree>
    <p:extLst>
      <p:ext uri="{BB962C8B-B14F-4D97-AF65-F5344CB8AC3E}">
        <p14:creationId xmlns:p14="http://schemas.microsoft.com/office/powerpoint/2010/main" val="42356163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257872-4DF0-633E-FDE7-27908F157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T" dirty="0"/>
              <a:t>Redo of week 6 assessment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DB8A04-EE8B-9A3B-7730-BF7A47435A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T" dirty="0"/>
              <a:t>As mentioned Tuesday, some had problems seeing the images in the week 6 assessment</a:t>
            </a:r>
          </a:p>
          <a:p>
            <a:r>
              <a:rPr lang="en-AT" dirty="0"/>
              <a:t>Redo of week 6 assessment is now up</a:t>
            </a:r>
          </a:p>
          <a:p>
            <a:pPr lvl="1"/>
            <a:r>
              <a:rPr lang="en-AT" dirty="0"/>
              <a:t>You have until Wednesday next week (the 22nd) to do it in</a:t>
            </a:r>
          </a:p>
          <a:p>
            <a:pPr lvl="1"/>
            <a:r>
              <a:rPr lang="en-AT" dirty="0"/>
              <a:t>Your grade will be the maximum of this redo and the original one</a:t>
            </a:r>
          </a:p>
          <a:p>
            <a:r>
              <a:rPr lang="en-AT" dirty="0"/>
              <a:t>You will get the image before starting (but after accessing it) – do check that you can see them: If not, tell me!</a:t>
            </a:r>
          </a:p>
          <a:p>
            <a:pPr lvl="1"/>
            <a:r>
              <a:rPr lang="en-AT" dirty="0"/>
              <a:t>(The images will also be in the assessment)</a:t>
            </a:r>
          </a:p>
        </p:txBody>
      </p:sp>
    </p:spTree>
    <p:extLst>
      <p:ext uri="{BB962C8B-B14F-4D97-AF65-F5344CB8AC3E}">
        <p14:creationId xmlns:p14="http://schemas.microsoft.com/office/powerpoint/2010/main" val="4293000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875D1-5261-D0B8-1EF2-321B0C10D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T" dirty="0"/>
              <a:t>Feedback for practical SQL assignment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D2108C-33AD-27F9-40B0-0A48ADF31B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T" dirty="0"/>
              <a:t>Will give feedback Tuesday next week</a:t>
            </a:r>
          </a:p>
        </p:txBody>
      </p:sp>
    </p:spTree>
    <p:extLst>
      <p:ext uri="{BB962C8B-B14F-4D97-AF65-F5344CB8AC3E}">
        <p14:creationId xmlns:p14="http://schemas.microsoft.com/office/powerpoint/2010/main" val="18372911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XML intuition</a:t>
            </a:r>
            <a:br>
              <a:rPr lang="en-US" dirty="0"/>
            </a:br>
            <a:r>
              <a:rPr lang="en-US" sz="2400" dirty="0"/>
              <a:t>(from basic XML)</a:t>
            </a:r>
          </a:p>
        </p:txBody>
      </p:sp>
      <p:sp>
        <p:nvSpPr>
          <p:cNvPr id="46" name="Oval 45"/>
          <p:cNvSpPr/>
          <p:nvPr/>
        </p:nvSpPr>
        <p:spPr>
          <a:xfrm>
            <a:off x="4804834" y="1920029"/>
            <a:ext cx="274712" cy="274712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/>
          <p:cNvSpPr/>
          <p:nvPr/>
        </p:nvSpPr>
        <p:spPr>
          <a:xfrm>
            <a:off x="783468" y="3807713"/>
            <a:ext cx="274712" cy="274712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/>
          <p:cNvSpPr txBox="1"/>
          <p:nvPr/>
        </p:nvSpPr>
        <p:spPr>
          <a:xfrm>
            <a:off x="308188" y="4167753"/>
            <a:ext cx="12252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solidFill>
                  <a:schemeClr val="accent2"/>
                </a:solidFill>
              </a:rPr>
              <a:t>”J. </a:t>
            </a:r>
            <a:r>
              <a:rPr lang="en-US" sz="1600" dirty="0" err="1">
                <a:solidFill>
                  <a:schemeClr val="accent2"/>
                </a:solidFill>
              </a:rPr>
              <a:t>Fearnley</a:t>
            </a:r>
            <a:r>
              <a:rPr lang="en-US" sz="1600" dirty="0">
                <a:solidFill>
                  <a:schemeClr val="accent2"/>
                </a:solidFill>
              </a:rPr>
              <a:t>”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54" name="Oval 53"/>
          <p:cNvSpPr/>
          <p:nvPr/>
        </p:nvSpPr>
        <p:spPr>
          <a:xfrm>
            <a:off x="1779772" y="3807713"/>
            <a:ext cx="274712" cy="274712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TextBox 54"/>
          <p:cNvSpPr txBox="1"/>
          <p:nvPr/>
        </p:nvSpPr>
        <p:spPr>
          <a:xfrm>
            <a:off x="1539462" y="4167753"/>
            <a:ext cx="7553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solidFill>
                  <a:schemeClr val="accent2"/>
                </a:solidFill>
              </a:rPr>
              <a:t>7954</a:t>
            </a:r>
            <a:r>
              <a:rPr lang="mr-IN" sz="1600" dirty="0">
                <a:solidFill>
                  <a:schemeClr val="accent2"/>
                </a:solidFill>
              </a:rPr>
              <a:t>…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56" name="Oval 55"/>
          <p:cNvSpPr/>
          <p:nvPr/>
        </p:nvSpPr>
        <p:spPr>
          <a:xfrm>
            <a:off x="2203935" y="5110739"/>
            <a:ext cx="274712" cy="274712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TextBox 56"/>
          <p:cNvSpPr txBox="1"/>
          <p:nvPr/>
        </p:nvSpPr>
        <p:spPr>
          <a:xfrm>
            <a:off x="1744047" y="5470779"/>
            <a:ext cx="119449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>
                <a:solidFill>
                  <a:schemeClr val="accent2"/>
                </a:solidFill>
              </a:rPr>
              <a:t>“COMP105”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58" name="Oval 57"/>
          <p:cNvSpPr/>
          <p:nvPr/>
        </p:nvSpPr>
        <p:spPr>
          <a:xfrm>
            <a:off x="3586669" y="5111851"/>
            <a:ext cx="274712" cy="274712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TextBox 58"/>
          <p:cNvSpPr txBox="1"/>
          <p:nvPr/>
        </p:nvSpPr>
        <p:spPr>
          <a:xfrm>
            <a:off x="2851103" y="5471891"/>
            <a:ext cx="174586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>
                <a:solidFill>
                  <a:schemeClr val="accent2"/>
                </a:solidFill>
              </a:rPr>
              <a:t>“</a:t>
            </a:r>
            <a:r>
              <a:rPr lang="en-GB" sz="1600" dirty="0" err="1">
                <a:solidFill>
                  <a:schemeClr val="accent2"/>
                </a:solidFill>
              </a:rPr>
              <a:t>Progr</a:t>
            </a:r>
            <a:r>
              <a:rPr lang="en-GB" sz="1600" dirty="0">
                <a:solidFill>
                  <a:schemeClr val="accent2"/>
                </a:solidFill>
              </a:rPr>
              <a:t>. Paradigms”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60" name="Oval 59"/>
          <p:cNvSpPr/>
          <p:nvPr/>
        </p:nvSpPr>
        <p:spPr>
          <a:xfrm>
            <a:off x="4261472" y="3807713"/>
            <a:ext cx="274712" cy="274712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TextBox 60"/>
          <p:cNvSpPr txBox="1"/>
          <p:nvPr/>
        </p:nvSpPr>
        <p:spPr>
          <a:xfrm>
            <a:off x="3592944" y="4167753"/>
            <a:ext cx="16117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>
                <a:solidFill>
                  <a:schemeClr val="accent2"/>
                </a:solidFill>
              </a:rPr>
              <a:t>”Economics &amp; </a:t>
            </a:r>
            <a:r>
              <a:rPr lang="mr-IN" sz="1600" dirty="0">
                <a:solidFill>
                  <a:schemeClr val="accent2"/>
                </a:solidFill>
              </a:rPr>
              <a:t>…</a:t>
            </a:r>
            <a:r>
              <a:rPr lang="en-GB" sz="1600" dirty="0">
                <a:solidFill>
                  <a:schemeClr val="accent2"/>
                </a:solidFill>
              </a:rPr>
              <a:t>”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62" name="Oval 61"/>
          <p:cNvSpPr/>
          <p:nvPr/>
        </p:nvSpPr>
        <p:spPr>
          <a:xfrm>
            <a:off x="2938541" y="3805793"/>
            <a:ext cx="274712" cy="274712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Oval 62"/>
          <p:cNvSpPr/>
          <p:nvPr/>
        </p:nvSpPr>
        <p:spPr>
          <a:xfrm>
            <a:off x="2938541" y="2642093"/>
            <a:ext cx="274712" cy="274712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Oval 63"/>
          <p:cNvSpPr/>
          <p:nvPr/>
        </p:nvSpPr>
        <p:spPr>
          <a:xfrm>
            <a:off x="5656013" y="3806601"/>
            <a:ext cx="274712" cy="274712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TextBox 64"/>
          <p:cNvSpPr txBox="1"/>
          <p:nvPr/>
        </p:nvSpPr>
        <p:spPr>
          <a:xfrm>
            <a:off x="5175956" y="4166641"/>
            <a:ext cx="123482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solidFill>
                  <a:schemeClr val="accent2"/>
                </a:solidFill>
              </a:rPr>
              <a:t>”M. </a:t>
            </a:r>
            <a:r>
              <a:rPr lang="en-US" sz="1600" dirty="0" err="1">
                <a:solidFill>
                  <a:schemeClr val="accent2"/>
                </a:solidFill>
              </a:rPr>
              <a:t>Gairing</a:t>
            </a:r>
            <a:r>
              <a:rPr lang="en-US" sz="1600" dirty="0">
                <a:solidFill>
                  <a:schemeClr val="accent2"/>
                </a:solidFill>
              </a:rPr>
              <a:t>”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68" name="Oval 67"/>
          <p:cNvSpPr/>
          <p:nvPr/>
        </p:nvSpPr>
        <p:spPr>
          <a:xfrm>
            <a:off x="6382392" y="5110739"/>
            <a:ext cx="274712" cy="274712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TextBox 68"/>
          <p:cNvSpPr txBox="1"/>
          <p:nvPr/>
        </p:nvSpPr>
        <p:spPr>
          <a:xfrm>
            <a:off x="5943901" y="5470779"/>
            <a:ext cx="119449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>
                <a:solidFill>
                  <a:schemeClr val="accent2"/>
                </a:solidFill>
              </a:rPr>
              <a:t>“COMP211”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70" name="Oval 69"/>
          <p:cNvSpPr/>
          <p:nvPr/>
        </p:nvSpPr>
        <p:spPr>
          <a:xfrm>
            <a:off x="7525769" y="5111851"/>
            <a:ext cx="274712" cy="274712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TextBox 70"/>
          <p:cNvSpPr txBox="1"/>
          <p:nvPr/>
        </p:nvSpPr>
        <p:spPr>
          <a:xfrm>
            <a:off x="7170365" y="5471891"/>
            <a:ext cx="121950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>
                <a:solidFill>
                  <a:schemeClr val="accent2"/>
                </a:solidFill>
              </a:rPr>
              <a:t>“Internet </a:t>
            </a:r>
            <a:r>
              <a:rPr lang="mr-IN" sz="1600" dirty="0">
                <a:solidFill>
                  <a:schemeClr val="accent2"/>
                </a:solidFill>
              </a:rPr>
              <a:t>…</a:t>
            </a:r>
            <a:r>
              <a:rPr lang="en-GB" sz="1600" dirty="0">
                <a:solidFill>
                  <a:schemeClr val="accent2"/>
                </a:solidFill>
              </a:rPr>
              <a:t>”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74" name="Oval 73"/>
          <p:cNvSpPr/>
          <p:nvPr/>
        </p:nvSpPr>
        <p:spPr>
          <a:xfrm>
            <a:off x="7116998" y="3804681"/>
            <a:ext cx="274712" cy="274712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Oval 74"/>
          <p:cNvSpPr/>
          <p:nvPr/>
        </p:nvSpPr>
        <p:spPr>
          <a:xfrm>
            <a:off x="6675641" y="2642093"/>
            <a:ext cx="274712" cy="274712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7" name="Straight Arrow Connector 76"/>
          <p:cNvCxnSpPr>
            <a:stCxn id="46" idx="3"/>
            <a:endCxn id="63" idx="7"/>
          </p:cNvCxnSpPr>
          <p:nvPr/>
        </p:nvCxnSpPr>
        <p:spPr>
          <a:xfrm flipH="1">
            <a:off x="3173022" y="2154510"/>
            <a:ext cx="1672043" cy="5278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/>
          <p:cNvCxnSpPr>
            <a:stCxn id="46" idx="5"/>
            <a:endCxn id="75" idx="1"/>
          </p:cNvCxnSpPr>
          <p:nvPr/>
        </p:nvCxnSpPr>
        <p:spPr>
          <a:xfrm>
            <a:off x="5039315" y="2154510"/>
            <a:ext cx="1676557" cy="5278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/>
          <p:cNvCxnSpPr>
            <a:stCxn id="63" idx="2"/>
            <a:endCxn id="52" idx="7"/>
          </p:cNvCxnSpPr>
          <p:nvPr/>
        </p:nvCxnSpPr>
        <p:spPr>
          <a:xfrm flipH="1">
            <a:off x="1017949" y="2779450"/>
            <a:ext cx="1920592" cy="10684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/>
          <p:cNvCxnSpPr>
            <a:stCxn id="63" idx="3"/>
            <a:endCxn id="54" idx="7"/>
          </p:cNvCxnSpPr>
          <p:nvPr/>
        </p:nvCxnSpPr>
        <p:spPr>
          <a:xfrm flipH="1">
            <a:off x="2014254" y="2876574"/>
            <a:ext cx="964519" cy="9713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/>
          <p:cNvCxnSpPr>
            <a:stCxn id="63" idx="4"/>
            <a:endCxn id="62" idx="0"/>
          </p:cNvCxnSpPr>
          <p:nvPr/>
        </p:nvCxnSpPr>
        <p:spPr>
          <a:xfrm>
            <a:off x="3075897" y="2916805"/>
            <a:ext cx="0" cy="8889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/>
          <p:cNvCxnSpPr>
            <a:stCxn id="63" idx="5"/>
            <a:endCxn id="60" idx="1"/>
          </p:cNvCxnSpPr>
          <p:nvPr/>
        </p:nvCxnSpPr>
        <p:spPr>
          <a:xfrm>
            <a:off x="3173023" y="2876574"/>
            <a:ext cx="1128681" cy="9713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93"/>
          <p:cNvCxnSpPr>
            <a:stCxn id="75" idx="3"/>
            <a:endCxn id="64" idx="7"/>
          </p:cNvCxnSpPr>
          <p:nvPr/>
        </p:nvCxnSpPr>
        <p:spPr>
          <a:xfrm flipH="1">
            <a:off x="5890494" y="2876574"/>
            <a:ext cx="825378" cy="9702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/>
          <p:cNvCxnSpPr>
            <a:stCxn id="75" idx="5"/>
            <a:endCxn id="74" idx="0"/>
          </p:cNvCxnSpPr>
          <p:nvPr/>
        </p:nvCxnSpPr>
        <p:spPr>
          <a:xfrm>
            <a:off x="6910122" y="2876575"/>
            <a:ext cx="344232" cy="9281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100"/>
          <p:cNvCxnSpPr>
            <a:stCxn id="62" idx="3"/>
            <a:endCxn id="56" idx="7"/>
          </p:cNvCxnSpPr>
          <p:nvPr/>
        </p:nvCxnSpPr>
        <p:spPr>
          <a:xfrm flipH="1">
            <a:off x="2438416" y="4040274"/>
            <a:ext cx="540356" cy="11106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Arrow Connector 103"/>
          <p:cNvCxnSpPr>
            <a:stCxn id="62" idx="5"/>
            <a:endCxn id="58" idx="1"/>
          </p:cNvCxnSpPr>
          <p:nvPr/>
        </p:nvCxnSpPr>
        <p:spPr>
          <a:xfrm>
            <a:off x="3173022" y="4040274"/>
            <a:ext cx="453878" cy="11118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Arrow Connector 106"/>
          <p:cNvCxnSpPr>
            <a:stCxn id="74" idx="3"/>
            <a:endCxn id="68" idx="7"/>
          </p:cNvCxnSpPr>
          <p:nvPr/>
        </p:nvCxnSpPr>
        <p:spPr>
          <a:xfrm flipH="1">
            <a:off x="6616873" y="4039162"/>
            <a:ext cx="540356" cy="11118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Arrow Connector 110"/>
          <p:cNvCxnSpPr>
            <a:stCxn id="74" idx="4"/>
            <a:endCxn id="70" idx="1"/>
          </p:cNvCxnSpPr>
          <p:nvPr/>
        </p:nvCxnSpPr>
        <p:spPr>
          <a:xfrm>
            <a:off x="7254354" y="4079394"/>
            <a:ext cx="311646" cy="10726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TextBox 113"/>
          <p:cNvSpPr txBox="1"/>
          <p:nvPr/>
        </p:nvSpPr>
        <p:spPr>
          <a:xfrm>
            <a:off x="3449116" y="2084524"/>
            <a:ext cx="8408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lecturer</a:t>
            </a:r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115" name="TextBox 114"/>
          <p:cNvSpPr txBox="1"/>
          <p:nvPr/>
        </p:nvSpPr>
        <p:spPr>
          <a:xfrm>
            <a:off x="5523497" y="1961231"/>
            <a:ext cx="8408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lecturer</a:t>
            </a:r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116" name="TextBox 115"/>
          <p:cNvSpPr txBox="1"/>
          <p:nvPr/>
        </p:nvSpPr>
        <p:spPr>
          <a:xfrm>
            <a:off x="1617889" y="2875462"/>
            <a:ext cx="6559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name</a:t>
            </a:r>
            <a:endParaRPr lang="en-US" dirty="0">
              <a:solidFill>
                <a:schemeClr val="accent3"/>
              </a:solidFill>
            </a:endParaRPr>
          </a:p>
        </p:txBody>
      </p:sp>
      <p:cxnSp>
        <p:nvCxnSpPr>
          <p:cNvPr id="117" name="Straight Arrow Connector 116"/>
          <p:cNvCxnSpPr>
            <a:cxnSpLocks/>
            <a:endCxn id="97" idx="1"/>
          </p:cNvCxnSpPr>
          <p:nvPr/>
        </p:nvCxnSpPr>
        <p:spPr>
          <a:xfrm>
            <a:off x="6675642" y="2779449"/>
            <a:ext cx="2820711" cy="3129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TextBox 119"/>
          <p:cNvSpPr txBox="1"/>
          <p:nvPr/>
        </p:nvSpPr>
        <p:spPr>
          <a:xfrm>
            <a:off x="2288753" y="3396331"/>
            <a:ext cx="71846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phone</a:t>
            </a:r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121" name="TextBox 120"/>
          <p:cNvSpPr txBox="1"/>
          <p:nvPr/>
        </p:nvSpPr>
        <p:spPr>
          <a:xfrm>
            <a:off x="3048241" y="3340627"/>
            <a:ext cx="8286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teaches</a:t>
            </a:r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122" name="TextBox 121"/>
          <p:cNvSpPr txBox="1"/>
          <p:nvPr/>
        </p:nvSpPr>
        <p:spPr>
          <a:xfrm>
            <a:off x="3725394" y="3047795"/>
            <a:ext cx="10951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>
                <a:solidFill>
                  <a:schemeClr val="accent3"/>
                </a:solidFill>
              </a:rPr>
              <a:t>memberOf</a:t>
            </a:r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124" name="TextBox 123"/>
          <p:cNvSpPr txBox="1"/>
          <p:nvPr/>
        </p:nvSpPr>
        <p:spPr>
          <a:xfrm rot="18847236">
            <a:off x="5761042" y="3254573"/>
            <a:ext cx="6559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name</a:t>
            </a:r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125" name="TextBox 124"/>
          <p:cNvSpPr txBox="1"/>
          <p:nvPr/>
        </p:nvSpPr>
        <p:spPr>
          <a:xfrm>
            <a:off x="6340722" y="3324480"/>
            <a:ext cx="8286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>
                <a:solidFill>
                  <a:schemeClr val="accent3"/>
                </a:solidFill>
              </a:rPr>
              <a:t>teaches</a:t>
            </a:r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126" name="TextBox 125"/>
          <p:cNvSpPr txBox="1"/>
          <p:nvPr/>
        </p:nvSpPr>
        <p:spPr>
          <a:xfrm>
            <a:off x="2617735" y="4540671"/>
            <a:ext cx="58855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code</a:t>
            </a:r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127" name="TextBox 126"/>
          <p:cNvSpPr txBox="1"/>
          <p:nvPr/>
        </p:nvSpPr>
        <p:spPr>
          <a:xfrm>
            <a:off x="3469049" y="4540671"/>
            <a:ext cx="5180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title</a:t>
            </a:r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128" name="TextBox 127"/>
          <p:cNvSpPr txBox="1"/>
          <p:nvPr/>
        </p:nvSpPr>
        <p:spPr>
          <a:xfrm>
            <a:off x="6239828" y="4549955"/>
            <a:ext cx="58855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code</a:t>
            </a:r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129" name="TextBox 128"/>
          <p:cNvSpPr txBox="1"/>
          <p:nvPr/>
        </p:nvSpPr>
        <p:spPr>
          <a:xfrm>
            <a:off x="6940128" y="4549955"/>
            <a:ext cx="5180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title</a:t>
            </a:r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132" name="Oval 131"/>
          <p:cNvSpPr/>
          <p:nvPr/>
        </p:nvSpPr>
        <p:spPr>
          <a:xfrm>
            <a:off x="8569370" y="5094134"/>
            <a:ext cx="274712" cy="274712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" name="TextBox 132"/>
          <p:cNvSpPr txBox="1"/>
          <p:nvPr/>
        </p:nvSpPr>
        <p:spPr>
          <a:xfrm>
            <a:off x="8562296" y="5470779"/>
            <a:ext cx="2888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>
                <a:solidFill>
                  <a:schemeClr val="accent2"/>
                </a:solidFill>
              </a:rPr>
              <a:t>2</a:t>
            </a:r>
            <a:endParaRPr lang="en-US" dirty="0">
              <a:solidFill>
                <a:schemeClr val="accent2"/>
              </a:solidFill>
            </a:endParaRPr>
          </a:p>
        </p:txBody>
      </p:sp>
      <p:cxnSp>
        <p:nvCxnSpPr>
          <p:cNvPr id="134" name="Straight Arrow Connector 133"/>
          <p:cNvCxnSpPr>
            <a:stCxn id="74" idx="6"/>
            <a:endCxn id="132" idx="1"/>
          </p:cNvCxnSpPr>
          <p:nvPr/>
        </p:nvCxnSpPr>
        <p:spPr>
          <a:xfrm>
            <a:off x="7391711" y="3942037"/>
            <a:ext cx="1217891" cy="11923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TextBox 137"/>
          <p:cNvSpPr txBox="1"/>
          <p:nvPr/>
        </p:nvSpPr>
        <p:spPr>
          <a:xfrm>
            <a:off x="7631548" y="4540671"/>
            <a:ext cx="5477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year</a:t>
            </a:r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139" name="TextBox 138"/>
          <p:cNvSpPr txBox="1"/>
          <p:nvPr/>
        </p:nvSpPr>
        <p:spPr>
          <a:xfrm>
            <a:off x="7836225" y="2598814"/>
            <a:ext cx="10951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>
                <a:solidFill>
                  <a:schemeClr val="accent3"/>
                </a:solidFill>
              </a:rPr>
              <a:t>memberOf</a:t>
            </a:r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145" name="Oval 144"/>
          <p:cNvSpPr/>
          <p:nvPr/>
        </p:nvSpPr>
        <p:spPr>
          <a:xfrm>
            <a:off x="8454020" y="3826799"/>
            <a:ext cx="274712" cy="274712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6" name="Straight Arrow Connector 145"/>
          <p:cNvCxnSpPr>
            <a:stCxn id="75" idx="6"/>
            <a:endCxn id="145" idx="1"/>
          </p:cNvCxnSpPr>
          <p:nvPr/>
        </p:nvCxnSpPr>
        <p:spPr>
          <a:xfrm>
            <a:off x="6950353" y="2779450"/>
            <a:ext cx="1543898" cy="10875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" name="TextBox 146"/>
          <p:cNvSpPr txBox="1"/>
          <p:nvPr/>
        </p:nvSpPr>
        <p:spPr>
          <a:xfrm>
            <a:off x="7663037" y="3057777"/>
            <a:ext cx="6415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>
                <a:solidFill>
                  <a:schemeClr val="accent3"/>
                </a:solidFill>
              </a:rPr>
              <a:t>email</a:t>
            </a:r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151" name="TextBox 150"/>
          <p:cNvSpPr txBox="1"/>
          <p:nvPr/>
        </p:nvSpPr>
        <p:spPr>
          <a:xfrm>
            <a:off x="8030310" y="4136913"/>
            <a:ext cx="115858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solidFill>
                  <a:schemeClr val="accent2"/>
                </a:solidFill>
              </a:rPr>
              <a:t>“</a:t>
            </a:r>
            <a:r>
              <a:rPr lang="en-US" sz="1600" dirty="0" err="1">
                <a:solidFill>
                  <a:schemeClr val="accent2"/>
                </a:solidFill>
              </a:rPr>
              <a:t>gairing</a:t>
            </a:r>
            <a:r>
              <a:rPr lang="en-US" sz="1600" dirty="0">
                <a:solidFill>
                  <a:schemeClr val="accent2"/>
                </a:solidFill>
              </a:rPr>
              <a:t>@...</a:t>
            </a:r>
            <a:endParaRPr lang="en-US" dirty="0">
              <a:solidFill>
                <a:schemeClr val="accent2"/>
              </a:solidFill>
            </a:endParaRPr>
          </a:p>
        </p:txBody>
      </p:sp>
      <p:pic>
        <p:nvPicPr>
          <p:cNvPr id="1025" name="Picture 1" descr="hange Folder Icon in Windows 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5045" y="2477130"/>
            <a:ext cx="548680" cy="548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6" name="Picture 65" descr="hange Folder Icon in Windows 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1769" y="1778393"/>
            <a:ext cx="548680" cy="548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2" name="Picture 71" descr="hange Folder Icon in Windows 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1187" y="3701174"/>
            <a:ext cx="548680" cy="548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3" name="Picture 72" descr="hange Folder Icon in Windows 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9586" y="2464878"/>
            <a:ext cx="548680" cy="548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6" name="Picture 75" descr="hange Folder Icon in Windows 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2754" y="7452824"/>
            <a:ext cx="96247" cy="962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mage result for windows text file icon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521" y="3709183"/>
            <a:ext cx="427730" cy="4277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9" name="Picture 3" descr="mage result for windows text file icon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3396" y="3688364"/>
            <a:ext cx="427730" cy="4277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0" name="Picture 3" descr="mage result for windows text file icon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8336" y="5054346"/>
            <a:ext cx="427730" cy="4277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" name="Picture 3" descr="mage result for windows text file icon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9435" y="5006704"/>
            <a:ext cx="427730" cy="4277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3" name="Picture 3" descr="mage result for windows text file icon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7429" y="3728021"/>
            <a:ext cx="427730" cy="4277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4" name="Picture 3" descr="mage result for windows text file icon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9504" y="3695022"/>
            <a:ext cx="427730" cy="4277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6" name="Picture 3" descr="mage result for windows text file icon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6048" y="4992167"/>
            <a:ext cx="427730" cy="4277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7" name="Picture 3" descr="mage result for windows text file icon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5489" y="5035603"/>
            <a:ext cx="427730" cy="4277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9" name="Picture 3" descr="mage result for windows text file icon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89515" y="5010231"/>
            <a:ext cx="427730" cy="4277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0" name="Picture 3" descr="mage result for windows text file icon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3811" y="3776826"/>
            <a:ext cx="427730" cy="4277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" name="Picture 91" descr="hange Folder Icon in Windows 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5321" y="3734885"/>
            <a:ext cx="548680" cy="548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5" name="Oval 94">
            <a:extLst>
              <a:ext uri="{FF2B5EF4-FFF2-40B4-BE49-F238E27FC236}">
                <a16:creationId xmlns:a16="http://schemas.microsoft.com/office/drawing/2014/main" id="{F945D9E1-B68B-494C-B041-1A2680898C77}"/>
              </a:ext>
            </a:extLst>
          </p:cNvPr>
          <p:cNvSpPr/>
          <p:nvPr/>
        </p:nvSpPr>
        <p:spPr>
          <a:xfrm>
            <a:off x="9560396" y="2958213"/>
            <a:ext cx="274712" cy="274712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A9478F05-FF08-4D9D-AF02-A67B16B581F4}"/>
              </a:ext>
            </a:extLst>
          </p:cNvPr>
          <p:cNvSpPr txBox="1"/>
          <p:nvPr/>
        </p:nvSpPr>
        <p:spPr>
          <a:xfrm>
            <a:off x="8891868" y="3318253"/>
            <a:ext cx="16117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>
                <a:solidFill>
                  <a:schemeClr val="accent2"/>
                </a:solidFill>
              </a:rPr>
              <a:t>”Economics &amp; </a:t>
            </a:r>
            <a:r>
              <a:rPr lang="mr-IN" sz="1600" dirty="0">
                <a:solidFill>
                  <a:schemeClr val="accent2"/>
                </a:solidFill>
              </a:rPr>
              <a:t>…</a:t>
            </a:r>
            <a:r>
              <a:rPr lang="en-GB" sz="1600" dirty="0">
                <a:solidFill>
                  <a:schemeClr val="accent2"/>
                </a:solidFill>
              </a:rPr>
              <a:t>”</a:t>
            </a:r>
            <a:endParaRPr lang="en-US" dirty="0">
              <a:solidFill>
                <a:schemeClr val="accent2"/>
              </a:solidFill>
            </a:endParaRPr>
          </a:p>
        </p:txBody>
      </p:sp>
      <p:pic>
        <p:nvPicPr>
          <p:cNvPr id="97" name="Picture 3" descr="mage result for windows text file icon">
            <a:extLst>
              <a:ext uri="{FF2B5EF4-FFF2-40B4-BE49-F238E27FC236}">
                <a16:creationId xmlns:a16="http://schemas.microsoft.com/office/drawing/2014/main" id="{5C121E70-5308-4C06-8C81-846240529A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96353" y="2878521"/>
            <a:ext cx="427730" cy="4277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803676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 tmFilter="0, 0; .2, .5; .8, .5; 1, 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3" dur="250" autoRev="1" fill="hold"/>
                                        <p:tgtEl>
                                          <p:spTgt spid="11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44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500" tmFilter="0, 0; .2, .5; .8, .5; 1, 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6" dur="250" autoRev="1" fill="hold"/>
                                        <p:tgtEl>
                                          <p:spTgt spid="11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" grpId="0"/>
      <p:bldP spid="11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Navigation Axes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1668" y="1210113"/>
            <a:ext cx="10528663" cy="4725663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An axis determines the next item on the path: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>
              <a:solidFill>
                <a:srgbClr val="FF0000"/>
              </a:solidFill>
            </a:endParaRPr>
          </a:p>
          <a:p>
            <a:endParaRPr lang="en-US" sz="2400" dirty="0">
              <a:solidFill>
                <a:srgbClr val="FF0000"/>
              </a:solidFill>
            </a:endParaRPr>
          </a:p>
          <a:p>
            <a:r>
              <a:rPr lang="en-US" sz="2400" dirty="0">
                <a:solidFill>
                  <a:srgbClr val="FF0000"/>
                </a:solidFill>
              </a:rPr>
              <a:t>Red axes: </a:t>
            </a:r>
            <a:r>
              <a:rPr lang="en-US" sz="2400" dirty="0"/>
              <a:t>Reverse axes (i.e. nodes are ordered in reverse of document order) for [</a:t>
            </a:r>
            <a:r>
              <a:rPr lang="en-US" sz="2400" dirty="0" err="1"/>
              <a:t>i</a:t>
            </a:r>
            <a:r>
              <a:rPr lang="en-US" sz="2400" dirty="0"/>
              <a:t>] where </a:t>
            </a:r>
            <a:r>
              <a:rPr lang="en-US" sz="2400" dirty="0" err="1"/>
              <a:t>i</a:t>
            </a:r>
            <a:r>
              <a:rPr lang="en-US" sz="2400" dirty="0"/>
              <a:t> is some number… (The nodes are ordered as normal in output)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8222245"/>
              </p:ext>
            </p:extLst>
          </p:nvPr>
        </p:nvGraphicFramePr>
        <p:xfrm>
          <a:off x="2086608" y="1622095"/>
          <a:ext cx="4680520" cy="317520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20162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42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8203">
                <a:tc>
                  <a:txBody>
                    <a:bodyPr/>
                    <a:lstStyle/>
                    <a:p>
                      <a:r>
                        <a:rPr lang="en-US" dirty="0"/>
                        <a:t>If </a:t>
                      </a:r>
                      <a:r>
                        <a:rPr lang="en-US" dirty="0" err="1"/>
                        <a:t>axis</a:t>
                      </a:r>
                      <a:r>
                        <a:rPr lang="en-US" baseline="-25000" dirty="0" err="1"/>
                        <a:t>i</a:t>
                      </a:r>
                      <a:r>
                        <a:rPr lang="en-US" baseline="0" dirty="0"/>
                        <a:t> is</a:t>
                      </a:r>
                      <a:r>
                        <a:rPr lang="mr-IN" baseline="0" dirty="0"/>
                        <a:t>…</a:t>
                      </a:r>
                      <a:endParaRPr lang="en-US" baseline="-25000" dirty="0"/>
                    </a:p>
                  </a:txBody>
                  <a:tcPr marT="21600" marB="21600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then </a:t>
                      </a:r>
                      <a:r>
                        <a:rPr lang="en-GB" dirty="0" err="1"/>
                        <a:t>E</a:t>
                      </a:r>
                      <a:r>
                        <a:rPr lang="en-GB" baseline="-25000" dirty="0" err="1"/>
                        <a:t>i</a:t>
                      </a:r>
                      <a:r>
                        <a:rPr lang="en-GB" dirty="0"/>
                        <a:t> is the name of</a:t>
                      </a:r>
                      <a:r>
                        <a:rPr lang="mr-IN" dirty="0"/>
                        <a:t>…</a:t>
                      </a:r>
                      <a:endParaRPr lang="en-US" dirty="0"/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203">
                <a:tc>
                  <a:txBody>
                    <a:bodyPr/>
                    <a:lstStyle/>
                    <a:p>
                      <a:r>
                        <a:rPr lang="en-US" dirty="0"/>
                        <a:t>attribute</a:t>
                      </a:r>
                    </a:p>
                  </a:txBody>
                  <a:tcPr marT="21600" marB="216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an</a:t>
                      </a:r>
                      <a:r>
                        <a:rPr lang="en-US" baseline="0" dirty="0"/>
                        <a:t> </a:t>
                      </a:r>
                      <a:r>
                        <a:rPr lang="en-US" dirty="0"/>
                        <a:t>attribute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US" dirty="0"/>
                        <a:t>child</a:t>
                      </a:r>
                    </a:p>
                  </a:txBody>
                  <a:tcPr marT="21600" marB="216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any child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US" dirty="0"/>
                        <a:t>descendant</a:t>
                      </a:r>
                    </a:p>
                  </a:txBody>
                  <a:tcPr marT="21600" marB="216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any proper descendant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US" dirty="0"/>
                        <a:t>descendant</a:t>
                      </a:r>
                      <a:r>
                        <a:rPr lang="en-US" baseline="0" dirty="0"/>
                        <a:t>-or-self</a:t>
                      </a:r>
                      <a:endParaRPr lang="en-US" dirty="0"/>
                    </a:p>
                  </a:txBody>
                  <a:tcPr marT="21600" marB="216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any descendant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ancestor</a:t>
                      </a:r>
                    </a:p>
                  </a:txBody>
                  <a:tcPr marT="21600" marB="21600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any proper</a:t>
                      </a:r>
                      <a:r>
                        <a:rPr lang="en-US" baseline="0" dirty="0">
                          <a:solidFill>
                            <a:srgbClr val="FF0000"/>
                          </a:solidFill>
                        </a:rPr>
                        <a:t> ancestor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following-sibling</a:t>
                      </a:r>
                    </a:p>
                  </a:txBody>
                  <a:tcPr marT="21600" marB="216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any sibling to the right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preceding-sibling</a:t>
                      </a:r>
                    </a:p>
                  </a:txBody>
                  <a:tcPr marT="21600" marB="21600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any</a:t>
                      </a:r>
                      <a:r>
                        <a:rPr lang="en-US" baseline="0" dirty="0">
                          <a:solidFill>
                            <a:srgbClr val="FF0000"/>
                          </a:solidFill>
                        </a:rPr>
                        <a:t> s</a:t>
                      </a: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ibling to the left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parent</a:t>
                      </a:r>
                    </a:p>
                  </a:txBody>
                  <a:tcPr marT="21600" marB="21600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the</a:t>
                      </a:r>
                      <a:r>
                        <a:rPr lang="en-US" baseline="0" dirty="0">
                          <a:solidFill>
                            <a:srgbClr val="FF0000"/>
                          </a:solidFill>
                        </a:rPr>
                        <a:t> parent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self</a:t>
                      </a:r>
                    </a:p>
                  </a:txBody>
                  <a:tcPr marT="21600" marB="21600"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yourself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876925289"/>
                  </a:ext>
                </a:extLst>
              </a:tr>
            </a:tbl>
          </a:graphicData>
        </a:graphic>
      </p:graphicFrame>
      <p:sp>
        <p:nvSpPr>
          <p:cNvPr id="13" name="Rounded Rectangular Callout 12"/>
          <p:cNvSpPr/>
          <p:nvPr/>
        </p:nvSpPr>
        <p:spPr>
          <a:xfrm>
            <a:off x="6532867" y="1692431"/>
            <a:ext cx="3286792" cy="442368"/>
          </a:xfrm>
          <a:prstGeom prst="wedgeRoundRectCallout">
            <a:avLst>
              <a:gd name="adj1" fmla="val -55450"/>
              <a:gd name="adj2" fmla="val 42972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@ is a shorthand for ”attribute::”</a:t>
            </a:r>
          </a:p>
        </p:txBody>
      </p:sp>
      <p:sp>
        <p:nvSpPr>
          <p:cNvPr id="14" name="Rounded Rectangular Callout 13"/>
          <p:cNvSpPr/>
          <p:nvPr/>
        </p:nvSpPr>
        <p:spPr>
          <a:xfrm>
            <a:off x="6532867" y="2210839"/>
            <a:ext cx="3286792" cy="442368"/>
          </a:xfrm>
          <a:prstGeom prst="wedgeRoundRectCallout">
            <a:avLst>
              <a:gd name="adj1" fmla="val -55172"/>
              <a:gd name="adj2" fmla="val 20234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Default</a:t>
            </a:r>
            <a:r>
              <a:rPr lang="en-US"/>
              <a:t>, ”child</a:t>
            </a:r>
            <a:r>
              <a:rPr lang="en-US" dirty="0"/>
              <a:t>::” can be omitted</a:t>
            </a:r>
          </a:p>
        </p:txBody>
      </p:sp>
      <p:sp>
        <p:nvSpPr>
          <p:cNvPr id="9" name="Rounded Rectangular Callout 8"/>
          <p:cNvSpPr/>
          <p:nvPr/>
        </p:nvSpPr>
        <p:spPr>
          <a:xfrm>
            <a:off x="6532867" y="3851428"/>
            <a:ext cx="3286792" cy="442368"/>
          </a:xfrm>
          <a:prstGeom prst="wedgeRoundRectCallout">
            <a:avLst>
              <a:gd name="adj1" fmla="val -60443"/>
              <a:gd name="adj2" fmla="val 41205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.. is a shorthand for ”parent::”</a:t>
            </a:r>
          </a:p>
        </p:txBody>
      </p:sp>
      <p:sp>
        <p:nvSpPr>
          <p:cNvPr id="11" name="Rounded Rectangular Callout 8">
            <a:extLst>
              <a:ext uri="{FF2B5EF4-FFF2-40B4-BE49-F238E27FC236}">
                <a16:creationId xmlns:a16="http://schemas.microsoft.com/office/drawing/2014/main" id="{D7A02A6D-D7EA-4ED2-A241-B39B08CEAA82}"/>
              </a:ext>
            </a:extLst>
          </p:cNvPr>
          <p:cNvSpPr/>
          <p:nvPr/>
        </p:nvSpPr>
        <p:spPr>
          <a:xfrm>
            <a:off x="6532867" y="4348738"/>
            <a:ext cx="3286792" cy="442368"/>
          </a:xfrm>
          <a:prstGeom prst="wedgeRoundRectCallout">
            <a:avLst>
              <a:gd name="adj1" fmla="val -62346"/>
              <a:gd name="adj2" fmla="val 571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. is a shorthand for ”self::”</a:t>
            </a:r>
          </a:p>
        </p:txBody>
      </p:sp>
      <p:sp>
        <p:nvSpPr>
          <p:cNvPr id="16" name="Rounded Rectangular Callout 14">
            <a:extLst>
              <a:ext uri="{FF2B5EF4-FFF2-40B4-BE49-F238E27FC236}">
                <a16:creationId xmlns:a16="http://schemas.microsoft.com/office/drawing/2014/main" id="{3A587763-A277-41A7-9447-1E408584713B}"/>
              </a:ext>
            </a:extLst>
          </p:cNvPr>
          <p:cNvSpPr/>
          <p:nvPr/>
        </p:nvSpPr>
        <p:spPr>
          <a:xfrm>
            <a:off x="6532867" y="2939137"/>
            <a:ext cx="3286792" cy="598745"/>
          </a:xfrm>
          <a:prstGeom prst="wedgeRoundRectCallout">
            <a:avLst>
              <a:gd name="adj1" fmla="val -54848"/>
              <a:gd name="adj2" fmla="val -40143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Instead of /descendant-or-self::E</a:t>
            </a:r>
            <a:br>
              <a:rPr lang="en-US" dirty="0"/>
            </a:br>
            <a:r>
              <a:rPr lang="en-US" dirty="0"/>
              <a:t>we write //E</a:t>
            </a:r>
          </a:p>
        </p:txBody>
      </p:sp>
    </p:spTree>
    <p:extLst>
      <p:ext uri="{BB962C8B-B14F-4D97-AF65-F5344CB8AC3E}">
        <p14:creationId xmlns:p14="http://schemas.microsoft.com/office/powerpoint/2010/main" val="13495722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Conditions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Most general form of a path expression:</a:t>
            </a:r>
          </a:p>
          <a:p>
            <a:endParaRPr lang="en-US" dirty="0"/>
          </a:p>
          <a:p>
            <a:endParaRPr lang="en-US" dirty="0"/>
          </a:p>
          <a:p>
            <a:pPr>
              <a:spcBef>
                <a:spcPts val="3072"/>
              </a:spcBef>
            </a:pPr>
            <a:r>
              <a:rPr lang="en-US" dirty="0"/>
              <a:t>Idea: if the condition is true, follow the path further</a:t>
            </a:r>
          </a:p>
          <a:p>
            <a:r>
              <a:rPr lang="en-US" dirty="0"/>
              <a:t>Basic form of conditions:</a:t>
            </a:r>
          </a:p>
          <a:p>
            <a:pPr lvl="1"/>
            <a:r>
              <a:rPr lang="en-US" dirty="0"/>
              <a:t>Comparisons of two values with =, &lt;, &gt;, &lt;=, &gt;=, !=</a:t>
            </a:r>
          </a:p>
          <a:p>
            <a:pPr lvl="2"/>
            <a:r>
              <a:rPr lang="en-US" dirty="0"/>
              <a:t>A value can be a relative path expression or any constant</a:t>
            </a:r>
          </a:p>
          <a:p>
            <a:pPr lvl="2"/>
            <a:r>
              <a:rPr lang="en-US" dirty="0"/>
              <a:t>“Existential semantics”</a:t>
            </a:r>
          </a:p>
          <a:p>
            <a:pPr lvl="1"/>
            <a:r>
              <a:rPr lang="en-US" dirty="0"/>
              <a:t>Combinations of such comparisons using ’and’ &amp; ‘or’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22989" y="2173898"/>
            <a:ext cx="6946023" cy="73284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180000" tIns="180000" rIns="180000" bIns="180000" rtlCol="0">
            <a:spAutoFit/>
          </a:bodyPr>
          <a:lstStyle/>
          <a:p>
            <a:pPr algn="ctr"/>
            <a:r>
              <a:rPr lang="en-US" sz="2400" dirty="0"/>
              <a:t>/axis</a:t>
            </a:r>
            <a:r>
              <a:rPr lang="en-US" sz="2400" baseline="-25000" dirty="0"/>
              <a:t>1</a:t>
            </a:r>
            <a:r>
              <a:rPr lang="en-US" sz="2400" dirty="0"/>
              <a:t>::E</a:t>
            </a:r>
            <a:r>
              <a:rPr lang="en-US" sz="2400" baseline="-25000" dirty="0"/>
              <a:t>1</a:t>
            </a:r>
            <a:r>
              <a:rPr lang="en-US" sz="2400" dirty="0"/>
              <a:t>[C</a:t>
            </a:r>
            <a:r>
              <a:rPr lang="en-US" sz="2400" baseline="-25000" dirty="0"/>
              <a:t>1</a:t>
            </a:r>
            <a:r>
              <a:rPr lang="en-US" sz="2400" dirty="0"/>
              <a:t>]/axis</a:t>
            </a:r>
            <a:r>
              <a:rPr lang="en-US" sz="2400" baseline="-25000" dirty="0"/>
              <a:t>2</a:t>
            </a:r>
            <a:r>
              <a:rPr lang="en-US" sz="2400" dirty="0"/>
              <a:t>::E</a:t>
            </a:r>
            <a:r>
              <a:rPr lang="en-US" sz="2400" baseline="-25000" dirty="0"/>
              <a:t>2</a:t>
            </a:r>
            <a:r>
              <a:rPr lang="en-US" sz="2400" dirty="0"/>
              <a:t>[C</a:t>
            </a:r>
            <a:r>
              <a:rPr lang="en-US" sz="2400" baseline="-25000" dirty="0"/>
              <a:t>2</a:t>
            </a:r>
            <a:r>
              <a:rPr lang="en-US" sz="2400" dirty="0"/>
              <a:t>]/axis</a:t>
            </a:r>
            <a:r>
              <a:rPr lang="en-US" sz="2400" baseline="-25000" dirty="0"/>
              <a:t>3</a:t>
            </a:r>
            <a:r>
              <a:rPr lang="en-US" sz="2400" dirty="0"/>
              <a:t>::E</a:t>
            </a:r>
            <a:r>
              <a:rPr lang="en-US" sz="2400" baseline="-25000" dirty="0"/>
              <a:t>3</a:t>
            </a:r>
            <a:r>
              <a:rPr lang="en-US" sz="2400" dirty="0"/>
              <a:t>[C</a:t>
            </a:r>
            <a:r>
              <a:rPr lang="en-US" sz="2400" baseline="-25000" dirty="0"/>
              <a:t>3</a:t>
            </a:r>
            <a:r>
              <a:rPr lang="en-US" sz="2400" dirty="0"/>
              <a:t>]/</a:t>
            </a:r>
            <a:r>
              <a:rPr lang="mr-IN" sz="2400" dirty="0"/>
              <a:t>…</a:t>
            </a:r>
            <a:r>
              <a:rPr lang="en-GB" sz="2400" dirty="0"/>
              <a:t>/</a:t>
            </a:r>
            <a:r>
              <a:rPr lang="en-US" sz="2400" dirty="0" err="1"/>
              <a:t>axis</a:t>
            </a:r>
            <a:r>
              <a:rPr lang="en-US" sz="2400" baseline="-25000" dirty="0" err="1"/>
              <a:t>n</a:t>
            </a:r>
            <a:r>
              <a:rPr lang="en-US" sz="2400" dirty="0"/>
              <a:t>::</a:t>
            </a:r>
            <a:r>
              <a:rPr lang="en-GB" sz="2400" dirty="0" err="1"/>
              <a:t>E</a:t>
            </a:r>
            <a:r>
              <a:rPr lang="en-GB" sz="2400" baseline="-25000" dirty="0" err="1"/>
              <a:t>n</a:t>
            </a:r>
            <a:r>
              <a:rPr lang="en-US" sz="2400" dirty="0"/>
              <a:t>[C</a:t>
            </a:r>
            <a:r>
              <a:rPr lang="en-US" sz="2400" baseline="-25000" dirty="0"/>
              <a:t>n</a:t>
            </a:r>
            <a:r>
              <a:rPr lang="en-US" sz="2400" dirty="0"/>
              <a:t>]</a:t>
            </a:r>
            <a:endParaRPr lang="en-US" sz="2400" baseline="-25000" dirty="0"/>
          </a:p>
        </p:txBody>
      </p:sp>
      <p:cxnSp>
        <p:nvCxnSpPr>
          <p:cNvPr id="7" name="Straight Arrow Connector 6"/>
          <p:cNvCxnSpPr/>
          <p:nvPr/>
        </p:nvCxnSpPr>
        <p:spPr>
          <a:xfrm flipH="1" flipV="1">
            <a:off x="4146909" y="2699852"/>
            <a:ext cx="7548" cy="2880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699299" y="2987882"/>
            <a:ext cx="627402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A condition (in principle, anything that can be true or false)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967311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FF85E9-E421-94E9-0CE8-2E1401A1F0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T" dirty="0"/>
              <a:t>Other things to write in conditions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29AACD-6A92-5692-AFF4-F4C32A1978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T" dirty="0"/>
              <a:t>Instead of a boolean directly, one can write:</a:t>
            </a:r>
          </a:p>
          <a:p>
            <a:pPr lvl="1"/>
            <a:r>
              <a:rPr lang="en-AT" dirty="0"/>
              <a:t>A number, e.g. </a:t>
            </a:r>
            <a:r>
              <a:rPr lang="en-AT" dirty="0">
                <a:solidFill>
                  <a:srgbClr val="E48312"/>
                </a:solidFill>
              </a:rPr>
              <a:t>[1]</a:t>
            </a:r>
            <a:r>
              <a:rPr lang="en-AT" dirty="0"/>
              <a:t>, satisfied for the first node in document order (or reverse document order if </a:t>
            </a:r>
            <a:r>
              <a:rPr lang="en-AT" dirty="0">
                <a:solidFill>
                  <a:srgbClr val="FF0000"/>
                </a:solidFill>
              </a:rPr>
              <a:t>red</a:t>
            </a:r>
            <a:r>
              <a:rPr lang="en-AT" dirty="0"/>
              <a:t> axis)</a:t>
            </a:r>
          </a:p>
          <a:p>
            <a:pPr lvl="2"/>
            <a:r>
              <a:rPr lang="en-AT" dirty="0"/>
              <a:t>(Also the function last() for the last node)</a:t>
            </a:r>
          </a:p>
          <a:p>
            <a:pPr lvl="1"/>
            <a:r>
              <a:rPr lang="en-AT" dirty="0"/>
              <a:t>An XPath, e.g. </a:t>
            </a:r>
            <a:r>
              <a:rPr lang="en-AT" dirty="0">
                <a:solidFill>
                  <a:srgbClr val="E48312"/>
                </a:solidFill>
              </a:rPr>
              <a:t>[.//*@]</a:t>
            </a:r>
            <a:r>
              <a:rPr lang="en-AT" dirty="0"/>
              <a:t>, which is satisfied if an attribute exists under the current node</a:t>
            </a:r>
          </a:p>
          <a:p>
            <a:pPr lvl="1"/>
            <a:r>
              <a:rPr lang="en-AT" dirty="0"/>
              <a:t>A string, e.g. </a:t>
            </a:r>
            <a:r>
              <a:rPr lang="en-US" dirty="0">
                <a:solidFill>
                  <a:srgbClr val="E48312"/>
                </a:solidFill>
              </a:rPr>
              <a:t>//book[@price/data()]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, satisfied if the string is not empty</a:t>
            </a:r>
          </a:p>
          <a:p>
            <a:pPr lvl="1"/>
            <a:endParaRPr lang="en-AT" dirty="0"/>
          </a:p>
        </p:txBody>
      </p:sp>
    </p:spTree>
    <p:extLst>
      <p:ext uri="{BB962C8B-B14F-4D97-AF65-F5344CB8AC3E}">
        <p14:creationId xmlns:p14="http://schemas.microsoft.com/office/powerpoint/2010/main" val="78816858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6|4.9|15.1|3.7|9.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8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ST theme powerpoint">
  <a:themeElements>
    <a:clrScheme name="Custom 8">
      <a:dk1>
        <a:srgbClr val="374C22"/>
      </a:dk1>
      <a:lt1>
        <a:sysClr val="window" lastClr="FFFFFF"/>
      </a:lt1>
      <a:dk2>
        <a:srgbClr val="194431"/>
      </a:dk2>
      <a:lt2>
        <a:srgbClr val="F0E6C3"/>
      </a:lt2>
      <a:accent1>
        <a:srgbClr val="F8C000"/>
      </a:accent1>
      <a:accent2>
        <a:srgbClr val="F88600"/>
      </a:accent2>
      <a:accent3>
        <a:srgbClr val="F83500"/>
      </a:accent3>
      <a:accent4>
        <a:srgbClr val="8B723D"/>
      </a:accent4>
      <a:accent5>
        <a:srgbClr val="818B3D"/>
      </a:accent5>
      <a:accent6>
        <a:srgbClr val="586215"/>
      </a:accent6>
      <a:hlink>
        <a:srgbClr val="FF621D"/>
      </a:hlink>
      <a:folHlink>
        <a:srgbClr val="F3D260"/>
      </a:folHlink>
    </a:clrScheme>
    <a:fontScheme name="Adjacency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djacency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75000">
              <a:schemeClr val="phClr">
                <a:shade val="100000"/>
                <a:satMod val="115000"/>
              </a:schemeClr>
            </a:gs>
            <a:gs pos="100000">
              <a:schemeClr val="phClr">
                <a:shade val="70000"/>
                <a:satMod val="130000"/>
              </a:schemeClr>
            </a:gs>
          </a:gsLst>
          <a:path path="circle">
            <a:fillToRect l="20000" t="50000" r="10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7000"/>
              </a:schemeClr>
              <a:schemeClr val="phClr">
                <a:shade val="96000"/>
              </a:schemeClr>
            </a:duotone>
          </a:blip>
          <a:tile tx="0" ty="0" sx="32000" sy="32000" flip="none" algn="tl"/>
        </a:blipFill>
      </a:bgFillStyleLst>
    </a:fmtScheme>
  </a:themeElements>
  <a:objectDefaults>
    <a:spDef>
      <a:spPr>
        <a:ln w="63500">
          <a:tailEnd type="triangle"/>
        </a:ln>
      </a:spPr>
      <a:bodyPr rtlCol="0" anchor="ctr"/>
      <a:lstStyle>
        <a:defPPr algn="ctr">
          <a:defRPr/>
        </a:defPPr>
      </a:lstStyle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spDef>
    <a:lnDef>
      <a:spPr>
        <a:ln w="63500">
          <a:tailEnd type="triangle"/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IST theme powerpoint</Template>
  <TotalTime>277</TotalTime>
  <Words>508</Words>
  <Application>Microsoft Macintosh PowerPoint</Application>
  <PresentationFormat>Widescreen</PresentationFormat>
  <Paragraphs>97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Cambria</vt:lpstr>
      <vt:lpstr>IST theme powerpoint</vt:lpstr>
      <vt:lpstr>Lecture 16</vt:lpstr>
      <vt:lpstr>Redo of week 6 assessment</vt:lpstr>
      <vt:lpstr>Feedback for practical SQL assignment</vt:lpstr>
      <vt:lpstr>XML intuition (from basic XML)</vt:lpstr>
      <vt:lpstr>Navigation Axes</vt:lpstr>
      <vt:lpstr>Conditions</vt:lpstr>
      <vt:lpstr>Other things to write in conditions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16</dc:title>
  <dc:creator>Ibsen-Jensen, Rasmus</dc:creator>
  <cp:lastModifiedBy>Ibsen-Jensen, Rasmus</cp:lastModifiedBy>
  <cp:revision>1</cp:revision>
  <dcterms:created xsi:type="dcterms:W3CDTF">2023-11-15T18:38:20Z</dcterms:created>
  <dcterms:modified xsi:type="dcterms:W3CDTF">2023-11-15T23:15:57Z</dcterms:modified>
</cp:coreProperties>
</file>