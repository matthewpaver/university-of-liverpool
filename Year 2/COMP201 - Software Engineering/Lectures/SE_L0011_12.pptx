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50"/>
  </p:notesMasterIdLst>
  <p:handoutMasterIdLst>
    <p:handoutMasterId r:id="rId51"/>
  </p:handoutMasterIdLst>
  <p:sldIdLst>
    <p:sldId id="311" r:id="rId2"/>
    <p:sldId id="285" r:id="rId3"/>
    <p:sldId id="314" r:id="rId4"/>
    <p:sldId id="286" r:id="rId5"/>
    <p:sldId id="315" r:id="rId6"/>
    <p:sldId id="287" r:id="rId7"/>
    <p:sldId id="288" r:id="rId8"/>
    <p:sldId id="289" r:id="rId9"/>
    <p:sldId id="290" r:id="rId10"/>
    <p:sldId id="316" r:id="rId11"/>
    <p:sldId id="317" r:id="rId12"/>
    <p:sldId id="291" r:id="rId13"/>
    <p:sldId id="292" r:id="rId14"/>
    <p:sldId id="318" r:id="rId15"/>
    <p:sldId id="319" r:id="rId16"/>
    <p:sldId id="293" r:id="rId17"/>
    <p:sldId id="294" r:id="rId18"/>
    <p:sldId id="295" r:id="rId19"/>
    <p:sldId id="296" r:id="rId20"/>
    <p:sldId id="332" r:id="rId21"/>
    <p:sldId id="338" r:id="rId22"/>
    <p:sldId id="298" r:id="rId23"/>
    <p:sldId id="299" r:id="rId24"/>
    <p:sldId id="334" r:id="rId25"/>
    <p:sldId id="300" r:id="rId26"/>
    <p:sldId id="302" r:id="rId27"/>
    <p:sldId id="339" r:id="rId28"/>
    <p:sldId id="320" r:id="rId29"/>
    <p:sldId id="321" r:id="rId30"/>
    <p:sldId id="322" r:id="rId31"/>
    <p:sldId id="303" r:id="rId32"/>
    <p:sldId id="304" r:id="rId33"/>
    <p:sldId id="305" r:id="rId34"/>
    <p:sldId id="306" r:id="rId35"/>
    <p:sldId id="307" r:id="rId36"/>
    <p:sldId id="308" r:id="rId37"/>
    <p:sldId id="323" r:id="rId38"/>
    <p:sldId id="326" r:id="rId39"/>
    <p:sldId id="340" r:id="rId40"/>
    <p:sldId id="313" r:id="rId41"/>
    <p:sldId id="309" r:id="rId42"/>
    <p:sldId id="310" r:id="rId43"/>
    <p:sldId id="324" r:id="rId44"/>
    <p:sldId id="328" r:id="rId45"/>
    <p:sldId id="329" r:id="rId46"/>
    <p:sldId id="330" r:id="rId47"/>
    <p:sldId id="335" r:id="rId48"/>
    <p:sldId id="312" r:id="rId49"/>
  </p:sldIdLst>
  <p:sldSz cx="9906000" cy="6858000" type="A4"/>
  <p:notesSz cx="6669088" cy="9820275"/>
  <p:defaultTextStyle>
    <a:defPPr>
      <a:defRPr lang="en-GB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93">
          <p15:clr>
            <a:srgbClr val="A4A3A4"/>
          </p15:clr>
        </p15:guide>
        <p15:guide id="2" pos="21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 snapToGrid="0">
      <p:cViewPr varScale="1">
        <p:scale>
          <a:sx n="61" d="100"/>
          <a:sy n="61" d="100"/>
        </p:scale>
        <p:origin x="636" y="4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068"/>
    </p:cViewPr>
  </p:sorterViewPr>
  <p:notesViewPr>
    <p:cSldViewPr snapToGrid="0">
      <p:cViewPr varScale="1">
        <p:scale>
          <a:sx n="51" d="100"/>
          <a:sy n="51" d="100"/>
        </p:scale>
        <p:origin x="3000" y="96"/>
      </p:cViewPr>
      <p:guideLst>
        <p:guide orient="horz" pos="3093"/>
        <p:guide pos="210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8" y="11113"/>
            <a:ext cx="2892426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7463" tIns="0" rIns="17463" bIns="0" numCol="1" anchor="t" anchorCtr="0" compatLnSpc="1">
            <a:prstTxWarp prst="textNoShape">
              <a:avLst/>
            </a:prstTxWarp>
          </a:bodyPr>
          <a:lstStyle>
            <a:lvl1pPr algn="l" defTabSz="733425">
              <a:defRPr sz="1000" i="1"/>
            </a:lvl1pPr>
          </a:lstStyle>
          <a:p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6663" y="11113"/>
            <a:ext cx="2892425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7463" tIns="0" rIns="17463" bIns="0" numCol="1" anchor="t" anchorCtr="0" compatLnSpc="1">
            <a:prstTxWarp prst="textNoShape">
              <a:avLst/>
            </a:prstTxWarp>
          </a:bodyPr>
          <a:lstStyle>
            <a:lvl1pPr algn="r" defTabSz="733425">
              <a:defRPr sz="1000" i="1"/>
            </a:lvl1pPr>
          </a:lstStyle>
          <a:p>
            <a:endParaRPr lang="en-GB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-1588" y="9350375"/>
            <a:ext cx="2892426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7463" tIns="0" rIns="17463" bIns="0" numCol="1" anchor="b" anchorCtr="0" compatLnSpc="1">
            <a:prstTxWarp prst="textNoShape">
              <a:avLst/>
            </a:prstTxWarp>
          </a:bodyPr>
          <a:lstStyle>
            <a:lvl1pPr algn="l" defTabSz="733425">
              <a:defRPr sz="1000" i="1"/>
            </a:lvl1pPr>
          </a:lstStyle>
          <a:p>
            <a:endParaRPr lang="en-GB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6663" y="9350375"/>
            <a:ext cx="289242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7463" tIns="0" rIns="17463" bIns="0" numCol="1" anchor="b" anchorCtr="0" compatLnSpc="1">
            <a:prstTxWarp prst="textNoShape">
              <a:avLst/>
            </a:prstTxWarp>
          </a:bodyPr>
          <a:lstStyle>
            <a:lvl1pPr algn="r" defTabSz="733425">
              <a:defRPr sz="1000" i="1"/>
            </a:lvl1pPr>
          </a:lstStyle>
          <a:p>
            <a:fld id="{62EDCECD-FEFA-453C-A00D-EAB8D35675C8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-11113" y="9432925"/>
            <a:ext cx="1114426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8" tIns="42863" rIns="90488" bIns="42863">
            <a:spAutoFit/>
          </a:bodyPr>
          <a:lstStyle/>
          <a:p>
            <a:pPr algn="l" defTabSz="733425"/>
            <a:endParaRPr lang="en-GB" sz="1000"/>
          </a:p>
          <a:p>
            <a:pPr algn="l" defTabSz="733425"/>
            <a:r>
              <a:rPr lang="nl-NL" sz="1000"/>
              <a:t>Wil van der Aalst</a:t>
            </a:r>
            <a:r>
              <a:rPr lang="en-GB" sz="1000"/>
              <a:t>.</a:t>
            </a:r>
          </a:p>
        </p:txBody>
      </p:sp>
      <p:sp>
        <p:nvSpPr>
          <p:cNvPr id="3079" name="Rectangle 7"/>
          <p:cNvSpPr>
            <a:spLocks noChangeArrowheads="1"/>
          </p:cNvSpPr>
          <p:nvPr/>
        </p:nvSpPr>
        <p:spPr bwMode="auto">
          <a:xfrm>
            <a:off x="60325" y="84138"/>
            <a:ext cx="1500188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8" tIns="42863" rIns="90488" bIns="42863">
            <a:spAutoFit/>
          </a:bodyPr>
          <a:lstStyle/>
          <a:p>
            <a:pPr algn="l" defTabSz="733425"/>
            <a:r>
              <a:rPr lang="en-GB" sz="1100"/>
              <a:t>Workflow management</a:t>
            </a:r>
          </a:p>
          <a:p>
            <a:pPr algn="l" defTabSz="733425"/>
            <a:r>
              <a:rPr lang="en-GB" sz="1100"/>
              <a:t>WvdA (</a:t>
            </a:r>
            <a:r>
              <a:rPr lang="nl-NL" sz="1100"/>
              <a:t>2002</a:t>
            </a:r>
            <a:r>
              <a:rPr lang="en-GB" sz="11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238799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8" y="11113"/>
            <a:ext cx="2892426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7463" tIns="0" rIns="17463" bIns="0" numCol="1" anchor="t" anchorCtr="0" compatLnSpc="1">
            <a:prstTxWarp prst="textNoShape">
              <a:avLst/>
            </a:prstTxWarp>
          </a:bodyPr>
          <a:lstStyle>
            <a:lvl1pPr algn="l" defTabSz="733425">
              <a:lnSpc>
                <a:spcPct val="100000"/>
              </a:lnSpc>
              <a:defRPr sz="1000" i="1"/>
            </a:lvl1pPr>
          </a:lstStyle>
          <a:p>
            <a:endParaRPr lang="en-GB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6663" y="11113"/>
            <a:ext cx="2892425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7463" tIns="0" rIns="17463" bIns="0" numCol="1" anchor="t" anchorCtr="0" compatLnSpc="1">
            <a:prstTxWarp prst="textNoShape">
              <a:avLst/>
            </a:prstTxWarp>
          </a:bodyPr>
          <a:lstStyle>
            <a:lvl1pPr algn="r" defTabSz="733425">
              <a:lnSpc>
                <a:spcPct val="100000"/>
              </a:lnSpc>
              <a:defRPr sz="1000" i="1"/>
            </a:lvl1pPr>
          </a:lstStyle>
          <a:p>
            <a:endParaRPr lang="en-GB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-1588" y="9350375"/>
            <a:ext cx="2892426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7463" tIns="0" rIns="17463" bIns="0" numCol="1" anchor="b" anchorCtr="0" compatLnSpc="1">
            <a:prstTxWarp prst="textNoShape">
              <a:avLst/>
            </a:prstTxWarp>
          </a:bodyPr>
          <a:lstStyle>
            <a:lvl1pPr algn="l" defTabSz="733425">
              <a:lnSpc>
                <a:spcPct val="100000"/>
              </a:lnSpc>
              <a:defRPr sz="1000" i="1"/>
            </a:lvl1pPr>
          </a:lstStyle>
          <a:p>
            <a:endParaRPr lang="en-GB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6663" y="9350375"/>
            <a:ext cx="289242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7463" tIns="0" rIns="17463" bIns="0" numCol="1" anchor="b" anchorCtr="0" compatLnSpc="1">
            <a:prstTxWarp prst="textNoShape">
              <a:avLst/>
            </a:prstTxWarp>
          </a:bodyPr>
          <a:lstStyle>
            <a:lvl1pPr algn="r" defTabSz="733425">
              <a:lnSpc>
                <a:spcPct val="100000"/>
              </a:lnSpc>
              <a:defRPr sz="1000" i="1"/>
            </a:lvl1pPr>
          </a:lstStyle>
          <a:p>
            <a:fld id="{26137DC3-38ED-4D98-A3E2-8C44CF9342C3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2054" name="Rectangle 6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47725" y="738188"/>
            <a:ext cx="4984750" cy="3446462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</p:sp>
      <p:sp>
        <p:nvSpPr>
          <p:cNvPr id="2055" name="Rectangle 7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678363"/>
            <a:ext cx="4889500" cy="444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2863" rIns="90488" bIns="4286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Klik als u het opmaakprofiel van de tekst wilt bewerken.</a:t>
            </a:r>
          </a:p>
          <a:p>
            <a:pPr lvl="1"/>
            <a:r>
              <a:rPr lang="en-GB"/>
              <a:t>Tweede niveau</a:t>
            </a:r>
          </a:p>
          <a:p>
            <a:pPr lvl="2"/>
            <a:r>
              <a:rPr lang="en-GB"/>
              <a:t>Derde niveau</a:t>
            </a:r>
          </a:p>
          <a:p>
            <a:pPr lvl="3"/>
            <a:r>
              <a:rPr lang="en-GB"/>
              <a:t>Vierde niveau</a:t>
            </a:r>
          </a:p>
          <a:p>
            <a:pPr lvl="4"/>
            <a:r>
              <a:rPr lang="en-GB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78639159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733425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47675" algn="l" defTabSz="733425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imes New Roman" charset="0"/>
        <a:ea typeface="+mn-ea"/>
        <a:cs typeface="+mn-cs"/>
      </a:defRPr>
    </a:lvl2pPr>
    <a:lvl3pPr marL="898525" algn="l" defTabSz="733425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46200" algn="l" defTabSz="733425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793875" algn="l" defTabSz="733425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670DF06-4775-4E82-8772-90B18856C867}" type="slidenum">
              <a:rPr lang="en-GB" smtClean="0"/>
              <a:pPr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A62445-0246-49CE-A6F5-158ECAFBC20C}" type="slidenum">
              <a:rPr lang="en-GB"/>
              <a:pPr/>
              <a:t>2</a:t>
            </a:fld>
            <a:endParaRPr lang="en-GB"/>
          </a:p>
        </p:txBody>
      </p:sp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A62445-0246-49CE-A6F5-158ECAFBC20C}" type="slidenum">
              <a:rPr lang="en-GB"/>
              <a:pPr/>
              <a:t>3</a:t>
            </a:fld>
            <a:endParaRPr lang="en-GB"/>
          </a:p>
        </p:txBody>
      </p:sp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7885666-B330-4297-AD23-E5D47DCBDF79}" type="slidenum">
              <a:rPr lang="en-GB"/>
              <a:pPr/>
              <a:t>4</a:t>
            </a:fld>
            <a:endParaRPr lang="en-GB"/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7885666-B330-4297-AD23-E5D47DCBDF79}" type="slidenum">
              <a:rPr lang="en-GB"/>
              <a:pPr/>
              <a:t>5</a:t>
            </a:fld>
            <a:endParaRPr lang="en-GB"/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65F53A-E429-4B16-8ED3-930E11681D22}" type="slidenum">
              <a:rPr lang="en-GB"/>
              <a:pPr/>
              <a:t>6</a:t>
            </a:fld>
            <a:endParaRPr lang="en-GB"/>
          </a:p>
        </p:txBody>
      </p:sp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B67275-A78E-480F-AE76-A718FE5FEF9C}" type="slidenum">
              <a:rPr lang="en-GB"/>
              <a:pPr/>
              <a:t>7</a:t>
            </a:fld>
            <a:endParaRPr lang="en-GB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9186E9-3C41-4B83-8D2A-2BDA362E52F7}" type="slidenum">
              <a:rPr lang="en-GB"/>
              <a:pPr/>
              <a:t>8</a:t>
            </a:fld>
            <a:endParaRPr lang="en-GB"/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796C1D-A4A6-4385-BFF4-ADE8FEF62A75}" type="slidenum">
              <a:rPr lang="en-GB"/>
              <a:pPr/>
              <a:t>9</a:t>
            </a:fld>
            <a:endParaRPr lang="en-GB"/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796C1D-A4A6-4385-BFF4-ADE8FEF62A75}" type="slidenum">
              <a:rPr lang="en-GB"/>
              <a:pPr/>
              <a:t>10</a:t>
            </a:fld>
            <a:endParaRPr lang="en-GB"/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796C1D-A4A6-4385-BFF4-ADE8FEF62A75}" type="slidenum">
              <a:rPr lang="en-GB"/>
              <a:pPr/>
              <a:t>11</a:t>
            </a:fld>
            <a:endParaRPr lang="en-GB"/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D99A642-893B-41F8-B583-8C3959911B79}" type="slidenum">
              <a:rPr lang="en-GB"/>
              <a:pPr/>
              <a:t>12</a:t>
            </a:fld>
            <a:endParaRPr lang="en-GB"/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DD0C84-BE2A-484E-A8E7-B7FA41F002AF}" type="slidenum">
              <a:rPr lang="en-GB"/>
              <a:pPr/>
              <a:t>13</a:t>
            </a:fld>
            <a:endParaRPr lang="en-GB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DD0C84-BE2A-484E-A8E7-B7FA41F002AF}" type="slidenum">
              <a:rPr lang="en-GB"/>
              <a:pPr/>
              <a:t>14</a:t>
            </a:fld>
            <a:endParaRPr lang="en-GB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DD0C84-BE2A-484E-A8E7-B7FA41F002AF}" type="slidenum">
              <a:rPr lang="en-GB"/>
              <a:pPr/>
              <a:t>15</a:t>
            </a:fld>
            <a:endParaRPr lang="en-GB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17FA663-3A8C-4E68-83F4-7FBB4A86457E}" type="slidenum">
              <a:rPr lang="en-GB"/>
              <a:pPr/>
              <a:t>16</a:t>
            </a:fld>
            <a:endParaRPr lang="en-GB"/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165065-50CB-43A8-9E37-18DD32B9471B}" type="slidenum">
              <a:rPr lang="en-GB"/>
              <a:pPr/>
              <a:t>17</a:t>
            </a:fld>
            <a:endParaRPr lang="en-GB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AEC616-AB7C-422D-8BCE-9D481197772E}" type="slidenum">
              <a:rPr lang="en-GB"/>
              <a:pPr/>
              <a:t>18</a:t>
            </a:fld>
            <a:endParaRPr lang="en-GB"/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8423FF-0B86-4C4F-AA6A-62F4AFF79CEB}" type="slidenum">
              <a:rPr lang="en-GB"/>
              <a:pPr/>
              <a:t>19</a:t>
            </a:fld>
            <a:endParaRPr lang="en-GB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E51715-FDCE-441A-B69A-BEB920085696}" type="slidenum">
              <a:rPr lang="en-GB"/>
              <a:pPr/>
              <a:t>20</a:t>
            </a:fld>
            <a:endParaRPr lang="en-GB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E51715-FDCE-441A-B69A-BEB920085696}" type="slidenum">
              <a:rPr lang="en-GB"/>
              <a:pPr/>
              <a:t>22</a:t>
            </a:fld>
            <a:endParaRPr lang="en-GB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37A3E7-3343-4C06-99B5-9FF429A1D6D4}" type="slidenum">
              <a:rPr lang="en-GB"/>
              <a:pPr/>
              <a:t>23</a:t>
            </a:fld>
            <a:endParaRPr lang="en-GB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37A3E7-3343-4C06-99B5-9FF429A1D6D4}" type="slidenum">
              <a:rPr lang="en-GB"/>
              <a:pPr/>
              <a:t>24</a:t>
            </a:fld>
            <a:endParaRPr lang="en-GB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F48FEC-6980-40B8-BD72-472386556387}" type="slidenum">
              <a:rPr lang="en-GB"/>
              <a:pPr/>
              <a:t>25</a:t>
            </a:fld>
            <a:endParaRPr lang="en-GB"/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5D8F1E-1FF1-4B02-8132-A0021D50ED99}" type="slidenum">
              <a:rPr lang="en-GB"/>
              <a:pPr/>
              <a:t>26</a:t>
            </a:fld>
            <a:endParaRPr lang="en-GB"/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738188"/>
            <a:ext cx="4978400" cy="34464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137DC3-38ED-4D98-A3E2-8C44CF9342C3}" type="slidenum">
              <a:rPr lang="en-GB" smtClean="0"/>
              <a:pPr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9810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5D8F1E-1FF1-4B02-8132-A0021D50ED99}" type="slidenum">
              <a:rPr lang="en-GB"/>
              <a:pPr/>
              <a:t>28</a:t>
            </a:fld>
            <a:endParaRPr lang="en-GB"/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5D8F1E-1FF1-4B02-8132-A0021D50ED99}" type="slidenum">
              <a:rPr lang="en-GB"/>
              <a:pPr/>
              <a:t>29</a:t>
            </a:fld>
            <a:endParaRPr lang="en-GB"/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5D8F1E-1FF1-4B02-8132-A0021D50ED99}" type="slidenum">
              <a:rPr lang="en-GB"/>
              <a:pPr/>
              <a:t>30</a:t>
            </a:fld>
            <a:endParaRPr lang="en-GB"/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0A1244-BB17-4463-B607-7175AA6533BA}" type="slidenum">
              <a:rPr lang="en-GB"/>
              <a:pPr/>
              <a:t>31</a:t>
            </a:fld>
            <a:endParaRPr lang="en-GB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4090BA-C39A-4380-BE31-46ED075E7507}" type="slidenum">
              <a:rPr lang="en-GB"/>
              <a:pPr/>
              <a:t>32</a:t>
            </a:fld>
            <a:endParaRPr lang="en-GB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076DD0-AE4E-4BAA-8A10-0AA2386D2AFE}" type="slidenum">
              <a:rPr lang="en-GB"/>
              <a:pPr/>
              <a:t>33</a:t>
            </a:fld>
            <a:endParaRPr lang="en-GB"/>
          </a:p>
        </p:txBody>
      </p:sp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C6318C-D494-4A25-A0EC-8CEC06D5DEF3}" type="slidenum">
              <a:rPr lang="en-GB"/>
              <a:pPr/>
              <a:t>34</a:t>
            </a:fld>
            <a:endParaRPr lang="en-GB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EAD390-8139-4E3F-BB9E-1E1CDC2EFAAB}" type="slidenum">
              <a:rPr lang="en-GB"/>
              <a:pPr/>
              <a:t>35</a:t>
            </a:fld>
            <a:endParaRPr lang="en-GB"/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3EA1F58-92F9-4B71-94DD-0669E46A6E3A}" type="slidenum">
              <a:rPr lang="en-GB"/>
              <a:pPr/>
              <a:t>36</a:t>
            </a:fld>
            <a:endParaRPr lang="en-GB"/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3EA1F58-92F9-4B71-94DD-0669E46A6E3A}" type="slidenum">
              <a:rPr lang="en-GB"/>
              <a:pPr/>
              <a:t>37</a:t>
            </a:fld>
            <a:endParaRPr lang="en-GB"/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3EA1F58-92F9-4B71-94DD-0669E46A6E3A}" type="slidenum">
              <a:rPr lang="en-GB"/>
              <a:pPr/>
              <a:t>38</a:t>
            </a:fld>
            <a:endParaRPr lang="en-GB"/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738188"/>
            <a:ext cx="4978400" cy="34464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137DC3-38ED-4D98-A3E2-8C44CF9342C3}" type="slidenum">
              <a:rPr lang="en-GB" smtClean="0"/>
              <a:pPr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326122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5458AE-061E-47B4-984D-6342D8864447}" type="slidenum">
              <a:rPr lang="en-GB"/>
              <a:pPr/>
              <a:t>40</a:t>
            </a:fld>
            <a:endParaRPr lang="en-GB"/>
          </a:p>
        </p:txBody>
      </p:sp>
      <p:sp>
        <p:nvSpPr>
          <p:cNvPr id="5632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  <p:sp>
        <p:nvSpPr>
          <p:cNvPr id="563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5458AE-061E-47B4-984D-6342D8864447}" type="slidenum">
              <a:rPr lang="en-GB"/>
              <a:pPr/>
              <a:t>41</a:t>
            </a:fld>
            <a:endParaRPr lang="en-GB"/>
          </a:p>
        </p:txBody>
      </p:sp>
      <p:sp>
        <p:nvSpPr>
          <p:cNvPr id="5632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  <p:sp>
        <p:nvSpPr>
          <p:cNvPr id="563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FD3187-4F8C-4553-8348-385F70F1B77B}" type="slidenum">
              <a:rPr lang="en-GB"/>
              <a:pPr/>
              <a:t>42</a:t>
            </a:fld>
            <a:endParaRPr lang="en-GB"/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0900" y="738188"/>
            <a:ext cx="4978400" cy="3446462"/>
          </a:xfrm>
          <a:ln cap="flat"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3663" tIns="46038" rIns="93663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738188"/>
            <a:ext cx="4978400" cy="34464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137DC3-38ED-4D98-A3E2-8C44CF9342C3}" type="slidenum">
              <a:rPr lang="en-GB" smtClean="0"/>
              <a:pPr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457846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738188"/>
            <a:ext cx="4978400" cy="34464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137DC3-38ED-4D98-A3E2-8C44CF9342C3}" type="slidenum">
              <a:rPr lang="en-GB" smtClean="0"/>
              <a:pPr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882623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738188"/>
            <a:ext cx="4978400" cy="34464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137DC3-38ED-4D98-A3E2-8C44CF9342C3}" type="slidenum">
              <a:rPr lang="en-GB" smtClean="0"/>
              <a:pPr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005923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738188"/>
            <a:ext cx="4978400" cy="34464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137DC3-38ED-4D98-A3E2-8C44CF9342C3}" type="slidenum">
              <a:rPr lang="en-GB" smtClean="0"/>
              <a:pPr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21246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738188"/>
            <a:ext cx="4978400" cy="34464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137DC3-38ED-4D98-A3E2-8C44CF9342C3}" type="slidenum">
              <a:rPr lang="en-GB" smtClean="0"/>
              <a:pPr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093747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738188"/>
            <a:ext cx="4978400" cy="34464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137DC3-38ED-4D98-A3E2-8C44CF9342C3}" type="slidenum">
              <a:rPr lang="en-GB" smtClean="0"/>
              <a:pPr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0356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77850" y="1371600"/>
            <a:ext cx="8505952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77850" y="3228536"/>
            <a:ext cx="8509254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41161-0498-4B11-9ADC-8EFC42878CB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548" y="1316736"/>
            <a:ext cx="84201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4548" y="2704664"/>
            <a:ext cx="84201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1F67-059F-49E3-AE67-DD423BEA5C6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704088"/>
            <a:ext cx="89154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920085"/>
            <a:ext cx="437515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920085"/>
            <a:ext cx="437515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7BF7C-FA01-4092-B956-9E650A54383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704088"/>
            <a:ext cx="89154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855248"/>
            <a:ext cx="4376870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5032111" y="1859758"/>
            <a:ext cx="4378590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95300" y="2514600"/>
            <a:ext cx="4376870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514600"/>
            <a:ext cx="4378590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C2AF9-DFFE-46DF-A3B6-F2FCA95332C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704088"/>
            <a:ext cx="899795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2095-2F77-482E-97A7-D7D649D1571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32124-345D-427F-AF27-E3DDA3ACDE2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514352"/>
            <a:ext cx="29718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742950" y="1676400"/>
            <a:ext cx="29718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872971" y="1676400"/>
            <a:ext cx="5537729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B5434-9D30-4DC6-BCCA-9FC5BC2E6E6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429566" y="1108077"/>
            <a:ext cx="569595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671145" y="5359769"/>
            <a:ext cx="168402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400" y="1176997"/>
            <a:ext cx="2397252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0400" y="2828785"/>
            <a:ext cx="239395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50300" y="6356351"/>
            <a:ext cx="660400" cy="365125"/>
          </a:xfrm>
        </p:spPr>
        <p:txBody>
          <a:bodyPr/>
          <a:lstStyle/>
          <a:p>
            <a:fld id="{DA41682E-7539-4171-8B96-C19DCBF9748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776276" y="1199517"/>
            <a:ext cx="500253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10319" y="5816600"/>
            <a:ext cx="9926638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746625" y="6219826"/>
            <a:ext cx="5159375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7BB1B-2D5F-478E-BE6A-C6E580739C2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914402"/>
            <a:ext cx="222885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914402"/>
            <a:ext cx="652145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60279-F41F-455E-8CD5-9963188F461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10319" y="-7144"/>
            <a:ext cx="9926638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746625" y="-7144"/>
            <a:ext cx="5159375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95300" y="704088"/>
            <a:ext cx="8915400" cy="796086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95300" y="1935480"/>
            <a:ext cx="89154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889250" y="6356351"/>
            <a:ext cx="36322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r>
              <a:rPr lang="en-GB"/>
              <a:t>COMP201 - Software Engineering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585200" y="6356351"/>
            <a:ext cx="8255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EFE8227-7246-4CF1-B3C9-C98DE213E2F6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2" name="Group 1"/>
          <p:cNvGrpSpPr/>
          <p:nvPr/>
        </p:nvGrpSpPr>
        <p:grpSpPr>
          <a:xfrm>
            <a:off x="-20602" y="202408"/>
            <a:ext cx="9945594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ctr" rtl="0" eaLnBrk="1" latinLnBrk="0" hangingPunct="1">
        <a:spcBef>
          <a:spcPct val="0"/>
        </a:spcBef>
        <a:buNone/>
        <a:defRPr kumimoji="0" sz="4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571480"/>
            <a:ext cx="8420100" cy="164307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Engineering</a:t>
            </a:r>
            <a:b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 201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69938" y="2373313"/>
            <a:ext cx="8585200" cy="3841769"/>
          </a:xfrm>
        </p:spPr>
        <p:txBody>
          <a:bodyPr>
            <a:normAutofit fontScale="92500" lnSpcReduction="10000"/>
          </a:bodyPr>
          <a:lstStyle/>
          <a:p>
            <a:r>
              <a:rPr lang="en-GB" sz="2800" dirty="0"/>
              <a:t>Lecturer: </a:t>
            </a:r>
            <a:r>
              <a:rPr lang="en-GB" sz="2800" b="1" dirty="0"/>
              <a:t>Sebastian </a:t>
            </a:r>
            <a:r>
              <a:rPr lang="en-GB" sz="2800" b="1" dirty="0" err="1"/>
              <a:t>Coope</a:t>
            </a:r>
            <a:endParaRPr lang="en-GB" sz="2800" b="1" dirty="0"/>
          </a:p>
          <a:p>
            <a:r>
              <a:rPr lang="en-GB" sz="2800" i="1" dirty="0"/>
              <a:t>Ashton Building, Room G.18</a:t>
            </a:r>
          </a:p>
          <a:p>
            <a:r>
              <a:rPr lang="en-GB" sz="2800" i="1" dirty="0"/>
              <a:t>E-mail: </a:t>
            </a:r>
            <a:r>
              <a:rPr lang="en-GB" sz="2800" b="1" i="1" dirty="0"/>
              <a:t>coopes@liverpool.ac.uk </a:t>
            </a:r>
          </a:p>
          <a:p>
            <a:endParaRPr lang="en-GB" sz="2400" b="1" i="1" dirty="0"/>
          </a:p>
          <a:p>
            <a:r>
              <a:rPr lang="en-GB" sz="2800" b="1" dirty="0"/>
              <a:t>COMP 201 web-page:</a:t>
            </a:r>
          </a:p>
          <a:p>
            <a:r>
              <a:rPr lang="en-GB" sz="2800" b="1" dirty="0"/>
              <a:t>http://www.csc.liv.ac.uk/~coopes/comp201</a:t>
            </a:r>
          </a:p>
          <a:p>
            <a:pPr eaLnBrk="1" hangingPunct="1"/>
            <a:endParaRPr lang="en-GB" sz="2400" b="1" dirty="0"/>
          </a:p>
          <a:p>
            <a:pPr eaLnBrk="1" hangingPunct="1"/>
            <a:endParaRPr lang="en-GB" sz="2800" u="sng" dirty="0"/>
          </a:p>
          <a:p>
            <a:pPr eaLnBrk="1" hangingPunct="1"/>
            <a:r>
              <a:rPr lang="en-GB" sz="2800" u="sng"/>
              <a:t>Lectures 11, 12 </a:t>
            </a:r>
            <a:r>
              <a:rPr lang="en-GB" sz="2800" u="sng" dirty="0"/>
              <a:t>– Modelling Based on Petri Nets</a:t>
            </a:r>
          </a:p>
          <a:p>
            <a:pPr eaLnBrk="1" hangingPunct="1"/>
            <a:endParaRPr lang="en-GB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795338" y="809625"/>
            <a:ext cx="8443942" cy="761987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High-Level</a:t>
            </a:r>
            <a:r>
              <a:rPr lang="en-GB" sz="3600" dirty="0"/>
              <a:t> </a:t>
            </a:r>
            <a:r>
              <a:rPr lang="en-GB" dirty="0"/>
              <a:t>Petri Nets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24544" y="1816100"/>
            <a:ext cx="8882742" cy="4508500"/>
          </a:xfrm>
          <a:noFill/>
          <a:ln/>
        </p:spPr>
        <p:txBody>
          <a:bodyPr>
            <a:normAutofit/>
          </a:bodyPr>
          <a:lstStyle/>
          <a:p>
            <a:r>
              <a:rPr lang="en-GB" sz="2400" dirty="0"/>
              <a:t>The classical Petri net was invented by Carl Adam Petri in 1962.</a:t>
            </a:r>
          </a:p>
          <a:p>
            <a:r>
              <a:rPr lang="en-GB" sz="2400" dirty="0"/>
              <a:t>A lot of research has been conducted (&gt;10,000 publications).</a:t>
            </a:r>
          </a:p>
          <a:p>
            <a:r>
              <a:rPr lang="en-GB" sz="2400" dirty="0"/>
              <a:t>Until 1985 it was mainly used by theoreticians.</a:t>
            </a:r>
          </a:p>
          <a:p>
            <a:r>
              <a:rPr lang="en-GB" sz="2400" dirty="0"/>
              <a:t>Since the 80’s their practical use has increased because of the introduction of high-level Petri nets and the availability of many tools.</a:t>
            </a:r>
          </a:p>
          <a:p>
            <a:r>
              <a:rPr lang="en-GB" sz="2400" dirty="0"/>
              <a:t> </a:t>
            </a:r>
            <a:r>
              <a:rPr lang="en-GB" sz="2400" b="1" dirty="0"/>
              <a:t>High-level Petri nets </a:t>
            </a:r>
            <a:r>
              <a:rPr lang="en-GB" sz="2400" dirty="0"/>
              <a:t>are Petri nets extended with</a:t>
            </a:r>
          </a:p>
          <a:p>
            <a:pPr lvl="1"/>
            <a:r>
              <a:rPr lang="en-GB" sz="2400" dirty="0">
                <a:solidFill>
                  <a:schemeClr val="accent3"/>
                </a:solidFill>
              </a:rPr>
              <a:t>colour</a:t>
            </a:r>
            <a:r>
              <a:rPr lang="en-GB" sz="2400" dirty="0"/>
              <a:t> (for the modelling of attributes)</a:t>
            </a:r>
          </a:p>
          <a:p>
            <a:pPr lvl="1"/>
            <a:r>
              <a:rPr lang="en-GB" sz="2400" dirty="0">
                <a:solidFill>
                  <a:schemeClr val="accent3"/>
                </a:solidFill>
              </a:rPr>
              <a:t>time</a:t>
            </a:r>
            <a:r>
              <a:rPr lang="en-GB" sz="2400" dirty="0"/>
              <a:t> (for performance analysis)</a:t>
            </a:r>
          </a:p>
          <a:p>
            <a:pPr lvl="1"/>
            <a:r>
              <a:rPr lang="en-GB" sz="2400" dirty="0">
                <a:solidFill>
                  <a:schemeClr val="accent3"/>
                </a:solidFill>
              </a:rPr>
              <a:t>hierarchy</a:t>
            </a:r>
            <a:r>
              <a:rPr lang="en-GB" sz="2400" dirty="0"/>
              <a:t> (for the structuring of models, DFD's)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795338" y="809625"/>
            <a:ext cx="8443942" cy="761987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Why do we need Petri Nets?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24544" y="1816100"/>
            <a:ext cx="8882742" cy="4508500"/>
          </a:xfrm>
          <a:noFill/>
          <a:ln/>
        </p:spPr>
        <p:txBody>
          <a:bodyPr>
            <a:normAutofit/>
          </a:bodyPr>
          <a:lstStyle/>
          <a:p>
            <a:r>
              <a:rPr lang="en-GB" sz="2800" dirty="0"/>
              <a:t>Petri Nets can be used to rigorously define a system (reducing ambiguity, making the operations of a system clear, allowing us to prove properties of a system etc.)</a:t>
            </a:r>
          </a:p>
          <a:p>
            <a:r>
              <a:rPr lang="en-GB" sz="2800" dirty="0"/>
              <a:t>They are often used for </a:t>
            </a:r>
            <a:r>
              <a:rPr lang="en-GB" sz="2800" b="1" dirty="0"/>
              <a:t>distributed systems</a:t>
            </a:r>
            <a:r>
              <a:rPr lang="en-GB" sz="2800" dirty="0"/>
              <a:t> (with several subsystems acting independently) and for systems with </a:t>
            </a:r>
            <a:r>
              <a:rPr lang="en-GB" sz="2800" b="1" dirty="0"/>
              <a:t>resource sharing</a:t>
            </a:r>
            <a:r>
              <a:rPr lang="en-GB" sz="2800" dirty="0"/>
              <a:t>.</a:t>
            </a:r>
          </a:p>
          <a:p>
            <a:r>
              <a:rPr lang="en-GB" sz="2800" dirty="0"/>
              <a:t>Since there may be more than one transition in the Petri Net active at the same time (and we do not know which will ‘fire’ first), they are </a:t>
            </a:r>
            <a:r>
              <a:rPr lang="en-GB" sz="2800" b="1" dirty="0"/>
              <a:t>non-deterministic</a:t>
            </a:r>
            <a:r>
              <a:rPr lang="en-GB" sz="2800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COMP201 - Software Engineering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595282" y="357167"/>
            <a:ext cx="8658256" cy="1071569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The Classical Petri Net Model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711199" y="1785926"/>
            <a:ext cx="8171543" cy="826645"/>
          </a:xfrm>
          <a:noFill/>
          <a:ln/>
        </p:spPr>
        <p:txBody>
          <a:bodyPr>
            <a:noAutofit/>
          </a:bodyPr>
          <a:lstStyle/>
          <a:p>
            <a:pPr>
              <a:buFontTx/>
              <a:buNone/>
            </a:pPr>
            <a:r>
              <a:rPr lang="en-GB" sz="2400" dirty="0"/>
              <a:t>A </a:t>
            </a:r>
            <a:r>
              <a:rPr lang="en-GB" sz="2400" b="1" dirty="0"/>
              <a:t>Petri net </a:t>
            </a:r>
            <a:r>
              <a:rPr lang="en-GB" sz="2400" dirty="0"/>
              <a:t>is a network composed of </a:t>
            </a:r>
            <a:r>
              <a:rPr lang="en-GB" sz="2400" b="1" dirty="0"/>
              <a:t>places</a:t>
            </a:r>
            <a:r>
              <a:rPr lang="en-GB" sz="2400" dirty="0"/>
              <a:t> (   ) and </a:t>
            </a:r>
            <a:r>
              <a:rPr lang="en-GB" sz="2400" b="1" dirty="0"/>
              <a:t>transitions</a:t>
            </a:r>
            <a:r>
              <a:rPr lang="en-GB" sz="2400" dirty="0"/>
              <a:t> (   ).</a:t>
            </a: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190871" y="2889246"/>
            <a:ext cx="584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8197" name="Oval 5"/>
          <p:cNvSpPr>
            <a:spLocks noChangeArrowheads="1"/>
          </p:cNvSpPr>
          <p:nvPr/>
        </p:nvSpPr>
        <p:spPr bwMode="auto">
          <a:xfrm>
            <a:off x="1971671" y="2889246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8198" name="Line 6"/>
          <p:cNvSpPr>
            <a:spLocks noChangeShapeType="1"/>
          </p:cNvSpPr>
          <p:nvPr/>
        </p:nvSpPr>
        <p:spPr bwMode="auto">
          <a:xfrm>
            <a:off x="2568571" y="3181346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8199" name="Oval 7"/>
          <p:cNvSpPr>
            <a:spLocks noChangeArrowheads="1"/>
          </p:cNvSpPr>
          <p:nvPr/>
        </p:nvSpPr>
        <p:spPr bwMode="auto">
          <a:xfrm>
            <a:off x="4556121" y="2654296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auto">
          <a:xfrm>
            <a:off x="5676896" y="2471734"/>
            <a:ext cx="381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t2</a:t>
            </a:r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2019296" y="3538534"/>
            <a:ext cx="438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p1</a:t>
            </a:r>
          </a:p>
        </p:txBody>
      </p:sp>
      <p:sp>
        <p:nvSpPr>
          <p:cNvPr id="8202" name="Line 10"/>
          <p:cNvSpPr>
            <a:spLocks noChangeShapeType="1"/>
          </p:cNvSpPr>
          <p:nvPr/>
        </p:nvSpPr>
        <p:spPr bwMode="auto">
          <a:xfrm flipH="1" flipV="1">
            <a:off x="6149971" y="2647946"/>
            <a:ext cx="6096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8203" name="Line 11"/>
          <p:cNvSpPr>
            <a:spLocks noChangeShapeType="1"/>
          </p:cNvSpPr>
          <p:nvPr/>
        </p:nvSpPr>
        <p:spPr bwMode="auto">
          <a:xfrm flipV="1">
            <a:off x="6149971" y="3333746"/>
            <a:ext cx="6096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8204" name="Rectangle 12"/>
          <p:cNvSpPr>
            <a:spLocks noChangeArrowheads="1"/>
          </p:cNvSpPr>
          <p:nvPr/>
        </p:nvSpPr>
        <p:spPr bwMode="auto">
          <a:xfrm>
            <a:off x="5553071" y="2355846"/>
            <a:ext cx="584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8205" name="Rectangle 13"/>
          <p:cNvSpPr>
            <a:spLocks noChangeArrowheads="1"/>
          </p:cNvSpPr>
          <p:nvPr/>
        </p:nvSpPr>
        <p:spPr bwMode="auto">
          <a:xfrm>
            <a:off x="5553071" y="3498846"/>
            <a:ext cx="584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8206" name="Line 14"/>
          <p:cNvSpPr>
            <a:spLocks noChangeShapeType="1"/>
          </p:cNvSpPr>
          <p:nvPr/>
        </p:nvSpPr>
        <p:spPr bwMode="auto">
          <a:xfrm flipV="1">
            <a:off x="3787771" y="2800346"/>
            <a:ext cx="6096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8207" name="Line 15"/>
          <p:cNvSpPr>
            <a:spLocks noChangeShapeType="1"/>
          </p:cNvSpPr>
          <p:nvPr/>
        </p:nvSpPr>
        <p:spPr bwMode="auto">
          <a:xfrm>
            <a:off x="4930771" y="3790946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8208" name="Line 16"/>
          <p:cNvSpPr>
            <a:spLocks noChangeShapeType="1"/>
          </p:cNvSpPr>
          <p:nvPr/>
        </p:nvSpPr>
        <p:spPr bwMode="auto">
          <a:xfrm>
            <a:off x="3787771" y="3333746"/>
            <a:ext cx="6096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8209" name="Line 17"/>
          <p:cNvSpPr>
            <a:spLocks noChangeShapeType="1"/>
          </p:cNvSpPr>
          <p:nvPr/>
        </p:nvSpPr>
        <p:spPr bwMode="auto">
          <a:xfrm flipH="1">
            <a:off x="4920343" y="2656112"/>
            <a:ext cx="631370" cy="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8210" name="Line 18"/>
          <p:cNvSpPr>
            <a:spLocks noChangeShapeType="1"/>
          </p:cNvSpPr>
          <p:nvPr/>
        </p:nvSpPr>
        <p:spPr bwMode="auto">
          <a:xfrm>
            <a:off x="4854571" y="2876546"/>
            <a:ext cx="68580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8211" name="Oval 19"/>
          <p:cNvSpPr>
            <a:spLocks noChangeArrowheads="1"/>
          </p:cNvSpPr>
          <p:nvPr/>
        </p:nvSpPr>
        <p:spPr bwMode="auto">
          <a:xfrm>
            <a:off x="4333871" y="2355846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8212" name="Oval 20"/>
          <p:cNvSpPr>
            <a:spLocks noChangeArrowheads="1"/>
          </p:cNvSpPr>
          <p:nvPr/>
        </p:nvSpPr>
        <p:spPr bwMode="auto">
          <a:xfrm>
            <a:off x="4333871" y="3498846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8213" name="Oval 21"/>
          <p:cNvSpPr>
            <a:spLocks noChangeArrowheads="1"/>
          </p:cNvSpPr>
          <p:nvPr/>
        </p:nvSpPr>
        <p:spPr bwMode="auto">
          <a:xfrm>
            <a:off x="6696071" y="2889246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8214" name="Line 22"/>
          <p:cNvSpPr>
            <a:spLocks noChangeShapeType="1"/>
          </p:cNvSpPr>
          <p:nvPr/>
        </p:nvSpPr>
        <p:spPr bwMode="auto">
          <a:xfrm flipH="1">
            <a:off x="4854571" y="4019546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8215" name="Oval 23"/>
          <p:cNvSpPr>
            <a:spLocks noChangeArrowheads="1"/>
          </p:cNvSpPr>
          <p:nvPr/>
        </p:nvSpPr>
        <p:spPr bwMode="auto">
          <a:xfrm>
            <a:off x="4708521" y="2501896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8216" name="Oval 24"/>
          <p:cNvSpPr>
            <a:spLocks noChangeArrowheads="1"/>
          </p:cNvSpPr>
          <p:nvPr/>
        </p:nvSpPr>
        <p:spPr bwMode="auto">
          <a:xfrm>
            <a:off x="2117721" y="3187696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8217" name="Oval 25"/>
          <p:cNvSpPr>
            <a:spLocks noChangeArrowheads="1"/>
          </p:cNvSpPr>
          <p:nvPr/>
        </p:nvSpPr>
        <p:spPr bwMode="auto">
          <a:xfrm>
            <a:off x="4556121" y="3721096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8218" name="Rectangle 26"/>
          <p:cNvSpPr>
            <a:spLocks noChangeArrowheads="1"/>
          </p:cNvSpPr>
          <p:nvPr/>
        </p:nvSpPr>
        <p:spPr bwMode="auto">
          <a:xfrm>
            <a:off x="4381496" y="2928934"/>
            <a:ext cx="438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p2</a:t>
            </a:r>
          </a:p>
        </p:txBody>
      </p:sp>
      <p:sp>
        <p:nvSpPr>
          <p:cNvPr id="8219" name="Rectangle 27"/>
          <p:cNvSpPr>
            <a:spLocks noChangeArrowheads="1"/>
          </p:cNvSpPr>
          <p:nvPr/>
        </p:nvSpPr>
        <p:spPr bwMode="auto">
          <a:xfrm>
            <a:off x="4381496" y="4071934"/>
            <a:ext cx="438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p3</a:t>
            </a:r>
          </a:p>
        </p:txBody>
      </p:sp>
      <p:sp>
        <p:nvSpPr>
          <p:cNvPr id="8220" name="Rectangle 28"/>
          <p:cNvSpPr>
            <a:spLocks noChangeArrowheads="1"/>
          </p:cNvSpPr>
          <p:nvPr/>
        </p:nvSpPr>
        <p:spPr bwMode="auto">
          <a:xfrm>
            <a:off x="6819896" y="3538534"/>
            <a:ext cx="438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p4</a:t>
            </a:r>
          </a:p>
        </p:txBody>
      </p:sp>
      <p:sp>
        <p:nvSpPr>
          <p:cNvPr id="8221" name="Rectangle 29"/>
          <p:cNvSpPr>
            <a:spLocks noChangeArrowheads="1"/>
          </p:cNvSpPr>
          <p:nvPr/>
        </p:nvSpPr>
        <p:spPr bwMode="auto">
          <a:xfrm>
            <a:off x="5676896" y="3614734"/>
            <a:ext cx="381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t3</a:t>
            </a:r>
          </a:p>
        </p:txBody>
      </p:sp>
      <p:sp>
        <p:nvSpPr>
          <p:cNvPr id="8222" name="Rectangle 30"/>
          <p:cNvSpPr>
            <a:spLocks noChangeArrowheads="1"/>
          </p:cNvSpPr>
          <p:nvPr/>
        </p:nvSpPr>
        <p:spPr bwMode="auto">
          <a:xfrm>
            <a:off x="3314696" y="3005134"/>
            <a:ext cx="381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t1</a:t>
            </a:r>
          </a:p>
        </p:txBody>
      </p:sp>
      <p:sp>
        <p:nvSpPr>
          <p:cNvPr id="8223" name="Oval 31"/>
          <p:cNvSpPr>
            <a:spLocks noChangeArrowheads="1"/>
          </p:cNvSpPr>
          <p:nvPr/>
        </p:nvSpPr>
        <p:spPr bwMode="auto">
          <a:xfrm>
            <a:off x="6918321" y="3111496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8224" name="Rectangle 32"/>
          <p:cNvSpPr>
            <a:spLocks noChangeArrowheads="1"/>
          </p:cNvSpPr>
          <p:nvPr/>
        </p:nvSpPr>
        <p:spPr bwMode="auto">
          <a:xfrm>
            <a:off x="326571" y="4637324"/>
            <a:ext cx="9231086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285750" indent="-285750" algn="l" defTabSz="762000">
              <a:spcBef>
                <a:spcPct val="30000"/>
              </a:spcBef>
            </a:pPr>
            <a:r>
              <a:rPr lang="en-GB" b="1" dirty="0"/>
              <a:t>Connections </a:t>
            </a:r>
            <a:r>
              <a:rPr lang="en-GB" dirty="0"/>
              <a:t>are directed and between a place and a transition, or a transition and a place (e.g. Between “p1 and t1” or “t1 and p2” above).</a:t>
            </a:r>
          </a:p>
          <a:p>
            <a:pPr marL="285750" indent="-285750" algn="l" defTabSz="762000">
              <a:spcBef>
                <a:spcPct val="30000"/>
              </a:spcBef>
            </a:pPr>
            <a:r>
              <a:rPr lang="en-GB" b="1" dirty="0"/>
              <a:t>Tokens </a:t>
            </a:r>
            <a:r>
              <a:rPr lang="en-GB" dirty="0"/>
              <a:t>(  ) are the dynamic objects.</a:t>
            </a:r>
          </a:p>
          <a:p>
            <a:pPr marL="285750" indent="-285750" algn="l" defTabSz="762000">
              <a:spcBef>
                <a:spcPct val="30000"/>
              </a:spcBef>
            </a:pPr>
            <a:endParaRPr lang="en-GB" dirty="0"/>
          </a:p>
        </p:txBody>
      </p:sp>
      <p:sp>
        <p:nvSpPr>
          <p:cNvPr id="8225" name="Oval 33"/>
          <p:cNvSpPr>
            <a:spLocks noChangeArrowheads="1"/>
          </p:cNvSpPr>
          <p:nvPr/>
        </p:nvSpPr>
        <p:spPr bwMode="auto">
          <a:xfrm>
            <a:off x="6406255" y="1942184"/>
            <a:ext cx="139700" cy="1397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8226" name="Rectangle 34"/>
          <p:cNvSpPr>
            <a:spLocks noChangeArrowheads="1"/>
          </p:cNvSpPr>
          <p:nvPr/>
        </p:nvSpPr>
        <p:spPr bwMode="auto">
          <a:xfrm>
            <a:off x="1184259" y="2328402"/>
            <a:ext cx="139700" cy="139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8227" name="Oval 35"/>
          <p:cNvSpPr>
            <a:spLocks noChangeArrowheads="1"/>
          </p:cNvSpPr>
          <p:nvPr/>
        </p:nvSpPr>
        <p:spPr bwMode="auto">
          <a:xfrm>
            <a:off x="1555746" y="5572590"/>
            <a:ext cx="63500" cy="635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8" name="Slide Number Placeholder 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COMP201 - Software Engineering</a:t>
            </a: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595282" y="357167"/>
            <a:ext cx="8658256" cy="1071569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The Classical Petri Net Model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417277" y="1720610"/>
            <a:ext cx="8792037" cy="826645"/>
          </a:xfrm>
          <a:noFill/>
          <a:ln/>
        </p:spPr>
        <p:txBody>
          <a:bodyPr>
            <a:noAutofit/>
          </a:bodyPr>
          <a:lstStyle/>
          <a:p>
            <a:pPr>
              <a:buFontTx/>
              <a:buNone/>
            </a:pPr>
            <a:r>
              <a:rPr lang="en-GB" sz="2400" dirty="0"/>
              <a:t>Another (</a:t>
            </a:r>
            <a:r>
              <a:rPr lang="en-GB" sz="2400" b="1" dirty="0"/>
              <a:t>equivalent</a:t>
            </a:r>
            <a:r>
              <a:rPr lang="en-GB" sz="2400" dirty="0"/>
              <a:t>) notation is to use a solid bar for the transitions:</a:t>
            </a: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374571" y="2845702"/>
            <a:ext cx="87086" cy="757468"/>
          </a:xfrm>
          <a:prstGeom prst="rect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8197" name="Oval 5"/>
          <p:cNvSpPr>
            <a:spLocks noChangeArrowheads="1"/>
          </p:cNvSpPr>
          <p:nvPr/>
        </p:nvSpPr>
        <p:spPr bwMode="auto">
          <a:xfrm>
            <a:off x="1971671" y="2889246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8198" name="Line 6"/>
          <p:cNvSpPr>
            <a:spLocks noChangeShapeType="1"/>
          </p:cNvSpPr>
          <p:nvPr/>
        </p:nvSpPr>
        <p:spPr bwMode="auto">
          <a:xfrm flipV="1">
            <a:off x="2568571" y="3178629"/>
            <a:ext cx="827772" cy="271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8199" name="Oval 7"/>
          <p:cNvSpPr>
            <a:spLocks noChangeArrowheads="1"/>
          </p:cNvSpPr>
          <p:nvPr/>
        </p:nvSpPr>
        <p:spPr bwMode="auto">
          <a:xfrm>
            <a:off x="4556121" y="2654296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auto">
          <a:xfrm>
            <a:off x="5861953" y="2863622"/>
            <a:ext cx="381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 dirty="0"/>
              <a:t>t2</a:t>
            </a:r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2019296" y="3538534"/>
            <a:ext cx="438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p1</a:t>
            </a:r>
          </a:p>
        </p:txBody>
      </p:sp>
      <p:sp>
        <p:nvSpPr>
          <p:cNvPr id="8202" name="Line 10"/>
          <p:cNvSpPr>
            <a:spLocks noChangeShapeType="1"/>
          </p:cNvSpPr>
          <p:nvPr/>
        </p:nvSpPr>
        <p:spPr bwMode="auto">
          <a:xfrm flipH="1" flipV="1">
            <a:off x="5900057" y="2612571"/>
            <a:ext cx="859514" cy="4163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8203" name="Line 11"/>
          <p:cNvSpPr>
            <a:spLocks noChangeShapeType="1"/>
          </p:cNvSpPr>
          <p:nvPr/>
        </p:nvSpPr>
        <p:spPr bwMode="auto">
          <a:xfrm flipV="1">
            <a:off x="5878286" y="3333746"/>
            <a:ext cx="881285" cy="56334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8206" name="Line 14"/>
          <p:cNvSpPr>
            <a:spLocks noChangeShapeType="1"/>
          </p:cNvSpPr>
          <p:nvPr/>
        </p:nvSpPr>
        <p:spPr bwMode="auto">
          <a:xfrm flipV="1">
            <a:off x="3461657" y="2800346"/>
            <a:ext cx="935714" cy="33474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8207" name="Line 15"/>
          <p:cNvSpPr>
            <a:spLocks noChangeShapeType="1"/>
          </p:cNvSpPr>
          <p:nvPr/>
        </p:nvSpPr>
        <p:spPr bwMode="auto">
          <a:xfrm flipV="1">
            <a:off x="4930770" y="3788229"/>
            <a:ext cx="871315" cy="271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8208" name="Line 16"/>
          <p:cNvSpPr>
            <a:spLocks noChangeShapeType="1"/>
          </p:cNvSpPr>
          <p:nvPr/>
        </p:nvSpPr>
        <p:spPr bwMode="auto">
          <a:xfrm>
            <a:off x="3439886" y="3320143"/>
            <a:ext cx="957485" cy="31840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8209" name="Line 17"/>
          <p:cNvSpPr>
            <a:spLocks noChangeShapeType="1"/>
          </p:cNvSpPr>
          <p:nvPr/>
        </p:nvSpPr>
        <p:spPr bwMode="auto">
          <a:xfrm flipH="1" flipV="1">
            <a:off x="4909457" y="2634342"/>
            <a:ext cx="88174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8210" name="Line 18"/>
          <p:cNvSpPr>
            <a:spLocks noChangeShapeType="1"/>
          </p:cNvSpPr>
          <p:nvPr/>
        </p:nvSpPr>
        <p:spPr bwMode="auto">
          <a:xfrm>
            <a:off x="4854571" y="2876545"/>
            <a:ext cx="980172" cy="73751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8211" name="Oval 19"/>
          <p:cNvSpPr>
            <a:spLocks noChangeArrowheads="1"/>
          </p:cNvSpPr>
          <p:nvPr/>
        </p:nvSpPr>
        <p:spPr bwMode="auto">
          <a:xfrm>
            <a:off x="4333871" y="2355846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8212" name="Oval 20"/>
          <p:cNvSpPr>
            <a:spLocks noChangeArrowheads="1"/>
          </p:cNvSpPr>
          <p:nvPr/>
        </p:nvSpPr>
        <p:spPr bwMode="auto">
          <a:xfrm>
            <a:off x="4333871" y="3498846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8213" name="Oval 21"/>
          <p:cNvSpPr>
            <a:spLocks noChangeArrowheads="1"/>
          </p:cNvSpPr>
          <p:nvPr/>
        </p:nvSpPr>
        <p:spPr bwMode="auto">
          <a:xfrm>
            <a:off x="6696071" y="2889246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8214" name="Line 22"/>
          <p:cNvSpPr>
            <a:spLocks noChangeShapeType="1"/>
          </p:cNvSpPr>
          <p:nvPr/>
        </p:nvSpPr>
        <p:spPr bwMode="auto">
          <a:xfrm flipH="1" flipV="1">
            <a:off x="4898571" y="3951514"/>
            <a:ext cx="947058" cy="2177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8215" name="Oval 23"/>
          <p:cNvSpPr>
            <a:spLocks noChangeArrowheads="1"/>
          </p:cNvSpPr>
          <p:nvPr/>
        </p:nvSpPr>
        <p:spPr bwMode="auto">
          <a:xfrm>
            <a:off x="4708521" y="2501896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8216" name="Oval 24"/>
          <p:cNvSpPr>
            <a:spLocks noChangeArrowheads="1"/>
          </p:cNvSpPr>
          <p:nvPr/>
        </p:nvSpPr>
        <p:spPr bwMode="auto">
          <a:xfrm>
            <a:off x="2117721" y="3187696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8217" name="Oval 25"/>
          <p:cNvSpPr>
            <a:spLocks noChangeArrowheads="1"/>
          </p:cNvSpPr>
          <p:nvPr/>
        </p:nvSpPr>
        <p:spPr bwMode="auto">
          <a:xfrm>
            <a:off x="4556121" y="3721096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8218" name="Rectangle 26"/>
          <p:cNvSpPr>
            <a:spLocks noChangeArrowheads="1"/>
          </p:cNvSpPr>
          <p:nvPr/>
        </p:nvSpPr>
        <p:spPr bwMode="auto">
          <a:xfrm>
            <a:off x="4381496" y="2928934"/>
            <a:ext cx="438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p2</a:t>
            </a:r>
          </a:p>
        </p:txBody>
      </p:sp>
      <p:sp>
        <p:nvSpPr>
          <p:cNvPr id="8219" name="Rectangle 27"/>
          <p:cNvSpPr>
            <a:spLocks noChangeArrowheads="1"/>
          </p:cNvSpPr>
          <p:nvPr/>
        </p:nvSpPr>
        <p:spPr bwMode="auto">
          <a:xfrm>
            <a:off x="4381496" y="4071934"/>
            <a:ext cx="438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p3</a:t>
            </a:r>
          </a:p>
        </p:txBody>
      </p:sp>
      <p:sp>
        <p:nvSpPr>
          <p:cNvPr id="8220" name="Rectangle 28"/>
          <p:cNvSpPr>
            <a:spLocks noChangeArrowheads="1"/>
          </p:cNvSpPr>
          <p:nvPr/>
        </p:nvSpPr>
        <p:spPr bwMode="auto">
          <a:xfrm>
            <a:off x="6819896" y="3538534"/>
            <a:ext cx="438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p4</a:t>
            </a:r>
          </a:p>
        </p:txBody>
      </p:sp>
      <p:sp>
        <p:nvSpPr>
          <p:cNvPr id="8221" name="Rectangle 29"/>
          <p:cNvSpPr>
            <a:spLocks noChangeArrowheads="1"/>
          </p:cNvSpPr>
          <p:nvPr/>
        </p:nvSpPr>
        <p:spPr bwMode="auto">
          <a:xfrm>
            <a:off x="6232067" y="3984848"/>
            <a:ext cx="381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 dirty="0"/>
              <a:t>t3</a:t>
            </a:r>
          </a:p>
        </p:txBody>
      </p:sp>
      <p:sp>
        <p:nvSpPr>
          <p:cNvPr id="8222" name="Rectangle 30"/>
          <p:cNvSpPr>
            <a:spLocks noChangeArrowheads="1"/>
          </p:cNvSpPr>
          <p:nvPr/>
        </p:nvSpPr>
        <p:spPr bwMode="auto">
          <a:xfrm>
            <a:off x="3314696" y="3690952"/>
            <a:ext cx="381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 dirty="0"/>
              <a:t>t1</a:t>
            </a:r>
          </a:p>
        </p:txBody>
      </p:sp>
      <p:sp>
        <p:nvSpPr>
          <p:cNvPr id="8223" name="Oval 31"/>
          <p:cNvSpPr>
            <a:spLocks noChangeArrowheads="1"/>
          </p:cNvSpPr>
          <p:nvPr/>
        </p:nvSpPr>
        <p:spPr bwMode="auto">
          <a:xfrm>
            <a:off x="6918321" y="3111496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8224" name="Rectangle 32"/>
          <p:cNvSpPr>
            <a:spLocks noChangeArrowheads="1"/>
          </p:cNvSpPr>
          <p:nvPr/>
        </p:nvSpPr>
        <p:spPr bwMode="auto">
          <a:xfrm>
            <a:off x="523844" y="4572008"/>
            <a:ext cx="8786874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285750" indent="-285750" algn="l" defTabSz="762000">
              <a:spcBef>
                <a:spcPct val="30000"/>
              </a:spcBef>
            </a:pPr>
            <a:r>
              <a:rPr lang="en-GB" dirty="0"/>
              <a:t>We may use either notation since they are equivalent, sometimes one makes the diagram easier to read than the other..</a:t>
            </a:r>
          </a:p>
          <a:p>
            <a:pPr marL="285750" indent="-285750" algn="l" defTabSz="762000">
              <a:spcBef>
                <a:spcPct val="30000"/>
              </a:spcBef>
            </a:pPr>
            <a:r>
              <a:rPr lang="en-GB" dirty="0"/>
              <a:t>The </a:t>
            </a:r>
            <a:r>
              <a:rPr lang="en-GB" b="1" dirty="0"/>
              <a:t>state </a:t>
            </a:r>
            <a:r>
              <a:rPr lang="en-GB" dirty="0"/>
              <a:t>of a Petri net is determined by the distribution of tokens over the places (we could represent the above </a:t>
            </a:r>
            <a:r>
              <a:rPr lang="en-GB" b="1" dirty="0"/>
              <a:t>state</a:t>
            </a:r>
            <a:r>
              <a:rPr lang="en-GB" dirty="0"/>
              <a:t> as (1,2,1,1) for (p1,p2,p3,p4))</a:t>
            </a:r>
          </a:p>
          <a:p>
            <a:pPr marL="285750" indent="-285750" algn="l" defTabSz="762000">
              <a:spcBef>
                <a:spcPct val="30000"/>
              </a:spcBef>
            </a:pPr>
            <a:endParaRPr lang="en-GB" dirty="0"/>
          </a:p>
        </p:txBody>
      </p:sp>
      <p:sp>
        <p:nvSpPr>
          <p:cNvPr id="38" name="Slide Number Placeholder 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COMP201 - Software Engineering</a:t>
            </a:r>
          </a:p>
        </p:txBody>
      </p:sp>
      <p:sp>
        <p:nvSpPr>
          <p:cNvPr id="41" name="Rectangle 4"/>
          <p:cNvSpPr>
            <a:spLocks noChangeArrowheads="1"/>
          </p:cNvSpPr>
          <p:nvPr/>
        </p:nvSpPr>
        <p:spPr bwMode="auto">
          <a:xfrm>
            <a:off x="5812971" y="2268761"/>
            <a:ext cx="87086" cy="757468"/>
          </a:xfrm>
          <a:prstGeom prst="rect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2" name="Rectangle 4"/>
          <p:cNvSpPr>
            <a:spLocks noChangeArrowheads="1"/>
          </p:cNvSpPr>
          <p:nvPr/>
        </p:nvSpPr>
        <p:spPr bwMode="auto">
          <a:xfrm>
            <a:off x="5823857" y="3389990"/>
            <a:ext cx="87086" cy="757468"/>
          </a:xfrm>
          <a:prstGeom prst="rect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2452914" y="2249714"/>
            <a:ext cx="4760686" cy="2612572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42" name="Rectangle 2"/>
          <p:cNvSpPr>
            <a:spLocks noGrp="1" noChangeArrowheads="1"/>
          </p:cNvSpPr>
          <p:nvPr>
            <p:ph idx="1"/>
          </p:nvPr>
        </p:nvSpPr>
        <p:spPr>
          <a:xfrm>
            <a:off x="449943" y="4895139"/>
            <a:ext cx="8810171" cy="1320800"/>
          </a:xfrm>
          <a:noFill/>
          <a:ln/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GB" dirty="0"/>
              <a:t>Transition t1 has three </a:t>
            </a:r>
            <a:r>
              <a:rPr lang="en-GB" b="1" dirty="0"/>
              <a:t>input places </a:t>
            </a:r>
            <a:r>
              <a:rPr lang="en-GB" dirty="0"/>
              <a:t>(p1, p2 and p3) and two </a:t>
            </a:r>
            <a:r>
              <a:rPr lang="en-GB" b="1" dirty="0"/>
              <a:t>output places </a:t>
            </a:r>
            <a:r>
              <a:rPr lang="en-GB" dirty="0"/>
              <a:t>(p3 and p4).</a:t>
            </a:r>
          </a:p>
          <a:p>
            <a:pPr>
              <a:buFontTx/>
              <a:buNone/>
            </a:pPr>
            <a:r>
              <a:rPr lang="en-GB" dirty="0"/>
              <a:t>Place p3 is both an input and an output place of t1.</a:t>
            </a: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4471985" y="2961550"/>
            <a:ext cx="584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0244" name="Oval 4"/>
          <p:cNvSpPr>
            <a:spLocks noChangeArrowheads="1"/>
          </p:cNvSpPr>
          <p:nvPr/>
        </p:nvSpPr>
        <p:spPr bwMode="auto">
          <a:xfrm>
            <a:off x="3252785" y="341875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>
            <a:off x="3849685" y="2872650"/>
            <a:ext cx="6096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2767010" y="2620238"/>
            <a:ext cx="438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p1</a:t>
            </a:r>
          </a:p>
        </p:txBody>
      </p:sp>
      <p:sp>
        <p:nvSpPr>
          <p:cNvPr id="10247" name="Line 7"/>
          <p:cNvSpPr>
            <a:spLocks noChangeShapeType="1"/>
          </p:cNvSpPr>
          <p:nvPr/>
        </p:nvSpPr>
        <p:spPr bwMode="auto">
          <a:xfrm flipV="1">
            <a:off x="3849685" y="3406050"/>
            <a:ext cx="6096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0248" name="Line 8"/>
          <p:cNvSpPr>
            <a:spLocks noChangeShapeType="1"/>
          </p:cNvSpPr>
          <p:nvPr/>
        </p:nvSpPr>
        <p:spPr bwMode="auto">
          <a:xfrm>
            <a:off x="5068885" y="325365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0249" name="Line 9"/>
          <p:cNvSpPr>
            <a:spLocks noChangeShapeType="1"/>
          </p:cNvSpPr>
          <p:nvPr/>
        </p:nvSpPr>
        <p:spPr bwMode="auto">
          <a:xfrm flipV="1">
            <a:off x="4916485" y="355845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0250" name="Line 10"/>
          <p:cNvSpPr>
            <a:spLocks noChangeShapeType="1"/>
          </p:cNvSpPr>
          <p:nvPr/>
        </p:nvSpPr>
        <p:spPr bwMode="auto">
          <a:xfrm>
            <a:off x="4687885" y="355845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0251" name="Oval 11"/>
          <p:cNvSpPr>
            <a:spLocks noChangeArrowheads="1"/>
          </p:cNvSpPr>
          <p:nvPr/>
        </p:nvSpPr>
        <p:spPr bwMode="auto">
          <a:xfrm>
            <a:off x="5691185" y="296155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0252" name="Oval 12"/>
          <p:cNvSpPr>
            <a:spLocks noChangeArrowheads="1"/>
          </p:cNvSpPr>
          <p:nvPr/>
        </p:nvSpPr>
        <p:spPr bwMode="auto">
          <a:xfrm>
            <a:off x="4471985" y="402835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0253" name="Oval 13"/>
          <p:cNvSpPr>
            <a:spLocks noChangeArrowheads="1"/>
          </p:cNvSpPr>
          <p:nvPr/>
        </p:nvSpPr>
        <p:spPr bwMode="auto">
          <a:xfrm>
            <a:off x="3252785" y="250435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0254" name="Rectangle 14"/>
          <p:cNvSpPr>
            <a:spLocks noChangeArrowheads="1"/>
          </p:cNvSpPr>
          <p:nvPr/>
        </p:nvSpPr>
        <p:spPr bwMode="auto">
          <a:xfrm>
            <a:off x="2767010" y="3534638"/>
            <a:ext cx="438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p2</a:t>
            </a:r>
          </a:p>
        </p:txBody>
      </p:sp>
      <p:sp>
        <p:nvSpPr>
          <p:cNvPr id="10255" name="Rectangle 15"/>
          <p:cNvSpPr>
            <a:spLocks noChangeArrowheads="1"/>
          </p:cNvSpPr>
          <p:nvPr/>
        </p:nvSpPr>
        <p:spPr bwMode="auto">
          <a:xfrm>
            <a:off x="5129210" y="3991838"/>
            <a:ext cx="438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p3</a:t>
            </a:r>
          </a:p>
        </p:txBody>
      </p:sp>
      <p:sp>
        <p:nvSpPr>
          <p:cNvPr id="10256" name="Rectangle 16"/>
          <p:cNvSpPr>
            <a:spLocks noChangeArrowheads="1"/>
          </p:cNvSpPr>
          <p:nvPr/>
        </p:nvSpPr>
        <p:spPr bwMode="auto">
          <a:xfrm>
            <a:off x="6348410" y="3077438"/>
            <a:ext cx="438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p4</a:t>
            </a:r>
          </a:p>
        </p:txBody>
      </p:sp>
      <p:sp>
        <p:nvSpPr>
          <p:cNvPr id="10257" name="Rectangle 17"/>
          <p:cNvSpPr>
            <a:spLocks noChangeArrowheads="1"/>
          </p:cNvSpPr>
          <p:nvPr/>
        </p:nvSpPr>
        <p:spPr bwMode="auto">
          <a:xfrm>
            <a:off x="4595810" y="3153638"/>
            <a:ext cx="381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 dirty="0"/>
              <a:t>t1</a:t>
            </a: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457" y="870856"/>
            <a:ext cx="77506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tx2"/>
                </a:solidFill>
                <a:latin typeface="+mj-lt"/>
              </a:rPr>
              <a:t>Transitions with Multiple </a:t>
            </a:r>
          </a:p>
          <a:p>
            <a:r>
              <a:rPr lang="en-GB" sz="4000" dirty="0">
                <a:solidFill>
                  <a:schemeClr val="tx2"/>
                </a:solidFill>
                <a:latin typeface="+mj-lt"/>
              </a:rPr>
              <a:t>Inputs and Outputs</a:t>
            </a: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795338" y="500043"/>
            <a:ext cx="8229628" cy="928694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Enabling Condition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523844" y="1643050"/>
            <a:ext cx="8786874" cy="1328735"/>
          </a:xfrm>
          <a:noFill/>
          <a:ln/>
        </p:spPr>
        <p:txBody>
          <a:bodyPr>
            <a:noAutofit/>
          </a:bodyPr>
          <a:lstStyle/>
          <a:p>
            <a:r>
              <a:rPr lang="en-GB" sz="2400" dirty="0"/>
              <a:t>Transitions are the </a:t>
            </a:r>
            <a:r>
              <a:rPr lang="en-GB" sz="2400" b="1" dirty="0"/>
              <a:t>active </a:t>
            </a:r>
            <a:r>
              <a:rPr lang="en-GB" sz="2400" dirty="0"/>
              <a:t>components and places and tokens are </a:t>
            </a:r>
            <a:r>
              <a:rPr lang="en-GB" sz="2400" b="1" dirty="0"/>
              <a:t>passive </a:t>
            </a:r>
            <a:r>
              <a:rPr lang="en-GB" sz="2400" dirty="0"/>
              <a:t>components.</a:t>
            </a:r>
          </a:p>
          <a:p>
            <a:r>
              <a:rPr lang="en-GB" sz="2400" dirty="0"/>
              <a:t>A transition is </a:t>
            </a:r>
            <a:r>
              <a:rPr lang="en-GB" sz="2400" b="1" dirty="0">
                <a:solidFill>
                  <a:schemeClr val="accent3"/>
                </a:solidFill>
              </a:rPr>
              <a:t>enabled</a:t>
            </a:r>
            <a:r>
              <a:rPr lang="en-GB" sz="2400" dirty="0"/>
              <a:t> if each of the input places contains tokens.</a:t>
            </a:r>
          </a:p>
        </p:txBody>
      </p:sp>
      <p:sp>
        <p:nvSpPr>
          <p:cNvPr id="12292" name="Oval 4"/>
          <p:cNvSpPr>
            <a:spLocks noChangeArrowheads="1"/>
          </p:cNvSpPr>
          <p:nvPr/>
        </p:nvSpPr>
        <p:spPr bwMode="auto">
          <a:xfrm>
            <a:off x="1598590" y="328930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2293" name="Oval 5"/>
          <p:cNvSpPr>
            <a:spLocks noChangeArrowheads="1"/>
          </p:cNvSpPr>
          <p:nvPr/>
        </p:nvSpPr>
        <p:spPr bwMode="auto">
          <a:xfrm>
            <a:off x="1455714" y="3503614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2304" name="Group 16"/>
          <p:cNvGrpSpPr>
            <a:grpSpLocks/>
          </p:cNvGrpSpPr>
          <p:nvPr/>
        </p:nvGrpSpPr>
        <p:grpSpPr bwMode="auto">
          <a:xfrm>
            <a:off x="1358896" y="3216284"/>
            <a:ext cx="3022600" cy="1498600"/>
            <a:chOff x="536" y="1832"/>
            <a:chExt cx="1904" cy="944"/>
          </a:xfrm>
        </p:grpSpPr>
        <p:sp>
          <p:nvSpPr>
            <p:cNvPr id="12294" name="Rectangle 6"/>
            <p:cNvSpPr>
              <a:spLocks noChangeArrowheads="1"/>
            </p:cNvSpPr>
            <p:nvPr/>
          </p:nvSpPr>
          <p:spPr bwMode="auto">
            <a:xfrm>
              <a:off x="1304" y="2120"/>
              <a:ext cx="368" cy="36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2295" name="Oval 7"/>
            <p:cNvSpPr>
              <a:spLocks noChangeArrowheads="1"/>
            </p:cNvSpPr>
            <p:nvPr/>
          </p:nvSpPr>
          <p:spPr bwMode="auto">
            <a:xfrm>
              <a:off x="536" y="1832"/>
              <a:ext cx="368" cy="3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2296" name="Line 8"/>
            <p:cNvSpPr>
              <a:spLocks noChangeShapeType="1"/>
            </p:cNvSpPr>
            <p:nvPr/>
          </p:nvSpPr>
          <p:spPr bwMode="auto">
            <a:xfrm>
              <a:off x="912" y="2112"/>
              <a:ext cx="384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2297" name="Line 9"/>
            <p:cNvSpPr>
              <a:spLocks noChangeShapeType="1"/>
            </p:cNvSpPr>
            <p:nvPr/>
          </p:nvSpPr>
          <p:spPr bwMode="auto">
            <a:xfrm flipV="1">
              <a:off x="912" y="2400"/>
              <a:ext cx="384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2298" name="Oval 10"/>
            <p:cNvSpPr>
              <a:spLocks noChangeArrowheads="1"/>
            </p:cNvSpPr>
            <p:nvPr/>
          </p:nvSpPr>
          <p:spPr bwMode="auto">
            <a:xfrm>
              <a:off x="536" y="2408"/>
              <a:ext cx="368" cy="3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2299" name="Oval 11"/>
            <p:cNvSpPr>
              <a:spLocks noChangeArrowheads="1"/>
            </p:cNvSpPr>
            <p:nvPr/>
          </p:nvSpPr>
          <p:spPr bwMode="auto">
            <a:xfrm>
              <a:off x="2072" y="1832"/>
              <a:ext cx="368" cy="3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2300" name="Oval 12"/>
            <p:cNvSpPr>
              <a:spLocks noChangeArrowheads="1"/>
            </p:cNvSpPr>
            <p:nvPr/>
          </p:nvSpPr>
          <p:spPr bwMode="auto">
            <a:xfrm>
              <a:off x="2072" y="2408"/>
              <a:ext cx="368" cy="3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2301" name="Rectangle 13"/>
            <p:cNvSpPr>
              <a:spLocks noChangeArrowheads="1"/>
            </p:cNvSpPr>
            <p:nvPr/>
          </p:nvSpPr>
          <p:spPr bwMode="auto">
            <a:xfrm>
              <a:off x="1382" y="2241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/>
                <a:t>t1</a:t>
              </a:r>
            </a:p>
          </p:txBody>
        </p:sp>
        <p:sp>
          <p:nvSpPr>
            <p:cNvPr id="12302" name="Line 14"/>
            <p:cNvSpPr>
              <a:spLocks noChangeShapeType="1"/>
            </p:cNvSpPr>
            <p:nvPr/>
          </p:nvSpPr>
          <p:spPr bwMode="auto">
            <a:xfrm flipV="1">
              <a:off x="1680" y="2112"/>
              <a:ext cx="384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2303" name="Line 15"/>
            <p:cNvSpPr>
              <a:spLocks noChangeShapeType="1"/>
            </p:cNvSpPr>
            <p:nvPr/>
          </p:nvSpPr>
          <p:spPr bwMode="auto">
            <a:xfrm>
              <a:off x="1680" y="2400"/>
              <a:ext cx="384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2318" name="Group 30"/>
          <p:cNvGrpSpPr>
            <a:grpSpLocks/>
          </p:cNvGrpSpPr>
          <p:nvPr/>
        </p:nvGrpSpPr>
        <p:grpSpPr bwMode="auto">
          <a:xfrm>
            <a:off x="5359424" y="3214686"/>
            <a:ext cx="3022600" cy="1498600"/>
            <a:chOff x="3080" y="1880"/>
            <a:chExt cx="1904" cy="944"/>
          </a:xfrm>
        </p:grpSpPr>
        <p:sp>
          <p:nvSpPr>
            <p:cNvPr id="12305" name="Oval 17"/>
            <p:cNvSpPr>
              <a:spLocks noChangeArrowheads="1"/>
            </p:cNvSpPr>
            <p:nvPr/>
          </p:nvSpPr>
          <p:spPr bwMode="auto">
            <a:xfrm>
              <a:off x="3220" y="2020"/>
              <a:ext cx="88" cy="88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2306" name="Oval 18"/>
            <p:cNvSpPr>
              <a:spLocks noChangeArrowheads="1"/>
            </p:cNvSpPr>
            <p:nvPr/>
          </p:nvSpPr>
          <p:spPr bwMode="auto">
            <a:xfrm>
              <a:off x="3220" y="2596"/>
              <a:ext cx="88" cy="88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2317" name="Group 29"/>
            <p:cNvGrpSpPr>
              <a:grpSpLocks/>
            </p:cNvGrpSpPr>
            <p:nvPr/>
          </p:nvGrpSpPr>
          <p:grpSpPr bwMode="auto">
            <a:xfrm>
              <a:off x="3080" y="1880"/>
              <a:ext cx="1904" cy="944"/>
              <a:chOff x="3080" y="1880"/>
              <a:chExt cx="1904" cy="944"/>
            </a:xfrm>
          </p:grpSpPr>
          <p:sp>
            <p:nvSpPr>
              <p:cNvPr id="12307" name="Rectangle 19"/>
              <p:cNvSpPr>
                <a:spLocks noChangeArrowheads="1"/>
              </p:cNvSpPr>
              <p:nvPr/>
            </p:nvSpPr>
            <p:spPr bwMode="auto">
              <a:xfrm>
                <a:off x="3848" y="2168"/>
                <a:ext cx="368" cy="368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2308" name="Oval 20"/>
              <p:cNvSpPr>
                <a:spLocks noChangeArrowheads="1"/>
              </p:cNvSpPr>
              <p:nvPr/>
            </p:nvSpPr>
            <p:spPr bwMode="auto">
              <a:xfrm>
                <a:off x="3080" y="1880"/>
                <a:ext cx="368" cy="36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2309" name="Line 21"/>
              <p:cNvSpPr>
                <a:spLocks noChangeShapeType="1"/>
              </p:cNvSpPr>
              <p:nvPr/>
            </p:nvSpPr>
            <p:spPr bwMode="auto">
              <a:xfrm>
                <a:off x="3456" y="2160"/>
                <a:ext cx="384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310" name="Line 22"/>
              <p:cNvSpPr>
                <a:spLocks noChangeShapeType="1"/>
              </p:cNvSpPr>
              <p:nvPr/>
            </p:nvSpPr>
            <p:spPr bwMode="auto">
              <a:xfrm flipV="1">
                <a:off x="3456" y="2448"/>
                <a:ext cx="384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311" name="Oval 23"/>
              <p:cNvSpPr>
                <a:spLocks noChangeArrowheads="1"/>
              </p:cNvSpPr>
              <p:nvPr/>
            </p:nvSpPr>
            <p:spPr bwMode="auto">
              <a:xfrm>
                <a:off x="3080" y="2456"/>
                <a:ext cx="368" cy="36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2312" name="Oval 24"/>
              <p:cNvSpPr>
                <a:spLocks noChangeArrowheads="1"/>
              </p:cNvSpPr>
              <p:nvPr/>
            </p:nvSpPr>
            <p:spPr bwMode="auto">
              <a:xfrm>
                <a:off x="4616" y="1880"/>
                <a:ext cx="368" cy="36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2313" name="Oval 25"/>
              <p:cNvSpPr>
                <a:spLocks noChangeArrowheads="1"/>
              </p:cNvSpPr>
              <p:nvPr/>
            </p:nvSpPr>
            <p:spPr bwMode="auto">
              <a:xfrm>
                <a:off x="4616" y="2456"/>
                <a:ext cx="368" cy="36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2314" name="Rectangle 26"/>
              <p:cNvSpPr>
                <a:spLocks noChangeArrowheads="1"/>
              </p:cNvSpPr>
              <p:nvPr/>
            </p:nvSpPr>
            <p:spPr bwMode="auto">
              <a:xfrm>
                <a:off x="3926" y="2289"/>
                <a:ext cx="24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l" defTabSz="762000"/>
                <a:r>
                  <a:rPr lang="en-GB" sz="2000"/>
                  <a:t>t2</a:t>
                </a:r>
              </a:p>
            </p:txBody>
          </p:sp>
          <p:sp>
            <p:nvSpPr>
              <p:cNvPr id="12315" name="Line 27"/>
              <p:cNvSpPr>
                <a:spLocks noChangeShapeType="1"/>
              </p:cNvSpPr>
              <p:nvPr/>
            </p:nvSpPr>
            <p:spPr bwMode="auto">
              <a:xfrm flipV="1">
                <a:off x="4224" y="2160"/>
                <a:ext cx="384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316" name="Line 28"/>
              <p:cNvSpPr>
                <a:spLocks noChangeShapeType="1"/>
              </p:cNvSpPr>
              <p:nvPr/>
            </p:nvSpPr>
            <p:spPr bwMode="auto">
              <a:xfrm>
                <a:off x="4224" y="2448"/>
                <a:ext cx="384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12319" name="Rectangle 31"/>
          <p:cNvSpPr>
            <a:spLocks noChangeArrowheads="1"/>
          </p:cNvSpPr>
          <p:nvPr/>
        </p:nvSpPr>
        <p:spPr bwMode="auto">
          <a:xfrm>
            <a:off x="666720" y="5143512"/>
            <a:ext cx="8072494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285750" indent="-285750" algn="l" defTabSz="762000">
              <a:spcBef>
                <a:spcPct val="30000"/>
              </a:spcBef>
            </a:pPr>
            <a:r>
              <a:rPr lang="en-GB" dirty="0"/>
              <a:t>Transition t1 is not enabled, transition t2 is enabled.</a:t>
            </a:r>
          </a:p>
          <a:p>
            <a:pPr marL="285750" indent="-285750" algn="l" defTabSz="762000">
              <a:spcBef>
                <a:spcPct val="30000"/>
              </a:spcBef>
            </a:pPr>
            <a:endParaRPr lang="en-GB" dirty="0"/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35" name="Footer Placeholder 3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 animBg="1"/>
      <p:bldP spid="12293" grpId="0" animBg="1"/>
      <p:bldP spid="123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795338" y="428605"/>
            <a:ext cx="8301066" cy="1000132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Firing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93743" y="1727415"/>
            <a:ext cx="8508313" cy="1169987"/>
          </a:xfrm>
          <a:noFill/>
          <a:ln/>
        </p:spPr>
        <p:txBody>
          <a:bodyPr>
            <a:noAutofit/>
          </a:bodyPr>
          <a:lstStyle/>
          <a:p>
            <a:pPr>
              <a:buFontTx/>
              <a:buNone/>
            </a:pPr>
            <a:r>
              <a:rPr lang="en-GB" sz="2800" dirty="0"/>
              <a:t>An </a:t>
            </a:r>
            <a:r>
              <a:rPr lang="en-GB" sz="2800" dirty="0">
                <a:solidFill>
                  <a:schemeClr val="accent3"/>
                </a:solidFill>
              </a:rPr>
              <a:t>enabled</a:t>
            </a:r>
            <a:r>
              <a:rPr lang="en-GB" sz="2800" dirty="0"/>
              <a:t> transition may </a:t>
            </a:r>
            <a:r>
              <a:rPr lang="en-GB" sz="2800" b="1" dirty="0">
                <a:solidFill>
                  <a:schemeClr val="accent3"/>
                </a:solidFill>
              </a:rPr>
              <a:t>fire</a:t>
            </a:r>
            <a:r>
              <a:rPr lang="en-GB" sz="2800" dirty="0"/>
              <a:t>.</a:t>
            </a:r>
          </a:p>
          <a:p>
            <a:pPr>
              <a:buFontTx/>
              <a:buNone/>
            </a:pPr>
            <a:r>
              <a:rPr lang="en-GB" sz="2800" dirty="0"/>
              <a:t>Firing corresponds to </a:t>
            </a:r>
            <a:r>
              <a:rPr lang="en-GB" sz="2800" b="1" dirty="0"/>
              <a:t>consuming</a:t>
            </a:r>
            <a:r>
              <a:rPr lang="en-GB" sz="2800" dirty="0"/>
              <a:t> tokens from the input places and </a:t>
            </a:r>
            <a:r>
              <a:rPr lang="en-GB" sz="2800" b="1" dirty="0"/>
              <a:t>producing</a:t>
            </a:r>
            <a:r>
              <a:rPr lang="en-GB" sz="2800" dirty="0"/>
              <a:t> tokens for the output places.</a:t>
            </a:r>
          </a:p>
        </p:txBody>
      </p:sp>
      <p:sp>
        <p:nvSpPr>
          <p:cNvPr id="14340" name="Oval 4"/>
          <p:cNvSpPr>
            <a:spLocks noChangeArrowheads="1"/>
          </p:cNvSpPr>
          <p:nvPr/>
        </p:nvSpPr>
        <p:spPr bwMode="auto">
          <a:xfrm>
            <a:off x="8159750" y="3925196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4341" name="Oval 5"/>
          <p:cNvSpPr>
            <a:spLocks noChangeArrowheads="1"/>
          </p:cNvSpPr>
          <p:nvPr/>
        </p:nvSpPr>
        <p:spPr bwMode="auto">
          <a:xfrm>
            <a:off x="8159750" y="4839596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4352" name="Group 16"/>
          <p:cNvGrpSpPr>
            <a:grpSpLocks/>
          </p:cNvGrpSpPr>
          <p:nvPr/>
        </p:nvGrpSpPr>
        <p:grpSpPr bwMode="auto">
          <a:xfrm>
            <a:off x="5499100" y="3702946"/>
            <a:ext cx="3022600" cy="1498600"/>
            <a:chOff x="3464" y="1976"/>
            <a:chExt cx="1904" cy="944"/>
          </a:xfrm>
        </p:grpSpPr>
        <p:sp>
          <p:nvSpPr>
            <p:cNvPr id="14342" name="Rectangle 6"/>
            <p:cNvSpPr>
              <a:spLocks noChangeArrowheads="1"/>
            </p:cNvSpPr>
            <p:nvPr/>
          </p:nvSpPr>
          <p:spPr bwMode="auto">
            <a:xfrm>
              <a:off x="4232" y="2264"/>
              <a:ext cx="368" cy="36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43" name="Oval 7"/>
            <p:cNvSpPr>
              <a:spLocks noChangeArrowheads="1"/>
            </p:cNvSpPr>
            <p:nvPr/>
          </p:nvSpPr>
          <p:spPr bwMode="auto">
            <a:xfrm>
              <a:off x="3464" y="1976"/>
              <a:ext cx="368" cy="3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44" name="Line 8"/>
            <p:cNvSpPr>
              <a:spLocks noChangeShapeType="1"/>
            </p:cNvSpPr>
            <p:nvPr/>
          </p:nvSpPr>
          <p:spPr bwMode="auto">
            <a:xfrm>
              <a:off x="3840" y="2256"/>
              <a:ext cx="384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4345" name="Line 9"/>
            <p:cNvSpPr>
              <a:spLocks noChangeShapeType="1"/>
            </p:cNvSpPr>
            <p:nvPr/>
          </p:nvSpPr>
          <p:spPr bwMode="auto">
            <a:xfrm flipV="1">
              <a:off x="3840" y="2544"/>
              <a:ext cx="384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4346" name="Oval 10"/>
            <p:cNvSpPr>
              <a:spLocks noChangeArrowheads="1"/>
            </p:cNvSpPr>
            <p:nvPr/>
          </p:nvSpPr>
          <p:spPr bwMode="auto">
            <a:xfrm>
              <a:off x="3464" y="2552"/>
              <a:ext cx="368" cy="3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47" name="Oval 11"/>
            <p:cNvSpPr>
              <a:spLocks noChangeArrowheads="1"/>
            </p:cNvSpPr>
            <p:nvPr/>
          </p:nvSpPr>
          <p:spPr bwMode="auto">
            <a:xfrm>
              <a:off x="5000" y="1976"/>
              <a:ext cx="368" cy="3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48" name="Oval 12"/>
            <p:cNvSpPr>
              <a:spLocks noChangeArrowheads="1"/>
            </p:cNvSpPr>
            <p:nvPr/>
          </p:nvSpPr>
          <p:spPr bwMode="auto">
            <a:xfrm>
              <a:off x="5000" y="2552"/>
              <a:ext cx="368" cy="3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49" name="Rectangle 13"/>
            <p:cNvSpPr>
              <a:spLocks noChangeArrowheads="1"/>
            </p:cNvSpPr>
            <p:nvPr/>
          </p:nvSpPr>
          <p:spPr bwMode="auto">
            <a:xfrm>
              <a:off x="4310" y="2385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/>
                <a:t>t2</a:t>
              </a:r>
            </a:p>
          </p:txBody>
        </p:sp>
        <p:sp>
          <p:nvSpPr>
            <p:cNvPr id="14350" name="Line 14"/>
            <p:cNvSpPr>
              <a:spLocks noChangeShapeType="1"/>
            </p:cNvSpPr>
            <p:nvPr/>
          </p:nvSpPr>
          <p:spPr bwMode="auto">
            <a:xfrm flipV="1">
              <a:off x="4608" y="2256"/>
              <a:ext cx="384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4351" name="Line 15"/>
            <p:cNvSpPr>
              <a:spLocks noChangeShapeType="1"/>
            </p:cNvSpPr>
            <p:nvPr/>
          </p:nvSpPr>
          <p:spPr bwMode="auto">
            <a:xfrm>
              <a:off x="4608" y="2544"/>
              <a:ext cx="384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4353" name="Oval 17"/>
          <p:cNvSpPr>
            <a:spLocks noChangeArrowheads="1"/>
          </p:cNvSpPr>
          <p:nvPr/>
        </p:nvSpPr>
        <p:spPr bwMode="auto">
          <a:xfrm>
            <a:off x="1377950" y="3925196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4354" name="Oval 18"/>
          <p:cNvSpPr>
            <a:spLocks noChangeArrowheads="1"/>
          </p:cNvSpPr>
          <p:nvPr/>
        </p:nvSpPr>
        <p:spPr bwMode="auto">
          <a:xfrm>
            <a:off x="1377950" y="4839596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4365" name="Group 29"/>
          <p:cNvGrpSpPr>
            <a:grpSpLocks/>
          </p:cNvGrpSpPr>
          <p:nvPr/>
        </p:nvGrpSpPr>
        <p:grpSpPr bwMode="auto">
          <a:xfrm>
            <a:off x="1155700" y="3702946"/>
            <a:ext cx="3022600" cy="1498600"/>
            <a:chOff x="728" y="1976"/>
            <a:chExt cx="1904" cy="944"/>
          </a:xfrm>
        </p:grpSpPr>
        <p:sp>
          <p:nvSpPr>
            <p:cNvPr id="14355" name="Rectangle 19"/>
            <p:cNvSpPr>
              <a:spLocks noChangeArrowheads="1"/>
            </p:cNvSpPr>
            <p:nvPr/>
          </p:nvSpPr>
          <p:spPr bwMode="auto">
            <a:xfrm>
              <a:off x="1496" y="2264"/>
              <a:ext cx="368" cy="36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56" name="Oval 20"/>
            <p:cNvSpPr>
              <a:spLocks noChangeArrowheads="1"/>
            </p:cNvSpPr>
            <p:nvPr/>
          </p:nvSpPr>
          <p:spPr bwMode="auto">
            <a:xfrm>
              <a:off x="728" y="1976"/>
              <a:ext cx="368" cy="3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57" name="Line 21"/>
            <p:cNvSpPr>
              <a:spLocks noChangeShapeType="1"/>
            </p:cNvSpPr>
            <p:nvPr/>
          </p:nvSpPr>
          <p:spPr bwMode="auto">
            <a:xfrm>
              <a:off x="1104" y="2256"/>
              <a:ext cx="384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4358" name="Line 22"/>
            <p:cNvSpPr>
              <a:spLocks noChangeShapeType="1"/>
            </p:cNvSpPr>
            <p:nvPr/>
          </p:nvSpPr>
          <p:spPr bwMode="auto">
            <a:xfrm flipV="1">
              <a:off x="1104" y="2544"/>
              <a:ext cx="384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4359" name="Oval 23"/>
            <p:cNvSpPr>
              <a:spLocks noChangeArrowheads="1"/>
            </p:cNvSpPr>
            <p:nvPr/>
          </p:nvSpPr>
          <p:spPr bwMode="auto">
            <a:xfrm>
              <a:off x="728" y="2552"/>
              <a:ext cx="368" cy="3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60" name="Oval 24"/>
            <p:cNvSpPr>
              <a:spLocks noChangeArrowheads="1"/>
            </p:cNvSpPr>
            <p:nvPr/>
          </p:nvSpPr>
          <p:spPr bwMode="auto">
            <a:xfrm>
              <a:off x="2264" y="1976"/>
              <a:ext cx="368" cy="3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61" name="Oval 25"/>
            <p:cNvSpPr>
              <a:spLocks noChangeArrowheads="1"/>
            </p:cNvSpPr>
            <p:nvPr/>
          </p:nvSpPr>
          <p:spPr bwMode="auto">
            <a:xfrm>
              <a:off x="2264" y="2552"/>
              <a:ext cx="368" cy="3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62" name="Rectangle 26"/>
            <p:cNvSpPr>
              <a:spLocks noChangeArrowheads="1"/>
            </p:cNvSpPr>
            <p:nvPr/>
          </p:nvSpPr>
          <p:spPr bwMode="auto">
            <a:xfrm>
              <a:off x="1574" y="2385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/>
                <a:t>t2</a:t>
              </a:r>
            </a:p>
          </p:txBody>
        </p:sp>
        <p:sp>
          <p:nvSpPr>
            <p:cNvPr id="14363" name="Line 27"/>
            <p:cNvSpPr>
              <a:spLocks noChangeShapeType="1"/>
            </p:cNvSpPr>
            <p:nvPr/>
          </p:nvSpPr>
          <p:spPr bwMode="auto">
            <a:xfrm flipV="1">
              <a:off x="1872" y="2256"/>
              <a:ext cx="384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4364" name="Line 28"/>
            <p:cNvSpPr>
              <a:spLocks noChangeShapeType="1"/>
            </p:cNvSpPr>
            <p:nvPr/>
          </p:nvSpPr>
          <p:spPr bwMode="auto">
            <a:xfrm>
              <a:off x="1872" y="2544"/>
              <a:ext cx="384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4366" name="AutoShape 30"/>
          <p:cNvSpPr>
            <a:spLocks noChangeArrowheads="1"/>
          </p:cNvSpPr>
          <p:nvPr/>
        </p:nvSpPr>
        <p:spPr bwMode="auto">
          <a:xfrm>
            <a:off x="4578350" y="4306196"/>
            <a:ext cx="673100" cy="292100"/>
          </a:xfrm>
          <a:prstGeom prst="rightArrow">
            <a:avLst>
              <a:gd name="adj1" fmla="val 50000"/>
              <a:gd name="adj2" fmla="val 115228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4367" name="Rectangle 31"/>
          <p:cNvSpPr>
            <a:spLocks noChangeArrowheads="1"/>
          </p:cNvSpPr>
          <p:nvPr/>
        </p:nvSpPr>
        <p:spPr bwMode="auto">
          <a:xfrm>
            <a:off x="740229" y="5357575"/>
            <a:ext cx="8066314" cy="491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285750" indent="-285750" algn="l" defTabSz="762000">
              <a:spcBef>
                <a:spcPct val="30000"/>
              </a:spcBef>
            </a:pPr>
            <a:r>
              <a:rPr lang="en-GB" sz="2800" dirty="0"/>
              <a:t>Firing is </a:t>
            </a:r>
            <a:r>
              <a:rPr lang="en-GB" sz="2800" b="1" dirty="0">
                <a:solidFill>
                  <a:schemeClr val="accent3"/>
                </a:solidFill>
              </a:rPr>
              <a:t>atomic</a:t>
            </a:r>
            <a:r>
              <a:rPr lang="en-GB" sz="2800" dirty="0"/>
              <a:t> (only one transition fires at a time, even if more than one is enabled)</a:t>
            </a:r>
          </a:p>
          <a:p>
            <a:pPr marL="285750" indent="-285750" algn="l" defTabSz="762000">
              <a:spcBef>
                <a:spcPct val="30000"/>
              </a:spcBef>
            </a:pPr>
            <a:endParaRPr lang="en-GB" sz="2800" dirty="0"/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35" name="Footer Placeholder 3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795338" y="357167"/>
            <a:ext cx="8372504" cy="1000132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An Example Petri Net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2070100" y="1612900"/>
            <a:ext cx="584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388" name="Oval 4"/>
          <p:cNvSpPr>
            <a:spLocks noChangeArrowheads="1"/>
          </p:cNvSpPr>
          <p:nvPr/>
        </p:nvSpPr>
        <p:spPr bwMode="auto">
          <a:xfrm>
            <a:off x="850900" y="161290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389" name="Line 5"/>
          <p:cNvSpPr>
            <a:spLocks noChangeShapeType="1"/>
          </p:cNvSpPr>
          <p:nvPr/>
        </p:nvSpPr>
        <p:spPr bwMode="auto">
          <a:xfrm>
            <a:off x="1447800" y="19050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6390" name="Oval 6"/>
          <p:cNvSpPr>
            <a:spLocks noChangeArrowheads="1"/>
          </p:cNvSpPr>
          <p:nvPr/>
        </p:nvSpPr>
        <p:spPr bwMode="auto">
          <a:xfrm>
            <a:off x="996950" y="175895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391" name="Line 7"/>
          <p:cNvSpPr>
            <a:spLocks noChangeShapeType="1"/>
          </p:cNvSpPr>
          <p:nvPr/>
        </p:nvSpPr>
        <p:spPr bwMode="auto">
          <a:xfrm flipV="1">
            <a:off x="2590800" y="2209800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6392" name="Line 8"/>
          <p:cNvSpPr>
            <a:spLocks noChangeShapeType="1"/>
          </p:cNvSpPr>
          <p:nvPr/>
        </p:nvSpPr>
        <p:spPr bwMode="auto">
          <a:xfrm>
            <a:off x="2667000" y="19050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6393" name="Oval 9"/>
          <p:cNvSpPr>
            <a:spLocks noChangeArrowheads="1"/>
          </p:cNvSpPr>
          <p:nvPr/>
        </p:nvSpPr>
        <p:spPr bwMode="auto">
          <a:xfrm>
            <a:off x="2070100" y="275590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394" name="Oval 10"/>
          <p:cNvSpPr>
            <a:spLocks noChangeArrowheads="1"/>
          </p:cNvSpPr>
          <p:nvPr/>
        </p:nvSpPr>
        <p:spPr bwMode="auto">
          <a:xfrm>
            <a:off x="3289300" y="161290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395" name="Oval 11"/>
          <p:cNvSpPr>
            <a:spLocks noChangeArrowheads="1"/>
          </p:cNvSpPr>
          <p:nvPr/>
        </p:nvSpPr>
        <p:spPr bwMode="auto">
          <a:xfrm>
            <a:off x="1149350" y="191135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396" name="Oval 12"/>
          <p:cNvSpPr>
            <a:spLocks noChangeArrowheads="1"/>
          </p:cNvSpPr>
          <p:nvPr/>
        </p:nvSpPr>
        <p:spPr bwMode="auto">
          <a:xfrm>
            <a:off x="2292350" y="297815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397" name="Oval 13"/>
          <p:cNvSpPr>
            <a:spLocks noChangeArrowheads="1"/>
          </p:cNvSpPr>
          <p:nvPr/>
        </p:nvSpPr>
        <p:spPr bwMode="auto">
          <a:xfrm>
            <a:off x="3511550" y="183515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398" name="Line 14"/>
          <p:cNvSpPr>
            <a:spLocks noChangeShapeType="1"/>
          </p:cNvSpPr>
          <p:nvPr/>
        </p:nvSpPr>
        <p:spPr bwMode="auto">
          <a:xfrm>
            <a:off x="2209800" y="2209800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6399" name="Rectangle 15"/>
          <p:cNvSpPr>
            <a:spLocks noChangeArrowheads="1"/>
          </p:cNvSpPr>
          <p:nvPr/>
        </p:nvSpPr>
        <p:spPr bwMode="auto">
          <a:xfrm>
            <a:off x="6946900" y="4241800"/>
            <a:ext cx="584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00" name="Oval 16"/>
          <p:cNvSpPr>
            <a:spLocks noChangeArrowheads="1"/>
          </p:cNvSpPr>
          <p:nvPr/>
        </p:nvSpPr>
        <p:spPr bwMode="auto">
          <a:xfrm>
            <a:off x="5727700" y="424180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01" name="Line 17"/>
          <p:cNvSpPr>
            <a:spLocks noChangeShapeType="1"/>
          </p:cNvSpPr>
          <p:nvPr/>
        </p:nvSpPr>
        <p:spPr bwMode="auto">
          <a:xfrm>
            <a:off x="6324600" y="45339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6402" name="Oval 18"/>
          <p:cNvSpPr>
            <a:spLocks noChangeArrowheads="1"/>
          </p:cNvSpPr>
          <p:nvPr/>
        </p:nvSpPr>
        <p:spPr bwMode="auto">
          <a:xfrm>
            <a:off x="5873750" y="438785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03" name="Line 19"/>
          <p:cNvSpPr>
            <a:spLocks noChangeShapeType="1"/>
          </p:cNvSpPr>
          <p:nvPr/>
        </p:nvSpPr>
        <p:spPr bwMode="auto">
          <a:xfrm flipV="1">
            <a:off x="7467600" y="4838700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6404" name="Line 20"/>
          <p:cNvSpPr>
            <a:spLocks noChangeShapeType="1"/>
          </p:cNvSpPr>
          <p:nvPr/>
        </p:nvSpPr>
        <p:spPr bwMode="auto">
          <a:xfrm>
            <a:off x="7543800" y="45339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6405" name="Oval 21"/>
          <p:cNvSpPr>
            <a:spLocks noChangeArrowheads="1"/>
          </p:cNvSpPr>
          <p:nvPr/>
        </p:nvSpPr>
        <p:spPr bwMode="auto">
          <a:xfrm>
            <a:off x="6946900" y="538480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06" name="Oval 22"/>
          <p:cNvSpPr>
            <a:spLocks noChangeArrowheads="1"/>
          </p:cNvSpPr>
          <p:nvPr/>
        </p:nvSpPr>
        <p:spPr bwMode="auto">
          <a:xfrm>
            <a:off x="8166100" y="424180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07" name="Oval 23"/>
          <p:cNvSpPr>
            <a:spLocks noChangeArrowheads="1"/>
          </p:cNvSpPr>
          <p:nvPr/>
        </p:nvSpPr>
        <p:spPr bwMode="auto">
          <a:xfrm>
            <a:off x="8540750" y="438785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08" name="Oval 24"/>
          <p:cNvSpPr>
            <a:spLocks noChangeArrowheads="1"/>
          </p:cNvSpPr>
          <p:nvPr/>
        </p:nvSpPr>
        <p:spPr bwMode="auto">
          <a:xfrm>
            <a:off x="7169150" y="560705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09" name="Oval 25"/>
          <p:cNvSpPr>
            <a:spLocks noChangeArrowheads="1"/>
          </p:cNvSpPr>
          <p:nvPr/>
        </p:nvSpPr>
        <p:spPr bwMode="auto">
          <a:xfrm>
            <a:off x="8388350" y="446405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10" name="Line 26"/>
          <p:cNvSpPr>
            <a:spLocks noChangeShapeType="1"/>
          </p:cNvSpPr>
          <p:nvPr/>
        </p:nvSpPr>
        <p:spPr bwMode="auto">
          <a:xfrm>
            <a:off x="7086600" y="4838700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6411" name="Rectangle 27"/>
          <p:cNvSpPr>
            <a:spLocks noChangeArrowheads="1"/>
          </p:cNvSpPr>
          <p:nvPr/>
        </p:nvSpPr>
        <p:spPr bwMode="auto">
          <a:xfrm>
            <a:off x="2070100" y="4241800"/>
            <a:ext cx="584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12" name="Oval 28"/>
          <p:cNvSpPr>
            <a:spLocks noChangeArrowheads="1"/>
          </p:cNvSpPr>
          <p:nvPr/>
        </p:nvSpPr>
        <p:spPr bwMode="auto">
          <a:xfrm>
            <a:off x="850900" y="424180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13" name="Line 29"/>
          <p:cNvSpPr>
            <a:spLocks noChangeShapeType="1"/>
          </p:cNvSpPr>
          <p:nvPr/>
        </p:nvSpPr>
        <p:spPr bwMode="auto">
          <a:xfrm>
            <a:off x="1447800" y="45339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6414" name="Oval 30"/>
          <p:cNvSpPr>
            <a:spLocks noChangeArrowheads="1"/>
          </p:cNvSpPr>
          <p:nvPr/>
        </p:nvSpPr>
        <p:spPr bwMode="auto">
          <a:xfrm>
            <a:off x="1225550" y="172085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15" name="Line 31"/>
          <p:cNvSpPr>
            <a:spLocks noChangeShapeType="1"/>
          </p:cNvSpPr>
          <p:nvPr/>
        </p:nvSpPr>
        <p:spPr bwMode="auto">
          <a:xfrm flipV="1">
            <a:off x="2590800" y="4838700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6416" name="Line 32"/>
          <p:cNvSpPr>
            <a:spLocks noChangeShapeType="1"/>
          </p:cNvSpPr>
          <p:nvPr/>
        </p:nvSpPr>
        <p:spPr bwMode="auto">
          <a:xfrm>
            <a:off x="2667000" y="45339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6417" name="Oval 33"/>
          <p:cNvSpPr>
            <a:spLocks noChangeArrowheads="1"/>
          </p:cNvSpPr>
          <p:nvPr/>
        </p:nvSpPr>
        <p:spPr bwMode="auto">
          <a:xfrm>
            <a:off x="2070100" y="538480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18" name="Oval 34"/>
          <p:cNvSpPr>
            <a:spLocks noChangeArrowheads="1"/>
          </p:cNvSpPr>
          <p:nvPr/>
        </p:nvSpPr>
        <p:spPr bwMode="auto">
          <a:xfrm>
            <a:off x="3289300" y="424180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19" name="Oval 35"/>
          <p:cNvSpPr>
            <a:spLocks noChangeArrowheads="1"/>
          </p:cNvSpPr>
          <p:nvPr/>
        </p:nvSpPr>
        <p:spPr bwMode="auto">
          <a:xfrm>
            <a:off x="8442778" y="1938562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20" name="Oval 36"/>
          <p:cNvSpPr>
            <a:spLocks noChangeArrowheads="1"/>
          </p:cNvSpPr>
          <p:nvPr/>
        </p:nvSpPr>
        <p:spPr bwMode="auto">
          <a:xfrm>
            <a:off x="2292350" y="560705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21" name="Oval 37"/>
          <p:cNvSpPr>
            <a:spLocks noChangeArrowheads="1"/>
          </p:cNvSpPr>
          <p:nvPr/>
        </p:nvSpPr>
        <p:spPr bwMode="auto">
          <a:xfrm>
            <a:off x="3511550" y="446405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22" name="Line 38"/>
          <p:cNvSpPr>
            <a:spLocks noChangeShapeType="1"/>
          </p:cNvSpPr>
          <p:nvPr/>
        </p:nvSpPr>
        <p:spPr bwMode="auto">
          <a:xfrm>
            <a:off x="2209800" y="4838700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6423" name="Rectangle 39"/>
          <p:cNvSpPr>
            <a:spLocks noChangeArrowheads="1"/>
          </p:cNvSpPr>
          <p:nvPr/>
        </p:nvSpPr>
        <p:spPr bwMode="auto">
          <a:xfrm>
            <a:off x="6946900" y="1612900"/>
            <a:ext cx="584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24" name="Oval 40"/>
          <p:cNvSpPr>
            <a:spLocks noChangeArrowheads="1"/>
          </p:cNvSpPr>
          <p:nvPr/>
        </p:nvSpPr>
        <p:spPr bwMode="auto">
          <a:xfrm>
            <a:off x="5727700" y="161290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25" name="Line 41"/>
          <p:cNvSpPr>
            <a:spLocks noChangeShapeType="1"/>
          </p:cNvSpPr>
          <p:nvPr/>
        </p:nvSpPr>
        <p:spPr bwMode="auto">
          <a:xfrm>
            <a:off x="6324600" y="19050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6426" name="Oval 42"/>
          <p:cNvSpPr>
            <a:spLocks noChangeArrowheads="1"/>
          </p:cNvSpPr>
          <p:nvPr/>
        </p:nvSpPr>
        <p:spPr bwMode="auto">
          <a:xfrm>
            <a:off x="5873750" y="175895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27" name="Line 43"/>
          <p:cNvSpPr>
            <a:spLocks noChangeShapeType="1"/>
          </p:cNvSpPr>
          <p:nvPr/>
        </p:nvSpPr>
        <p:spPr bwMode="auto">
          <a:xfrm flipV="1">
            <a:off x="7467600" y="2209800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6428" name="Line 44"/>
          <p:cNvSpPr>
            <a:spLocks noChangeShapeType="1"/>
          </p:cNvSpPr>
          <p:nvPr/>
        </p:nvSpPr>
        <p:spPr bwMode="auto">
          <a:xfrm>
            <a:off x="7543800" y="19050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6429" name="Oval 45"/>
          <p:cNvSpPr>
            <a:spLocks noChangeArrowheads="1"/>
          </p:cNvSpPr>
          <p:nvPr/>
        </p:nvSpPr>
        <p:spPr bwMode="auto">
          <a:xfrm>
            <a:off x="6946900" y="275590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30" name="Oval 46"/>
          <p:cNvSpPr>
            <a:spLocks noChangeArrowheads="1"/>
          </p:cNvSpPr>
          <p:nvPr/>
        </p:nvSpPr>
        <p:spPr bwMode="auto">
          <a:xfrm>
            <a:off x="8166100" y="161290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31" name="Oval 47"/>
          <p:cNvSpPr>
            <a:spLocks noChangeArrowheads="1"/>
          </p:cNvSpPr>
          <p:nvPr/>
        </p:nvSpPr>
        <p:spPr bwMode="auto">
          <a:xfrm>
            <a:off x="6026150" y="191135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32" name="Oval 48"/>
          <p:cNvSpPr>
            <a:spLocks noChangeArrowheads="1"/>
          </p:cNvSpPr>
          <p:nvPr/>
        </p:nvSpPr>
        <p:spPr bwMode="auto">
          <a:xfrm>
            <a:off x="7169150" y="297815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33" name="Oval 49"/>
          <p:cNvSpPr>
            <a:spLocks noChangeArrowheads="1"/>
          </p:cNvSpPr>
          <p:nvPr/>
        </p:nvSpPr>
        <p:spPr bwMode="auto">
          <a:xfrm>
            <a:off x="8344806" y="1758948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34" name="Line 50"/>
          <p:cNvSpPr>
            <a:spLocks noChangeShapeType="1"/>
          </p:cNvSpPr>
          <p:nvPr/>
        </p:nvSpPr>
        <p:spPr bwMode="auto">
          <a:xfrm>
            <a:off x="7086600" y="2209800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6435" name="AutoShape 51"/>
          <p:cNvSpPr>
            <a:spLocks noChangeArrowheads="1"/>
          </p:cNvSpPr>
          <p:nvPr/>
        </p:nvSpPr>
        <p:spPr bwMode="auto">
          <a:xfrm>
            <a:off x="4273550" y="2139950"/>
            <a:ext cx="977900" cy="444500"/>
          </a:xfrm>
          <a:prstGeom prst="rightArrow">
            <a:avLst>
              <a:gd name="adj1" fmla="val 50000"/>
              <a:gd name="adj2" fmla="val 11001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36" name="AutoShape 52"/>
          <p:cNvSpPr>
            <a:spLocks noChangeArrowheads="1"/>
          </p:cNvSpPr>
          <p:nvPr/>
        </p:nvSpPr>
        <p:spPr bwMode="auto">
          <a:xfrm>
            <a:off x="4349750" y="4654550"/>
            <a:ext cx="977900" cy="444500"/>
          </a:xfrm>
          <a:prstGeom prst="leftArrow">
            <a:avLst>
              <a:gd name="adj1" fmla="val 50000"/>
              <a:gd name="adj2" fmla="val 10999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37" name="AutoShape 53"/>
          <p:cNvSpPr>
            <a:spLocks noChangeArrowheads="1"/>
          </p:cNvSpPr>
          <p:nvPr/>
        </p:nvSpPr>
        <p:spPr bwMode="auto">
          <a:xfrm>
            <a:off x="7740650" y="3092450"/>
            <a:ext cx="444500" cy="977900"/>
          </a:xfrm>
          <a:prstGeom prst="downArrow">
            <a:avLst>
              <a:gd name="adj1" fmla="val 50000"/>
              <a:gd name="adj2" fmla="val 11001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38" name="Oval 54"/>
          <p:cNvSpPr>
            <a:spLocks noChangeArrowheads="1"/>
          </p:cNvSpPr>
          <p:nvPr/>
        </p:nvSpPr>
        <p:spPr bwMode="auto">
          <a:xfrm>
            <a:off x="3359150" y="434975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39" name="Oval 55"/>
          <p:cNvSpPr>
            <a:spLocks noChangeArrowheads="1"/>
          </p:cNvSpPr>
          <p:nvPr/>
        </p:nvSpPr>
        <p:spPr bwMode="auto">
          <a:xfrm>
            <a:off x="8235950" y="457835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40" name="Oval 56"/>
          <p:cNvSpPr>
            <a:spLocks noChangeArrowheads="1"/>
          </p:cNvSpPr>
          <p:nvPr/>
        </p:nvSpPr>
        <p:spPr bwMode="auto">
          <a:xfrm>
            <a:off x="3663950" y="442595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41" name="Oval 57"/>
          <p:cNvSpPr>
            <a:spLocks noChangeArrowheads="1"/>
          </p:cNvSpPr>
          <p:nvPr/>
        </p:nvSpPr>
        <p:spPr bwMode="auto">
          <a:xfrm>
            <a:off x="3359150" y="457835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60" name="Slide Number Placeholder 5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61" name="Footer Placeholder 6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784452" y="455137"/>
            <a:ext cx="8372504" cy="1000132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Creating/Consuming Tokens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1678210" y="3071581"/>
            <a:ext cx="584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392" name="Line 8"/>
          <p:cNvSpPr>
            <a:spLocks noChangeShapeType="1"/>
          </p:cNvSpPr>
          <p:nvPr/>
        </p:nvSpPr>
        <p:spPr bwMode="auto">
          <a:xfrm>
            <a:off x="2275110" y="3363681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6394" name="Oval 10"/>
          <p:cNvSpPr>
            <a:spLocks noChangeArrowheads="1"/>
          </p:cNvSpPr>
          <p:nvPr/>
        </p:nvSpPr>
        <p:spPr bwMode="auto">
          <a:xfrm>
            <a:off x="2897410" y="3071581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399" name="Rectangle 15"/>
          <p:cNvSpPr>
            <a:spLocks noChangeArrowheads="1"/>
          </p:cNvSpPr>
          <p:nvPr/>
        </p:nvSpPr>
        <p:spPr bwMode="auto">
          <a:xfrm>
            <a:off x="5433786" y="5167086"/>
            <a:ext cx="584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04" name="Line 20"/>
          <p:cNvSpPr>
            <a:spLocks noChangeShapeType="1"/>
          </p:cNvSpPr>
          <p:nvPr/>
        </p:nvSpPr>
        <p:spPr bwMode="auto">
          <a:xfrm>
            <a:off x="6008915" y="54483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6406" name="Oval 22"/>
          <p:cNvSpPr>
            <a:spLocks noChangeArrowheads="1"/>
          </p:cNvSpPr>
          <p:nvPr/>
        </p:nvSpPr>
        <p:spPr bwMode="auto">
          <a:xfrm>
            <a:off x="6652986" y="5188857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07" name="Oval 23"/>
          <p:cNvSpPr>
            <a:spLocks noChangeArrowheads="1"/>
          </p:cNvSpPr>
          <p:nvPr/>
        </p:nvSpPr>
        <p:spPr bwMode="auto">
          <a:xfrm>
            <a:off x="7027636" y="5334907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09" name="Oval 25"/>
          <p:cNvSpPr>
            <a:spLocks noChangeArrowheads="1"/>
          </p:cNvSpPr>
          <p:nvPr/>
        </p:nvSpPr>
        <p:spPr bwMode="auto">
          <a:xfrm>
            <a:off x="3065235" y="5432878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11" name="Rectangle 27"/>
          <p:cNvSpPr>
            <a:spLocks noChangeArrowheads="1"/>
          </p:cNvSpPr>
          <p:nvPr/>
        </p:nvSpPr>
        <p:spPr bwMode="auto">
          <a:xfrm>
            <a:off x="1656432" y="5112680"/>
            <a:ext cx="584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16" name="Line 32"/>
          <p:cNvSpPr>
            <a:spLocks noChangeShapeType="1"/>
          </p:cNvSpPr>
          <p:nvPr/>
        </p:nvSpPr>
        <p:spPr bwMode="auto">
          <a:xfrm>
            <a:off x="2253332" y="540478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6418" name="Oval 34"/>
          <p:cNvSpPr>
            <a:spLocks noChangeArrowheads="1"/>
          </p:cNvSpPr>
          <p:nvPr/>
        </p:nvSpPr>
        <p:spPr bwMode="auto">
          <a:xfrm>
            <a:off x="2875632" y="511268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23" name="Rectangle 39"/>
          <p:cNvSpPr>
            <a:spLocks noChangeArrowheads="1"/>
          </p:cNvSpPr>
          <p:nvPr/>
        </p:nvSpPr>
        <p:spPr bwMode="auto">
          <a:xfrm>
            <a:off x="5412014" y="3093358"/>
            <a:ext cx="584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28" name="Line 44"/>
          <p:cNvSpPr>
            <a:spLocks noChangeShapeType="1"/>
          </p:cNvSpPr>
          <p:nvPr/>
        </p:nvSpPr>
        <p:spPr bwMode="auto">
          <a:xfrm>
            <a:off x="5987143" y="3396344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6430" name="Oval 46"/>
          <p:cNvSpPr>
            <a:spLocks noChangeArrowheads="1"/>
          </p:cNvSpPr>
          <p:nvPr/>
        </p:nvSpPr>
        <p:spPr bwMode="auto">
          <a:xfrm>
            <a:off x="6609443" y="3104244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33" name="Oval 49"/>
          <p:cNvSpPr>
            <a:spLocks noChangeArrowheads="1"/>
          </p:cNvSpPr>
          <p:nvPr/>
        </p:nvSpPr>
        <p:spPr bwMode="auto">
          <a:xfrm>
            <a:off x="6831693" y="3326494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35" name="AutoShape 51"/>
          <p:cNvSpPr>
            <a:spLocks noChangeArrowheads="1"/>
          </p:cNvSpPr>
          <p:nvPr/>
        </p:nvSpPr>
        <p:spPr bwMode="auto">
          <a:xfrm>
            <a:off x="4114800" y="3254829"/>
            <a:ext cx="603250" cy="272143"/>
          </a:xfrm>
          <a:prstGeom prst="rightArrow">
            <a:avLst>
              <a:gd name="adj1" fmla="val 50000"/>
              <a:gd name="adj2" fmla="val 11001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36" name="AutoShape 52"/>
          <p:cNvSpPr>
            <a:spLocks noChangeArrowheads="1"/>
          </p:cNvSpPr>
          <p:nvPr/>
        </p:nvSpPr>
        <p:spPr bwMode="auto">
          <a:xfrm>
            <a:off x="4049485" y="5279570"/>
            <a:ext cx="722993" cy="309335"/>
          </a:xfrm>
          <a:prstGeom prst="leftArrow">
            <a:avLst>
              <a:gd name="adj1" fmla="val 50000"/>
              <a:gd name="adj2" fmla="val 10999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37" name="AutoShape 53"/>
          <p:cNvSpPr>
            <a:spLocks noChangeArrowheads="1"/>
          </p:cNvSpPr>
          <p:nvPr/>
        </p:nvSpPr>
        <p:spPr bwMode="auto">
          <a:xfrm>
            <a:off x="6193971" y="4223656"/>
            <a:ext cx="271235" cy="664029"/>
          </a:xfrm>
          <a:prstGeom prst="downArrow">
            <a:avLst>
              <a:gd name="adj1" fmla="val 50000"/>
              <a:gd name="adj2" fmla="val 11001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38" name="Oval 54"/>
          <p:cNvSpPr>
            <a:spLocks noChangeArrowheads="1"/>
          </p:cNvSpPr>
          <p:nvPr/>
        </p:nvSpPr>
        <p:spPr bwMode="auto">
          <a:xfrm>
            <a:off x="2945482" y="522063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39" name="Oval 55"/>
          <p:cNvSpPr>
            <a:spLocks noChangeArrowheads="1"/>
          </p:cNvSpPr>
          <p:nvPr/>
        </p:nvSpPr>
        <p:spPr bwMode="auto">
          <a:xfrm>
            <a:off x="6722836" y="5525407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40" name="Oval 56"/>
          <p:cNvSpPr>
            <a:spLocks noChangeArrowheads="1"/>
          </p:cNvSpPr>
          <p:nvPr/>
        </p:nvSpPr>
        <p:spPr bwMode="auto">
          <a:xfrm>
            <a:off x="3250282" y="529683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60" name="Slide Number Placeholder 5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61" name="Footer Placeholder 6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6943" y="1785257"/>
            <a:ext cx="8512628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dirty="0"/>
              <a:t>A transition without any input can fire at any time and produces tokens in the connected places: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4285" y="6030687"/>
            <a:ext cx="1817914" cy="646331"/>
          </a:xfrm>
          <a:prstGeom prst="rect">
            <a:avLst/>
          </a:prstGeom>
          <a:gradFill>
            <a:gsLst>
              <a:gs pos="0">
                <a:srgbClr val="5E9EFF">
                  <a:alpha val="1700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0"/>
          </a:gra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dirty="0"/>
              <a:t>After firing 3 times..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29710" y="3167742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T1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63509" y="3189514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T1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5281" y="5268686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T1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7938" y="5203372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T1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67008" y="3624943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P1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0807" y="3679371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P1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34351" y="5660572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P1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4350" y="5725886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P1</a:t>
            </a: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784452" y="455137"/>
            <a:ext cx="8372504" cy="1000132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Creating/Consuming Tokens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2875638" y="3093353"/>
            <a:ext cx="584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392" name="Line 8"/>
          <p:cNvSpPr>
            <a:spLocks noChangeShapeType="1"/>
          </p:cNvSpPr>
          <p:nvPr/>
        </p:nvSpPr>
        <p:spPr bwMode="auto">
          <a:xfrm>
            <a:off x="2275110" y="3363681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6394" name="Oval 10"/>
          <p:cNvSpPr>
            <a:spLocks noChangeArrowheads="1"/>
          </p:cNvSpPr>
          <p:nvPr/>
        </p:nvSpPr>
        <p:spPr bwMode="auto">
          <a:xfrm>
            <a:off x="1689095" y="3071581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399" name="Rectangle 15"/>
          <p:cNvSpPr>
            <a:spLocks noChangeArrowheads="1"/>
          </p:cNvSpPr>
          <p:nvPr/>
        </p:nvSpPr>
        <p:spPr bwMode="auto">
          <a:xfrm>
            <a:off x="6642101" y="5177972"/>
            <a:ext cx="584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04" name="Line 20"/>
          <p:cNvSpPr>
            <a:spLocks noChangeShapeType="1"/>
          </p:cNvSpPr>
          <p:nvPr/>
        </p:nvSpPr>
        <p:spPr bwMode="auto">
          <a:xfrm>
            <a:off x="6008915" y="54483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6406" name="Oval 22"/>
          <p:cNvSpPr>
            <a:spLocks noChangeArrowheads="1"/>
          </p:cNvSpPr>
          <p:nvPr/>
        </p:nvSpPr>
        <p:spPr bwMode="auto">
          <a:xfrm>
            <a:off x="5422901" y="5167086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07" name="Oval 23"/>
          <p:cNvSpPr>
            <a:spLocks noChangeArrowheads="1"/>
          </p:cNvSpPr>
          <p:nvPr/>
        </p:nvSpPr>
        <p:spPr bwMode="auto">
          <a:xfrm>
            <a:off x="5754007" y="5443764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09" name="Oval 25"/>
          <p:cNvSpPr>
            <a:spLocks noChangeArrowheads="1"/>
          </p:cNvSpPr>
          <p:nvPr/>
        </p:nvSpPr>
        <p:spPr bwMode="auto">
          <a:xfrm>
            <a:off x="1867806" y="3386364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11" name="Rectangle 27"/>
          <p:cNvSpPr>
            <a:spLocks noChangeArrowheads="1"/>
          </p:cNvSpPr>
          <p:nvPr/>
        </p:nvSpPr>
        <p:spPr bwMode="auto">
          <a:xfrm>
            <a:off x="2853861" y="5101794"/>
            <a:ext cx="584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16" name="Line 32"/>
          <p:cNvSpPr>
            <a:spLocks noChangeShapeType="1"/>
          </p:cNvSpPr>
          <p:nvPr/>
        </p:nvSpPr>
        <p:spPr bwMode="auto">
          <a:xfrm>
            <a:off x="2253332" y="540478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6418" name="Oval 34"/>
          <p:cNvSpPr>
            <a:spLocks noChangeArrowheads="1"/>
          </p:cNvSpPr>
          <p:nvPr/>
        </p:nvSpPr>
        <p:spPr bwMode="auto">
          <a:xfrm>
            <a:off x="1667317" y="5123566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23" name="Rectangle 39"/>
          <p:cNvSpPr>
            <a:spLocks noChangeArrowheads="1"/>
          </p:cNvSpPr>
          <p:nvPr/>
        </p:nvSpPr>
        <p:spPr bwMode="auto">
          <a:xfrm>
            <a:off x="6598557" y="3136900"/>
            <a:ext cx="584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28" name="Line 44"/>
          <p:cNvSpPr>
            <a:spLocks noChangeShapeType="1"/>
          </p:cNvSpPr>
          <p:nvPr/>
        </p:nvSpPr>
        <p:spPr bwMode="auto">
          <a:xfrm>
            <a:off x="5987143" y="3396344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6430" name="Oval 46"/>
          <p:cNvSpPr>
            <a:spLocks noChangeArrowheads="1"/>
          </p:cNvSpPr>
          <p:nvPr/>
        </p:nvSpPr>
        <p:spPr bwMode="auto">
          <a:xfrm>
            <a:off x="5401128" y="311513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33" name="Oval 49"/>
          <p:cNvSpPr>
            <a:spLocks noChangeArrowheads="1"/>
          </p:cNvSpPr>
          <p:nvPr/>
        </p:nvSpPr>
        <p:spPr bwMode="auto">
          <a:xfrm>
            <a:off x="5514522" y="326118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35" name="AutoShape 51"/>
          <p:cNvSpPr>
            <a:spLocks noChangeArrowheads="1"/>
          </p:cNvSpPr>
          <p:nvPr/>
        </p:nvSpPr>
        <p:spPr bwMode="auto">
          <a:xfrm>
            <a:off x="4158343" y="3265713"/>
            <a:ext cx="598715" cy="283029"/>
          </a:xfrm>
          <a:prstGeom prst="rightArrow">
            <a:avLst>
              <a:gd name="adj1" fmla="val 50000"/>
              <a:gd name="adj2" fmla="val 11001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36" name="AutoShape 52"/>
          <p:cNvSpPr>
            <a:spLocks noChangeArrowheads="1"/>
          </p:cNvSpPr>
          <p:nvPr/>
        </p:nvSpPr>
        <p:spPr bwMode="auto">
          <a:xfrm>
            <a:off x="4267199" y="5344886"/>
            <a:ext cx="581479" cy="276677"/>
          </a:xfrm>
          <a:prstGeom prst="leftArrow">
            <a:avLst>
              <a:gd name="adj1" fmla="val 50000"/>
              <a:gd name="adj2" fmla="val 10999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37" name="AutoShape 53"/>
          <p:cNvSpPr>
            <a:spLocks noChangeArrowheads="1"/>
          </p:cNvSpPr>
          <p:nvPr/>
        </p:nvSpPr>
        <p:spPr bwMode="auto">
          <a:xfrm>
            <a:off x="6248400" y="4223657"/>
            <a:ext cx="238577" cy="566057"/>
          </a:xfrm>
          <a:prstGeom prst="downArrow">
            <a:avLst>
              <a:gd name="adj1" fmla="val 50000"/>
              <a:gd name="adj2" fmla="val 11001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38" name="Oval 54"/>
          <p:cNvSpPr>
            <a:spLocks noChangeArrowheads="1"/>
          </p:cNvSpPr>
          <p:nvPr/>
        </p:nvSpPr>
        <p:spPr bwMode="auto">
          <a:xfrm>
            <a:off x="1813368" y="3195887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39" name="Oval 55"/>
          <p:cNvSpPr>
            <a:spLocks noChangeArrowheads="1"/>
          </p:cNvSpPr>
          <p:nvPr/>
        </p:nvSpPr>
        <p:spPr bwMode="auto">
          <a:xfrm>
            <a:off x="5732235" y="3380921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440" name="Oval 56"/>
          <p:cNvSpPr>
            <a:spLocks noChangeArrowheads="1"/>
          </p:cNvSpPr>
          <p:nvPr/>
        </p:nvSpPr>
        <p:spPr bwMode="auto">
          <a:xfrm>
            <a:off x="2009311" y="3293858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60" name="Slide Number Placeholder 5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61" name="Footer Placeholder 6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6943" y="1785257"/>
            <a:ext cx="8512628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dirty="0"/>
              <a:t>A transition without any output must be enabled to fire and deletes (or consumes) the incoming token(s):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4285" y="6041573"/>
            <a:ext cx="1817914" cy="646331"/>
          </a:xfrm>
          <a:prstGeom prst="rect">
            <a:avLst/>
          </a:prstGeom>
          <a:gradFill>
            <a:gsLst>
              <a:gs pos="0">
                <a:srgbClr val="5E9EFF">
                  <a:alpha val="1700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0"/>
          </a:gra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dirty="0"/>
              <a:t>After firing 3 times..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48910" y="3200399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T1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0053" y="3243942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T1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05367" y="5214256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T1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596" y="5268685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T1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6922" y="3635829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P1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1608" y="3679372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P1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15150" y="5638799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P1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92493" y="5704114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P1</a:t>
            </a: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49943" y="544853"/>
            <a:ext cx="8984343" cy="1066234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Non-Determinism in Petri Nets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590520" y="4931890"/>
            <a:ext cx="8880051" cy="1479796"/>
          </a:xfrm>
          <a:noFill/>
          <a:ln/>
        </p:spPr>
        <p:txBody>
          <a:bodyPr>
            <a:normAutofit fontScale="92500"/>
          </a:bodyPr>
          <a:lstStyle/>
          <a:p>
            <a:pPr>
              <a:buFontTx/>
              <a:buNone/>
            </a:pPr>
            <a:r>
              <a:rPr lang="en-GB" dirty="0"/>
              <a:t>Two transitions fight for the same token: </a:t>
            </a:r>
            <a:r>
              <a:rPr lang="en-GB" b="1" dirty="0"/>
              <a:t>conflict</a:t>
            </a:r>
            <a:r>
              <a:rPr lang="en-GB" dirty="0"/>
              <a:t>.</a:t>
            </a:r>
          </a:p>
          <a:p>
            <a:pPr>
              <a:buFontTx/>
              <a:buNone/>
            </a:pPr>
            <a:r>
              <a:rPr lang="en-GB" dirty="0"/>
              <a:t>Even if there are two tokens, there is still a conflict.</a:t>
            </a:r>
          </a:p>
          <a:p>
            <a:pPr>
              <a:buFontTx/>
              <a:buNone/>
            </a:pPr>
            <a:r>
              <a:rPr lang="en-GB" dirty="0"/>
              <a:t>The next transition to fire (t1 or t2) is arbitrary (</a:t>
            </a:r>
            <a:r>
              <a:rPr lang="en-GB" dirty="0">
                <a:solidFill>
                  <a:schemeClr val="accent3"/>
                </a:solidFill>
              </a:rPr>
              <a:t>non-deterministic</a:t>
            </a:r>
            <a:r>
              <a:rPr lang="en-GB" dirty="0"/>
              <a:t>).</a:t>
            </a: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4457471" y="2410252"/>
            <a:ext cx="584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437" name="Oval 5"/>
          <p:cNvSpPr>
            <a:spLocks noChangeArrowheads="1"/>
          </p:cNvSpPr>
          <p:nvPr/>
        </p:nvSpPr>
        <p:spPr bwMode="auto">
          <a:xfrm>
            <a:off x="3085871" y="3096052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438" name="Line 6"/>
          <p:cNvSpPr>
            <a:spLocks noChangeShapeType="1"/>
          </p:cNvSpPr>
          <p:nvPr/>
        </p:nvSpPr>
        <p:spPr bwMode="auto">
          <a:xfrm flipV="1">
            <a:off x="3606571" y="2702352"/>
            <a:ext cx="8382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8439" name="Oval 7"/>
          <p:cNvSpPr>
            <a:spLocks noChangeArrowheads="1"/>
          </p:cNvSpPr>
          <p:nvPr/>
        </p:nvSpPr>
        <p:spPr bwMode="auto">
          <a:xfrm>
            <a:off x="3231921" y="3318302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440" name="Rectangle 8"/>
          <p:cNvSpPr>
            <a:spLocks noChangeArrowheads="1"/>
          </p:cNvSpPr>
          <p:nvPr/>
        </p:nvSpPr>
        <p:spPr bwMode="auto">
          <a:xfrm>
            <a:off x="4457471" y="3781852"/>
            <a:ext cx="584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441" name="Line 9"/>
          <p:cNvSpPr>
            <a:spLocks noChangeShapeType="1"/>
          </p:cNvSpPr>
          <p:nvPr/>
        </p:nvSpPr>
        <p:spPr bwMode="auto">
          <a:xfrm>
            <a:off x="5054371" y="4073952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8442" name="Line 10"/>
          <p:cNvSpPr>
            <a:spLocks noChangeShapeType="1"/>
          </p:cNvSpPr>
          <p:nvPr/>
        </p:nvSpPr>
        <p:spPr bwMode="auto">
          <a:xfrm>
            <a:off x="5054371" y="2702352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8443" name="Oval 11"/>
          <p:cNvSpPr>
            <a:spLocks noChangeArrowheads="1"/>
          </p:cNvSpPr>
          <p:nvPr/>
        </p:nvSpPr>
        <p:spPr bwMode="auto">
          <a:xfrm>
            <a:off x="5676671" y="2410252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444" name="Oval 12"/>
          <p:cNvSpPr>
            <a:spLocks noChangeArrowheads="1"/>
          </p:cNvSpPr>
          <p:nvPr/>
        </p:nvSpPr>
        <p:spPr bwMode="auto">
          <a:xfrm>
            <a:off x="5676671" y="3781852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445" name="Line 13"/>
          <p:cNvSpPr>
            <a:spLocks noChangeShapeType="1"/>
          </p:cNvSpPr>
          <p:nvPr/>
        </p:nvSpPr>
        <p:spPr bwMode="auto">
          <a:xfrm>
            <a:off x="3606571" y="3616752"/>
            <a:ext cx="8382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8446" name="Rectangle 14"/>
          <p:cNvSpPr>
            <a:spLocks noChangeArrowheads="1"/>
          </p:cNvSpPr>
          <p:nvPr/>
        </p:nvSpPr>
        <p:spPr bwMode="auto">
          <a:xfrm>
            <a:off x="4581296" y="2526140"/>
            <a:ext cx="381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t1</a:t>
            </a:r>
          </a:p>
        </p:txBody>
      </p:sp>
      <p:sp>
        <p:nvSpPr>
          <p:cNvPr id="18447" name="Rectangle 15"/>
          <p:cNvSpPr>
            <a:spLocks noChangeArrowheads="1"/>
          </p:cNvSpPr>
          <p:nvPr/>
        </p:nvSpPr>
        <p:spPr bwMode="auto">
          <a:xfrm>
            <a:off x="4581296" y="3897740"/>
            <a:ext cx="381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t2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38156" y="2168950"/>
            <a:ext cx="4786346" cy="25003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795338" y="500043"/>
            <a:ext cx="8158190" cy="857255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Modelling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795338" y="1814512"/>
            <a:ext cx="8443942" cy="4329132"/>
          </a:xfrm>
          <a:noFill/>
          <a:ln/>
        </p:spPr>
        <p:txBody>
          <a:bodyPr>
            <a:noAutofit/>
          </a:bodyPr>
          <a:lstStyle/>
          <a:p>
            <a:pPr>
              <a:buFontTx/>
              <a:buNone/>
            </a:pPr>
            <a:r>
              <a:rPr lang="en-GB" sz="2400" dirty="0"/>
              <a:t>States of a process can be modelled by tokens in places and state transitions leading from one state to another are modelled by transitions.</a:t>
            </a:r>
          </a:p>
          <a:p>
            <a:pPr>
              <a:buFontTx/>
              <a:buNone/>
            </a:pPr>
            <a:endParaRPr lang="en-GB" sz="2400" dirty="0"/>
          </a:p>
          <a:p>
            <a:r>
              <a:rPr lang="en-GB" sz="2400" dirty="0">
                <a:solidFill>
                  <a:schemeClr val="accent3"/>
                </a:solidFill>
              </a:rPr>
              <a:t>Tokens</a:t>
            </a:r>
            <a:r>
              <a:rPr lang="en-GB" sz="2400" dirty="0"/>
              <a:t> can represent resources (humans, goods, machines), information, conditions or states of objects.</a:t>
            </a:r>
          </a:p>
          <a:p>
            <a:r>
              <a:rPr lang="en-GB" sz="2400" dirty="0">
                <a:solidFill>
                  <a:schemeClr val="accent3"/>
                </a:solidFill>
              </a:rPr>
              <a:t>Places</a:t>
            </a:r>
            <a:r>
              <a:rPr lang="en-GB" sz="2400" dirty="0"/>
              <a:t> represent buffers, channels, geographical locations, conditions or states.</a:t>
            </a:r>
          </a:p>
          <a:p>
            <a:r>
              <a:rPr lang="en-GB" sz="2400" dirty="0">
                <a:solidFill>
                  <a:schemeClr val="accent3"/>
                </a:solidFill>
              </a:rPr>
              <a:t>Transitions</a:t>
            </a:r>
            <a:r>
              <a:rPr lang="en-GB" sz="2400" dirty="0"/>
              <a:t> represent events, transformations or transportations.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795338" y="500043"/>
            <a:ext cx="8158190" cy="857255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Modelling a Traffic Light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5" y="2405742"/>
            <a:ext cx="598714" cy="1436914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chemeClr val="bg2">
                <a:lumMod val="9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2209805" y="2547256"/>
            <a:ext cx="326571" cy="34834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2209805" y="2971799"/>
            <a:ext cx="326571" cy="348343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2209805" y="3396343"/>
            <a:ext cx="326571" cy="348343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2286005" y="3897085"/>
            <a:ext cx="228600" cy="892628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45000">
                <a:schemeClr val="tx1">
                  <a:lumMod val="65000"/>
                  <a:lumOff val="35000"/>
                </a:schemeClr>
              </a:gs>
              <a:gs pos="70000">
                <a:schemeClr val="bg2">
                  <a:lumMod val="75000"/>
                </a:schemeClr>
              </a:gs>
              <a:gs pos="100000">
                <a:schemeClr val="bg1"/>
              </a:gs>
            </a:gsLst>
            <a:lin ang="0" scaled="0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ounded Rectangle 15"/>
          <p:cNvSpPr/>
          <p:nvPr/>
        </p:nvSpPr>
        <p:spPr>
          <a:xfrm>
            <a:off x="3505205" y="2405742"/>
            <a:ext cx="598714" cy="1436914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chemeClr val="bg2">
                <a:lumMod val="9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3657605" y="2547256"/>
            <a:ext cx="326571" cy="34834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/>
          <p:cNvSpPr/>
          <p:nvPr/>
        </p:nvSpPr>
        <p:spPr>
          <a:xfrm>
            <a:off x="3657605" y="2971799"/>
            <a:ext cx="326571" cy="34834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/>
          <p:cNvSpPr/>
          <p:nvPr/>
        </p:nvSpPr>
        <p:spPr>
          <a:xfrm>
            <a:off x="3657605" y="3396343"/>
            <a:ext cx="326571" cy="348343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/>
          <p:cNvSpPr/>
          <p:nvPr/>
        </p:nvSpPr>
        <p:spPr>
          <a:xfrm>
            <a:off x="3733805" y="3897085"/>
            <a:ext cx="228600" cy="892628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45000">
                <a:schemeClr val="tx1">
                  <a:lumMod val="65000"/>
                  <a:lumOff val="35000"/>
                </a:schemeClr>
              </a:gs>
              <a:gs pos="70000">
                <a:schemeClr val="bg2">
                  <a:lumMod val="75000"/>
                </a:schemeClr>
              </a:gs>
              <a:gs pos="100000">
                <a:schemeClr val="bg1"/>
              </a:gs>
            </a:gsLst>
            <a:lin ang="0" scaled="0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ounded Rectangle 20"/>
          <p:cNvSpPr/>
          <p:nvPr/>
        </p:nvSpPr>
        <p:spPr>
          <a:xfrm>
            <a:off x="5050976" y="2416628"/>
            <a:ext cx="598714" cy="1436914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chemeClr val="bg2">
                <a:lumMod val="9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/>
          <p:cNvSpPr/>
          <p:nvPr/>
        </p:nvSpPr>
        <p:spPr>
          <a:xfrm>
            <a:off x="5203376" y="2558142"/>
            <a:ext cx="326571" cy="348343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/>
          <p:cNvSpPr/>
          <p:nvPr/>
        </p:nvSpPr>
        <p:spPr>
          <a:xfrm>
            <a:off x="5203376" y="2982685"/>
            <a:ext cx="326571" cy="348343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/>
          <p:cNvSpPr/>
          <p:nvPr/>
        </p:nvSpPr>
        <p:spPr>
          <a:xfrm>
            <a:off x="5203376" y="3407229"/>
            <a:ext cx="326571" cy="348343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/>
          <p:cNvSpPr/>
          <p:nvPr/>
        </p:nvSpPr>
        <p:spPr>
          <a:xfrm>
            <a:off x="5279576" y="3907971"/>
            <a:ext cx="228600" cy="892628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45000">
                <a:schemeClr val="tx1">
                  <a:lumMod val="65000"/>
                  <a:lumOff val="35000"/>
                </a:schemeClr>
              </a:gs>
              <a:gs pos="70000">
                <a:schemeClr val="bg2">
                  <a:lumMod val="75000"/>
                </a:schemeClr>
              </a:gs>
              <a:gs pos="100000">
                <a:schemeClr val="bg1"/>
              </a:gs>
            </a:gsLst>
            <a:lin ang="0" scaled="0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ounded Rectangle 25"/>
          <p:cNvSpPr/>
          <p:nvPr/>
        </p:nvSpPr>
        <p:spPr>
          <a:xfrm>
            <a:off x="6607633" y="2427513"/>
            <a:ext cx="598714" cy="1436914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chemeClr val="bg2">
                <a:lumMod val="9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/>
          <p:cNvSpPr/>
          <p:nvPr/>
        </p:nvSpPr>
        <p:spPr>
          <a:xfrm>
            <a:off x="6760033" y="2569027"/>
            <a:ext cx="326571" cy="348343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/>
          <p:cNvSpPr/>
          <p:nvPr/>
        </p:nvSpPr>
        <p:spPr>
          <a:xfrm>
            <a:off x="6760033" y="2993570"/>
            <a:ext cx="326571" cy="34834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/>
          <p:cNvSpPr/>
          <p:nvPr/>
        </p:nvSpPr>
        <p:spPr>
          <a:xfrm>
            <a:off x="6760033" y="3418114"/>
            <a:ext cx="326571" cy="348343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/>
          <p:cNvSpPr/>
          <p:nvPr/>
        </p:nvSpPr>
        <p:spPr>
          <a:xfrm>
            <a:off x="6836233" y="3918856"/>
            <a:ext cx="228600" cy="892628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45000">
                <a:schemeClr val="tx1">
                  <a:lumMod val="65000"/>
                  <a:lumOff val="35000"/>
                </a:schemeClr>
              </a:gs>
              <a:gs pos="70000">
                <a:schemeClr val="bg2">
                  <a:lumMod val="75000"/>
                </a:schemeClr>
              </a:gs>
              <a:gs pos="100000">
                <a:schemeClr val="bg1"/>
              </a:gs>
            </a:gsLst>
            <a:lin ang="0" scaled="0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ight Arrow 31"/>
          <p:cNvSpPr/>
          <p:nvPr/>
        </p:nvSpPr>
        <p:spPr>
          <a:xfrm>
            <a:off x="2950029" y="3102429"/>
            <a:ext cx="359228" cy="304800"/>
          </a:xfrm>
          <a:prstGeom prst="rightArrow">
            <a:avLst/>
          </a:prstGeom>
          <a:gradFill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5400000" scaled="0"/>
          </a:gra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ight Arrow 32"/>
          <p:cNvSpPr/>
          <p:nvPr/>
        </p:nvSpPr>
        <p:spPr>
          <a:xfrm>
            <a:off x="4484915" y="3102429"/>
            <a:ext cx="359228" cy="304800"/>
          </a:xfrm>
          <a:prstGeom prst="rightArrow">
            <a:avLst/>
          </a:prstGeom>
          <a:gradFill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5400000" scaled="0"/>
          </a:gra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ight Arrow 33"/>
          <p:cNvSpPr/>
          <p:nvPr/>
        </p:nvSpPr>
        <p:spPr>
          <a:xfrm>
            <a:off x="6106886" y="3113315"/>
            <a:ext cx="359228" cy="304800"/>
          </a:xfrm>
          <a:prstGeom prst="rightArrow">
            <a:avLst/>
          </a:prstGeom>
          <a:gradFill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5400000" scaled="0"/>
          </a:gra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7" name="Straight Arrow Connector 36"/>
          <p:cNvCxnSpPr/>
          <p:nvPr/>
        </p:nvCxnSpPr>
        <p:spPr>
          <a:xfrm rot="10800000" flipV="1">
            <a:off x="2471057" y="1839686"/>
            <a:ext cx="2133606" cy="522514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endCxn id="26" idx="0"/>
          </p:cNvCxnSpPr>
          <p:nvPr/>
        </p:nvCxnSpPr>
        <p:spPr>
          <a:xfrm>
            <a:off x="4582886" y="1839686"/>
            <a:ext cx="2324104" cy="58782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795338" y="500043"/>
            <a:ext cx="8158190" cy="857255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Modelling Two Traffic Lights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1" y="1654629"/>
            <a:ext cx="8697686" cy="4745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en-GB" dirty="0">
                <a:latin typeface="+mn-lt"/>
              </a:rPr>
              <a:t> Imagine that we are designing a traffic light system for a crossroads junction (i.e. with two sets of (simplified) lights). </a:t>
            </a:r>
          </a:p>
          <a:p>
            <a:pPr algn="l">
              <a:buFont typeface="Arial" pitchFamily="34" charset="0"/>
              <a:buChar char="•"/>
            </a:pPr>
            <a:r>
              <a:rPr lang="en-GB" dirty="0">
                <a:latin typeface="+mn-lt"/>
              </a:rPr>
              <a:t> An informal specification of a traffic light junction:</a:t>
            </a:r>
          </a:p>
          <a:p>
            <a:pPr algn="l">
              <a:buFont typeface="Arial" pitchFamily="34" charset="0"/>
              <a:buChar char="•"/>
            </a:pPr>
            <a:endParaRPr lang="en-GB" dirty="0">
              <a:latin typeface="+mn-lt"/>
            </a:endParaRPr>
          </a:p>
          <a:p>
            <a:pPr lvl="1" algn="l">
              <a:buFont typeface="Courier New" pitchFamily="49" charset="0"/>
              <a:buChar char="o"/>
            </a:pPr>
            <a:r>
              <a:rPr lang="en-GB" dirty="0">
                <a:latin typeface="+mn-lt"/>
              </a:rPr>
              <a:t> A single traffic light turns from “Red” to “Green” to “Amber” and then back to “Red” (we’ll ignore “red and amber” for now).</a:t>
            </a:r>
          </a:p>
          <a:p>
            <a:pPr lvl="1" algn="l">
              <a:buFont typeface="Courier New" pitchFamily="49" charset="0"/>
              <a:buChar char="o"/>
            </a:pPr>
            <a:r>
              <a:rPr lang="en-GB" dirty="0">
                <a:latin typeface="+mn-lt"/>
              </a:rPr>
              <a:t> There are </a:t>
            </a:r>
            <a:r>
              <a:rPr lang="en-GB" u="sng" dirty="0">
                <a:latin typeface="+mn-lt"/>
              </a:rPr>
              <a:t>two</a:t>
            </a:r>
            <a:r>
              <a:rPr lang="en-GB" dirty="0">
                <a:latin typeface="+mn-lt"/>
              </a:rPr>
              <a:t> sets of lights. When one of the traffic lights is “Amber” or “Green”, the other must be “Red”.</a:t>
            </a:r>
          </a:p>
          <a:p>
            <a:pPr algn="l"/>
            <a:endParaRPr lang="en-GB" dirty="0">
              <a:latin typeface="+mn-lt"/>
            </a:endParaRPr>
          </a:p>
          <a:p>
            <a:pPr algn="l">
              <a:buFont typeface="Arial" pitchFamily="34" charset="0"/>
              <a:buChar char="•"/>
            </a:pPr>
            <a:r>
              <a:rPr lang="en-GB" dirty="0">
                <a:latin typeface="+mn-lt"/>
              </a:rPr>
              <a:t> As a first step, we may decide to model the system as a Petri net. This allows us to make sure the specification is </a:t>
            </a:r>
            <a:r>
              <a:rPr lang="en-GB" dirty="0">
                <a:solidFill>
                  <a:schemeClr val="accent3"/>
                </a:solidFill>
                <a:latin typeface="+mn-lt"/>
              </a:rPr>
              <a:t>rigorously defined </a:t>
            </a:r>
            <a:r>
              <a:rPr lang="en-GB" dirty="0">
                <a:latin typeface="+mn-lt"/>
              </a:rPr>
              <a:t>and reduces potential ambiguities later. </a:t>
            </a:r>
          </a:p>
          <a:p>
            <a:pPr algn="l">
              <a:buFont typeface="Arial" pitchFamily="34" charset="0"/>
              <a:buChar char="•"/>
            </a:pPr>
            <a:r>
              <a:rPr lang="en-GB" dirty="0">
                <a:latin typeface="+mn-lt"/>
              </a:rPr>
              <a:t> We can also </a:t>
            </a:r>
            <a:r>
              <a:rPr lang="en-GB" dirty="0">
                <a:solidFill>
                  <a:schemeClr val="accent3"/>
                </a:solidFill>
                <a:latin typeface="+mn-lt"/>
              </a:rPr>
              <a:t>prove properties about the model </a:t>
            </a:r>
            <a:r>
              <a:rPr lang="en-GB" dirty="0">
                <a:latin typeface="+mn-lt"/>
              </a:rPr>
              <a:t>if we wish.</a:t>
            </a:r>
          </a:p>
          <a:p>
            <a:pPr algn="l"/>
            <a:endParaRPr lang="en-GB" dirty="0"/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"/>
            <a:ext cx="8186766" cy="1285859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Example: Traffic Light</a:t>
            </a:r>
          </a:p>
        </p:txBody>
      </p:sp>
      <p:grpSp>
        <p:nvGrpSpPr>
          <p:cNvPr id="22551" name="Group 23"/>
          <p:cNvGrpSpPr>
            <a:grpSpLocks/>
          </p:cNvGrpSpPr>
          <p:nvPr/>
        </p:nvGrpSpPr>
        <p:grpSpPr bwMode="auto">
          <a:xfrm>
            <a:off x="5222856" y="1411276"/>
            <a:ext cx="2614613" cy="4546600"/>
            <a:chOff x="2742" y="776"/>
            <a:chExt cx="1647" cy="2864"/>
          </a:xfrm>
        </p:grpSpPr>
        <p:sp>
          <p:nvSpPr>
            <p:cNvPr id="22532" name="Rectangle 4"/>
            <p:cNvSpPr>
              <a:spLocks noChangeArrowheads="1"/>
            </p:cNvSpPr>
            <p:nvPr/>
          </p:nvSpPr>
          <p:spPr bwMode="auto">
            <a:xfrm>
              <a:off x="3466" y="1416"/>
              <a:ext cx="324" cy="30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2533" name="Oval 5"/>
            <p:cNvSpPr>
              <a:spLocks noChangeArrowheads="1"/>
            </p:cNvSpPr>
            <p:nvPr/>
          </p:nvSpPr>
          <p:spPr bwMode="auto">
            <a:xfrm>
              <a:off x="3466" y="776"/>
              <a:ext cx="324" cy="30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2534" name="Oval 6"/>
            <p:cNvSpPr>
              <a:spLocks noChangeArrowheads="1"/>
            </p:cNvSpPr>
            <p:nvPr/>
          </p:nvSpPr>
          <p:spPr bwMode="auto">
            <a:xfrm>
              <a:off x="3590" y="892"/>
              <a:ext cx="78" cy="72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2535" name="Rectangle 7"/>
            <p:cNvSpPr>
              <a:spLocks noChangeArrowheads="1"/>
            </p:cNvSpPr>
            <p:nvPr/>
          </p:nvSpPr>
          <p:spPr bwMode="auto">
            <a:xfrm>
              <a:off x="2803" y="2151"/>
              <a:ext cx="24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/>
                <a:t>rg</a:t>
              </a:r>
            </a:p>
          </p:txBody>
        </p:sp>
        <p:sp>
          <p:nvSpPr>
            <p:cNvPr id="22536" name="Rectangle 8"/>
            <p:cNvSpPr>
              <a:spLocks noChangeArrowheads="1"/>
            </p:cNvSpPr>
            <p:nvPr/>
          </p:nvSpPr>
          <p:spPr bwMode="auto">
            <a:xfrm>
              <a:off x="3869" y="831"/>
              <a:ext cx="3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/>
                <a:t>red</a:t>
              </a:r>
            </a:p>
          </p:txBody>
        </p:sp>
        <p:sp>
          <p:nvSpPr>
            <p:cNvPr id="22537" name="Line 9"/>
            <p:cNvSpPr>
              <a:spLocks noChangeShapeType="1"/>
            </p:cNvSpPr>
            <p:nvPr/>
          </p:nvSpPr>
          <p:spPr bwMode="auto">
            <a:xfrm flipV="1">
              <a:off x="3630" y="1728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2538" name="Line 10"/>
            <p:cNvSpPr>
              <a:spLocks noChangeShapeType="1"/>
            </p:cNvSpPr>
            <p:nvPr/>
          </p:nvSpPr>
          <p:spPr bwMode="auto">
            <a:xfrm flipV="1">
              <a:off x="3630" y="1088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2539" name="Rectangle 11"/>
            <p:cNvSpPr>
              <a:spLocks noChangeArrowheads="1"/>
            </p:cNvSpPr>
            <p:nvPr/>
          </p:nvSpPr>
          <p:spPr bwMode="auto">
            <a:xfrm>
              <a:off x="2742" y="2056"/>
              <a:ext cx="324" cy="30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2540" name="Rectangle 12"/>
            <p:cNvSpPr>
              <a:spLocks noChangeArrowheads="1"/>
            </p:cNvSpPr>
            <p:nvPr/>
          </p:nvSpPr>
          <p:spPr bwMode="auto">
            <a:xfrm>
              <a:off x="3466" y="2696"/>
              <a:ext cx="324" cy="30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2541" name="Oval 13"/>
            <p:cNvSpPr>
              <a:spLocks noChangeArrowheads="1"/>
            </p:cNvSpPr>
            <p:nvPr/>
          </p:nvSpPr>
          <p:spPr bwMode="auto">
            <a:xfrm>
              <a:off x="3466" y="3336"/>
              <a:ext cx="324" cy="30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2542" name="Oval 14"/>
            <p:cNvSpPr>
              <a:spLocks noChangeArrowheads="1"/>
            </p:cNvSpPr>
            <p:nvPr/>
          </p:nvSpPr>
          <p:spPr bwMode="auto">
            <a:xfrm>
              <a:off x="3466" y="2056"/>
              <a:ext cx="324" cy="30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2543" name="Line 15"/>
            <p:cNvSpPr>
              <a:spLocks noChangeShapeType="1"/>
            </p:cNvSpPr>
            <p:nvPr/>
          </p:nvSpPr>
          <p:spPr bwMode="auto">
            <a:xfrm flipV="1">
              <a:off x="3630" y="2368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2544" name="Line 16"/>
            <p:cNvSpPr>
              <a:spLocks noChangeShapeType="1"/>
            </p:cNvSpPr>
            <p:nvPr/>
          </p:nvSpPr>
          <p:spPr bwMode="auto">
            <a:xfrm flipV="1">
              <a:off x="3630" y="3008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2545" name="Rectangle 17"/>
            <p:cNvSpPr>
              <a:spLocks noChangeArrowheads="1"/>
            </p:cNvSpPr>
            <p:nvPr/>
          </p:nvSpPr>
          <p:spPr bwMode="auto">
            <a:xfrm>
              <a:off x="3869" y="2110"/>
              <a:ext cx="52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 dirty="0"/>
                <a:t>amber</a:t>
              </a:r>
            </a:p>
          </p:txBody>
        </p:sp>
        <p:sp>
          <p:nvSpPr>
            <p:cNvPr id="22546" name="Rectangle 18"/>
            <p:cNvSpPr>
              <a:spLocks noChangeArrowheads="1"/>
            </p:cNvSpPr>
            <p:nvPr/>
          </p:nvSpPr>
          <p:spPr bwMode="auto">
            <a:xfrm>
              <a:off x="3869" y="3391"/>
              <a:ext cx="47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/>
                <a:t>green</a:t>
              </a:r>
            </a:p>
          </p:txBody>
        </p:sp>
        <p:sp>
          <p:nvSpPr>
            <p:cNvPr id="22547" name="Rectangle 19"/>
            <p:cNvSpPr>
              <a:spLocks noChangeArrowheads="1"/>
            </p:cNvSpPr>
            <p:nvPr/>
          </p:nvSpPr>
          <p:spPr bwMode="auto">
            <a:xfrm>
              <a:off x="3528" y="1510"/>
              <a:ext cx="24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/>
                <a:t>yr</a:t>
              </a:r>
            </a:p>
          </p:txBody>
        </p:sp>
        <p:sp>
          <p:nvSpPr>
            <p:cNvPr id="22548" name="Rectangle 20"/>
            <p:cNvSpPr>
              <a:spLocks noChangeArrowheads="1"/>
            </p:cNvSpPr>
            <p:nvPr/>
          </p:nvSpPr>
          <p:spPr bwMode="auto">
            <a:xfrm>
              <a:off x="3485" y="2791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/>
                <a:t>gy</a:t>
              </a:r>
            </a:p>
          </p:txBody>
        </p:sp>
        <p:sp>
          <p:nvSpPr>
            <p:cNvPr id="22549" name="Line 21"/>
            <p:cNvSpPr>
              <a:spLocks noChangeShapeType="1"/>
            </p:cNvSpPr>
            <p:nvPr/>
          </p:nvSpPr>
          <p:spPr bwMode="auto">
            <a:xfrm flipH="1">
              <a:off x="2905" y="1008"/>
              <a:ext cx="595" cy="10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2550" name="Line 22"/>
            <p:cNvSpPr>
              <a:spLocks noChangeShapeType="1"/>
            </p:cNvSpPr>
            <p:nvPr/>
          </p:nvSpPr>
          <p:spPr bwMode="auto">
            <a:xfrm>
              <a:off x="2905" y="2368"/>
              <a:ext cx="595" cy="1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2556" name="AutoShape 28"/>
          <p:cNvSpPr>
            <a:spLocks noChangeArrowheads="1"/>
          </p:cNvSpPr>
          <p:nvPr/>
        </p:nvSpPr>
        <p:spPr bwMode="auto">
          <a:xfrm>
            <a:off x="3390880" y="3081326"/>
            <a:ext cx="1054100" cy="825500"/>
          </a:xfrm>
          <a:prstGeom prst="rightArrow">
            <a:avLst>
              <a:gd name="adj1" fmla="val 50000"/>
              <a:gd name="adj2" fmla="val 63852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32" name="Footer Placeholder 3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09662" y="1285860"/>
            <a:ext cx="7000924" cy="50006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ounded Rectangle 33"/>
          <p:cNvSpPr/>
          <p:nvPr/>
        </p:nvSpPr>
        <p:spPr>
          <a:xfrm>
            <a:off x="2057405" y="2405742"/>
            <a:ext cx="598714" cy="1436914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chemeClr val="bg2">
                <a:lumMod val="9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/>
          <p:cNvSpPr/>
          <p:nvPr/>
        </p:nvSpPr>
        <p:spPr>
          <a:xfrm>
            <a:off x="2209805" y="2547256"/>
            <a:ext cx="326571" cy="34834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/>
          <p:cNvSpPr/>
          <p:nvPr/>
        </p:nvSpPr>
        <p:spPr>
          <a:xfrm>
            <a:off x="2209805" y="2971799"/>
            <a:ext cx="326571" cy="348343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/>
          <p:cNvSpPr/>
          <p:nvPr/>
        </p:nvSpPr>
        <p:spPr>
          <a:xfrm>
            <a:off x="2209805" y="3396343"/>
            <a:ext cx="326571" cy="348343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/>
          <p:cNvSpPr/>
          <p:nvPr/>
        </p:nvSpPr>
        <p:spPr>
          <a:xfrm>
            <a:off x="2286005" y="3897085"/>
            <a:ext cx="228600" cy="892628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45000">
                <a:schemeClr val="tx1">
                  <a:lumMod val="65000"/>
                  <a:lumOff val="35000"/>
                </a:schemeClr>
              </a:gs>
              <a:gs pos="70000">
                <a:schemeClr val="bg2">
                  <a:lumMod val="75000"/>
                </a:schemeClr>
              </a:gs>
              <a:gs pos="100000">
                <a:schemeClr val="bg1"/>
              </a:gs>
            </a:gsLst>
            <a:lin ang="0" scaled="0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795338" y="214290"/>
            <a:ext cx="8158190" cy="1143009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Two Traffic Lights</a:t>
            </a:r>
          </a:p>
        </p:txBody>
      </p:sp>
      <p:grpSp>
        <p:nvGrpSpPr>
          <p:cNvPr id="24617" name="Group 41"/>
          <p:cNvGrpSpPr>
            <a:grpSpLocks/>
          </p:cNvGrpSpPr>
          <p:nvPr/>
        </p:nvGrpSpPr>
        <p:grpSpPr bwMode="auto">
          <a:xfrm>
            <a:off x="1809728" y="1571612"/>
            <a:ext cx="6237288" cy="4546600"/>
            <a:chOff x="678" y="920"/>
            <a:chExt cx="3929" cy="2864"/>
          </a:xfrm>
        </p:grpSpPr>
        <p:sp>
          <p:nvSpPr>
            <p:cNvPr id="24579" name="Rectangle 3"/>
            <p:cNvSpPr>
              <a:spLocks noChangeArrowheads="1"/>
            </p:cNvSpPr>
            <p:nvPr/>
          </p:nvSpPr>
          <p:spPr bwMode="auto">
            <a:xfrm>
              <a:off x="1402" y="1560"/>
              <a:ext cx="324" cy="30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580" name="Oval 4"/>
            <p:cNvSpPr>
              <a:spLocks noChangeArrowheads="1"/>
            </p:cNvSpPr>
            <p:nvPr/>
          </p:nvSpPr>
          <p:spPr bwMode="auto">
            <a:xfrm>
              <a:off x="1402" y="920"/>
              <a:ext cx="324" cy="30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581" name="Oval 5"/>
            <p:cNvSpPr>
              <a:spLocks noChangeArrowheads="1"/>
            </p:cNvSpPr>
            <p:nvPr/>
          </p:nvSpPr>
          <p:spPr bwMode="auto">
            <a:xfrm>
              <a:off x="1526" y="1036"/>
              <a:ext cx="78" cy="72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582" name="Rectangle 6"/>
            <p:cNvSpPr>
              <a:spLocks noChangeArrowheads="1"/>
            </p:cNvSpPr>
            <p:nvPr/>
          </p:nvSpPr>
          <p:spPr bwMode="auto">
            <a:xfrm>
              <a:off x="678" y="2225"/>
              <a:ext cx="32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 dirty="0"/>
                <a:t>rg1</a:t>
              </a:r>
            </a:p>
          </p:txBody>
        </p:sp>
        <p:sp>
          <p:nvSpPr>
            <p:cNvPr id="24583" name="Rectangle 7"/>
            <p:cNvSpPr>
              <a:spLocks noChangeArrowheads="1"/>
            </p:cNvSpPr>
            <p:nvPr/>
          </p:nvSpPr>
          <p:spPr bwMode="auto">
            <a:xfrm>
              <a:off x="1758" y="965"/>
              <a:ext cx="40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 dirty="0"/>
                <a:t>red1</a:t>
              </a:r>
            </a:p>
          </p:txBody>
        </p:sp>
        <p:sp>
          <p:nvSpPr>
            <p:cNvPr id="24584" name="Line 8"/>
            <p:cNvSpPr>
              <a:spLocks noChangeShapeType="1"/>
            </p:cNvSpPr>
            <p:nvPr/>
          </p:nvSpPr>
          <p:spPr bwMode="auto">
            <a:xfrm flipV="1">
              <a:off x="1566" y="1872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4585" name="Line 9"/>
            <p:cNvSpPr>
              <a:spLocks noChangeShapeType="1"/>
            </p:cNvSpPr>
            <p:nvPr/>
          </p:nvSpPr>
          <p:spPr bwMode="auto">
            <a:xfrm flipV="1">
              <a:off x="1566" y="1232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4586" name="Rectangle 10"/>
            <p:cNvSpPr>
              <a:spLocks noChangeArrowheads="1"/>
            </p:cNvSpPr>
            <p:nvPr/>
          </p:nvSpPr>
          <p:spPr bwMode="auto">
            <a:xfrm>
              <a:off x="678" y="2200"/>
              <a:ext cx="324" cy="30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587" name="Rectangle 11"/>
            <p:cNvSpPr>
              <a:spLocks noChangeArrowheads="1"/>
            </p:cNvSpPr>
            <p:nvPr/>
          </p:nvSpPr>
          <p:spPr bwMode="auto">
            <a:xfrm>
              <a:off x="1402" y="2840"/>
              <a:ext cx="324" cy="30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588" name="Oval 12"/>
            <p:cNvSpPr>
              <a:spLocks noChangeArrowheads="1"/>
            </p:cNvSpPr>
            <p:nvPr/>
          </p:nvSpPr>
          <p:spPr bwMode="auto">
            <a:xfrm>
              <a:off x="1402" y="3480"/>
              <a:ext cx="324" cy="30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589" name="Oval 13"/>
            <p:cNvSpPr>
              <a:spLocks noChangeArrowheads="1"/>
            </p:cNvSpPr>
            <p:nvPr/>
          </p:nvSpPr>
          <p:spPr bwMode="auto">
            <a:xfrm>
              <a:off x="1402" y="2200"/>
              <a:ext cx="324" cy="30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590" name="Line 14"/>
            <p:cNvSpPr>
              <a:spLocks noChangeShapeType="1"/>
            </p:cNvSpPr>
            <p:nvPr/>
          </p:nvSpPr>
          <p:spPr bwMode="auto">
            <a:xfrm flipV="1">
              <a:off x="1566" y="2512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4591" name="Line 15"/>
            <p:cNvSpPr>
              <a:spLocks noChangeShapeType="1"/>
            </p:cNvSpPr>
            <p:nvPr/>
          </p:nvSpPr>
          <p:spPr bwMode="auto">
            <a:xfrm flipV="1">
              <a:off x="1566" y="3152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4592" name="Rectangle 16"/>
            <p:cNvSpPr>
              <a:spLocks noChangeArrowheads="1"/>
            </p:cNvSpPr>
            <p:nvPr/>
          </p:nvSpPr>
          <p:spPr bwMode="auto">
            <a:xfrm>
              <a:off x="1805" y="2254"/>
              <a:ext cx="60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 dirty="0"/>
                <a:t>amber1</a:t>
              </a:r>
            </a:p>
          </p:txBody>
        </p:sp>
        <p:sp>
          <p:nvSpPr>
            <p:cNvPr id="24593" name="Rectangle 17"/>
            <p:cNvSpPr>
              <a:spLocks noChangeArrowheads="1"/>
            </p:cNvSpPr>
            <p:nvPr/>
          </p:nvSpPr>
          <p:spPr bwMode="auto">
            <a:xfrm>
              <a:off x="1805" y="3535"/>
              <a:ext cx="55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/>
                <a:t>green1</a:t>
              </a:r>
            </a:p>
          </p:txBody>
        </p:sp>
        <p:sp>
          <p:nvSpPr>
            <p:cNvPr id="24594" name="Rectangle 18"/>
            <p:cNvSpPr>
              <a:spLocks noChangeArrowheads="1"/>
            </p:cNvSpPr>
            <p:nvPr/>
          </p:nvSpPr>
          <p:spPr bwMode="auto">
            <a:xfrm>
              <a:off x="1398" y="1595"/>
              <a:ext cx="32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 dirty="0"/>
                <a:t>yr1</a:t>
              </a:r>
            </a:p>
          </p:txBody>
        </p:sp>
        <p:sp>
          <p:nvSpPr>
            <p:cNvPr id="24595" name="Rectangle 19"/>
            <p:cNvSpPr>
              <a:spLocks noChangeArrowheads="1"/>
            </p:cNvSpPr>
            <p:nvPr/>
          </p:nvSpPr>
          <p:spPr bwMode="auto">
            <a:xfrm>
              <a:off x="1398" y="2855"/>
              <a:ext cx="3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 dirty="0"/>
                <a:t>gy1</a:t>
              </a:r>
            </a:p>
          </p:txBody>
        </p:sp>
        <p:sp>
          <p:nvSpPr>
            <p:cNvPr id="24596" name="Line 20"/>
            <p:cNvSpPr>
              <a:spLocks noChangeShapeType="1"/>
            </p:cNvSpPr>
            <p:nvPr/>
          </p:nvSpPr>
          <p:spPr bwMode="auto">
            <a:xfrm flipH="1">
              <a:off x="841" y="1152"/>
              <a:ext cx="595" cy="10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4597" name="Line 21"/>
            <p:cNvSpPr>
              <a:spLocks noChangeShapeType="1"/>
            </p:cNvSpPr>
            <p:nvPr/>
          </p:nvSpPr>
          <p:spPr bwMode="auto">
            <a:xfrm>
              <a:off x="841" y="2512"/>
              <a:ext cx="595" cy="1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4598" name="Rectangle 22"/>
            <p:cNvSpPr>
              <a:spLocks noChangeArrowheads="1"/>
            </p:cNvSpPr>
            <p:nvPr/>
          </p:nvSpPr>
          <p:spPr bwMode="auto">
            <a:xfrm>
              <a:off x="3556" y="1560"/>
              <a:ext cx="324" cy="30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599" name="Oval 23"/>
            <p:cNvSpPr>
              <a:spLocks noChangeArrowheads="1"/>
            </p:cNvSpPr>
            <p:nvPr/>
          </p:nvSpPr>
          <p:spPr bwMode="auto">
            <a:xfrm>
              <a:off x="3556" y="920"/>
              <a:ext cx="324" cy="30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600" name="Oval 24"/>
            <p:cNvSpPr>
              <a:spLocks noChangeArrowheads="1"/>
            </p:cNvSpPr>
            <p:nvPr/>
          </p:nvSpPr>
          <p:spPr bwMode="auto">
            <a:xfrm>
              <a:off x="3678" y="1036"/>
              <a:ext cx="78" cy="72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601" name="Rectangle 25"/>
            <p:cNvSpPr>
              <a:spLocks noChangeArrowheads="1"/>
            </p:cNvSpPr>
            <p:nvPr/>
          </p:nvSpPr>
          <p:spPr bwMode="auto">
            <a:xfrm flipH="1">
              <a:off x="4278" y="2225"/>
              <a:ext cx="32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 dirty="0"/>
                <a:t>rg2</a:t>
              </a:r>
            </a:p>
          </p:txBody>
        </p:sp>
        <p:sp>
          <p:nvSpPr>
            <p:cNvPr id="24602" name="Rectangle 26"/>
            <p:cNvSpPr>
              <a:spLocks noChangeArrowheads="1"/>
            </p:cNvSpPr>
            <p:nvPr/>
          </p:nvSpPr>
          <p:spPr bwMode="auto">
            <a:xfrm flipH="1">
              <a:off x="3918" y="1010"/>
              <a:ext cx="40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 dirty="0"/>
                <a:t>red2</a:t>
              </a:r>
            </a:p>
          </p:txBody>
        </p:sp>
        <p:sp>
          <p:nvSpPr>
            <p:cNvPr id="24603" name="Line 27"/>
            <p:cNvSpPr>
              <a:spLocks noChangeShapeType="1"/>
            </p:cNvSpPr>
            <p:nvPr/>
          </p:nvSpPr>
          <p:spPr bwMode="auto">
            <a:xfrm flipV="1">
              <a:off x="3716" y="1872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4604" name="Line 28"/>
            <p:cNvSpPr>
              <a:spLocks noChangeShapeType="1"/>
            </p:cNvSpPr>
            <p:nvPr/>
          </p:nvSpPr>
          <p:spPr bwMode="auto">
            <a:xfrm flipV="1">
              <a:off x="3716" y="1232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4605" name="Rectangle 29"/>
            <p:cNvSpPr>
              <a:spLocks noChangeArrowheads="1"/>
            </p:cNvSpPr>
            <p:nvPr/>
          </p:nvSpPr>
          <p:spPr bwMode="auto">
            <a:xfrm>
              <a:off x="4280" y="2200"/>
              <a:ext cx="324" cy="30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606" name="Rectangle 30"/>
            <p:cNvSpPr>
              <a:spLocks noChangeArrowheads="1"/>
            </p:cNvSpPr>
            <p:nvPr/>
          </p:nvSpPr>
          <p:spPr bwMode="auto">
            <a:xfrm>
              <a:off x="3556" y="2840"/>
              <a:ext cx="324" cy="30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607" name="Oval 31"/>
            <p:cNvSpPr>
              <a:spLocks noChangeArrowheads="1"/>
            </p:cNvSpPr>
            <p:nvPr/>
          </p:nvSpPr>
          <p:spPr bwMode="auto">
            <a:xfrm>
              <a:off x="3556" y="3480"/>
              <a:ext cx="324" cy="30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608" name="Oval 32"/>
            <p:cNvSpPr>
              <a:spLocks noChangeArrowheads="1"/>
            </p:cNvSpPr>
            <p:nvPr/>
          </p:nvSpPr>
          <p:spPr bwMode="auto">
            <a:xfrm>
              <a:off x="3556" y="2200"/>
              <a:ext cx="324" cy="30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609" name="Line 33"/>
            <p:cNvSpPr>
              <a:spLocks noChangeShapeType="1"/>
            </p:cNvSpPr>
            <p:nvPr/>
          </p:nvSpPr>
          <p:spPr bwMode="auto">
            <a:xfrm flipV="1">
              <a:off x="3716" y="2512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4610" name="Line 34"/>
            <p:cNvSpPr>
              <a:spLocks noChangeShapeType="1"/>
            </p:cNvSpPr>
            <p:nvPr/>
          </p:nvSpPr>
          <p:spPr bwMode="auto">
            <a:xfrm flipV="1">
              <a:off x="3716" y="3152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4611" name="Rectangle 35"/>
            <p:cNvSpPr>
              <a:spLocks noChangeArrowheads="1"/>
            </p:cNvSpPr>
            <p:nvPr/>
          </p:nvSpPr>
          <p:spPr bwMode="auto">
            <a:xfrm flipH="1">
              <a:off x="2838" y="2225"/>
              <a:ext cx="64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 dirty="0"/>
                <a:t>amber 2</a:t>
              </a:r>
            </a:p>
          </p:txBody>
        </p:sp>
        <p:sp>
          <p:nvSpPr>
            <p:cNvPr id="24612" name="Rectangle 36"/>
            <p:cNvSpPr>
              <a:spLocks noChangeArrowheads="1"/>
            </p:cNvSpPr>
            <p:nvPr/>
          </p:nvSpPr>
          <p:spPr bwMode="auto">
            <a:xfrm flipH="1">
              <a:off x="3918" y="3530"/>
              <a:ext cx="55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 dirty="0"/>
                <a:t>green2</a:t>
              </a:r>
            </a:p>
          </p:txBody>
        </p:sp>
        <p:sp>
          <p:nvSpPr>
            <p:cNvPr id="24613" name="Rectangle 37"/>
            <p:cNvSpPr>
              <a:spLocks noChangeArrowheads="1"/>
            </p:cNvSpPr>
            <p:nvPr/>
          </p:nvSpPr>
          <p:spPr bwMode="auto">
            <a:xfrm flipH="1">
              <a:off x="3558" y="1595"/>
              <a:ext cx="32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 dirty="0"/>
                <a:t>yr2</a:t>
              </a:r>
            </a:p>
          </p:txBody>
        </p:sp>
        <p:sp>
          <p:nvSpPr>
            <p:cNvPr id="24614" name="Rectangle 38"/>
            <p:cNvSpPr>
              <a:spLocks noChangeArrowheads="1"/>
            </p:cNvSpPr>
            <p:nvPr/>
          </p:nvSpPr>
          <p:spPr bwMode="auto">
            <a:xfrm flipH="1">
              <a:off x="3558" y="2855"/>
              <a:ext cx="3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 dirty="0"/>
                <a:t>gy2</a:t>
              </a:r>
            </a:p>
          </p:txBody>
        </p:sp>
        <p:sp>
          <p:nvSpPr>
            <p:cNvPr id="24615" name="Line 39"/>
            <p:cNvSpPr>
              <a:spLocks noChangeShapeType="1"/>
            </p:cNvSpPr>
            <p:nvPr/>
          </p:nvSpPr>
          <p:spPr bwMode="auto">
            <a:xfrm>
              <a:off x="3846" y="1152"/>
              <a:ext cx="595" cy="10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4616" name="Line 40"/>
            <p:cNvSpPr>
              <a:spLocks noChangeShapeType="1"/>
            </p:cNvSpPr>
            <p:nvPr/>
          </p:nvSpPr>
          <p:spPr bwMode="auto">
            <a:xfrm flipH="1">
              <a:off x="3846" y="2512"/>
              <a:ext cx="595" cy="1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4" name="Slide Number Placeholder 4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45" name="Footer Placeholder 4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81100" y="1428736"/>
            <a:ext cx="7429552" cy="50006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795338" y="285729"/>
            <a:ext cx="8301066" cy="1004910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Two Safe Traffic Lights</a:t>
            </a:r>
          </a:p>
        </p:txBody>
      </p:sp>
      <p:grpSp>
        <p:nvGrpSpPr>
          <p:cNvPr id="26672" name="Group 48"/>
          <p:cNvGrpSpPr>
            <a:grpSpLocks/>
          </p:cNvGrpSpPr>
          <p:nvPr/>
        </p:nvGrpSpPr>
        <p:grpSpPr bwMode="auto">
          <a:xfrm>
            <a:off x="1952604" y="1500174"/>
            <a:ext cx="6237288" cy="4546600"/>
            <a:chOff x="678" y="920"/>
            <a:chExt cx="3929" cy="2864"/>
          </a:xfrm>
        </p:grpSpPr>
        <p:sp>
          <p:nvSpPr>
            <p:cNvPr id="26627" name="Rectangle 3"/>
            <p:cNvSpPr>
              <a:spLocks noChangeArrowheads="1"/>
            </p:cNvSpPr>
            <p:nvPr/>
          </p:nvSpPr>
          <p:spPr bwMode="auto">
            <a:xfrm>
              <a:off x="1402" y="1560"/>
              <a:ext cx="324" cy="30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6628" name="Oval 4"/>
            <p:cNvSpPr>
              <a:spLocks noChangeArrowheads="1"/>
            </p:cNvSpPr>
            <p:nvPr/>
          </p:nvSpPr>
          <p:spPr bwMode="auto">
            <a:xfrm>
              <a:off x="1402" y="920"/>
              <a:ext cx="324" cy="30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6629" name="Oval 5"/>
            <p:cNvSpPr>
              <a:spLocks noChangeArrowheads="1"/>
            </p:cNvSpPr>
            <p:nvPr/>
          </p:nvSpPr>
          <p:spPr bwMode="auto">
            <a:xfrm>
              <a:off x="1526" y="1036"/>
              <a:ext cx="78" cy="72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6630" name="Rectangle 6"/>
            <p:cNvSpPr>
              <a:spLocks noChangeArrowheads="1"/>
            </p:cNvSpPr>
            <p:nvPr/>
          </p:nvSpPr>
          <p:spPr bwMode="auto">
            <a:xfrm>
              <a:off x="723" y="2225"/>
              <a:ext cx="32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 dirty="0"/>
                <a:t>rg1</a:t>
              </a:r>
            </a:p>
          </p:txBody>
        </p:sp>
        <p:sp>
          <p:nvSpPr>
            <p:cNvPr id="26631" name="Rectangle 7"/>
            <p:cNvSpPr>
              <a:spLocks noChangeArrowheads="1"/>
            </p:cNvSpPr>
            <p:nvPr/>
          </p:nvSpPr>
          <p:spPr bwMode="auto">
            <a:xfrm>
              <a:off x="1758" y="965"/>
              <a:ext cx="40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 dirty="0"/>
                <a:t>red1</a:t>
              </a:r>
            </a:p>
          </p:txBody>
        </p:sp>
        <p:sp>
          <p:nvSpPr>
            <p:cNvPr id="26632" name="Line 8"/>
            <p:cNvSpPr>
              <a:spLocks noChangeShapeType="1"/>
            </p:cNvSpPr>
            <p:nvPr/>
          </p:nvSpPr>
          <p:spPr bwMode="auto">
            <a:xfrm flipV="1">
              <a:off x="1566" y="1872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6633" name="Line 9"/>
            <p:cNvSpPr>
              <a:spLocks noChangeShapeType="1"/>
            </p:cNvSpPr>
            <p:nvPr/>
          </p:nvSpPr>
          <p:spPr bwMode="auto">
            <a:xfrm flipV="1">
              <a:off x="1566" y="1232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6634" name="Rectangle 10"/>
            <p:cNvSpPr>
              <a:spLocks noChangeArrowheads="1"/>
            </p:cNvSpPr>
            <p:nvPr/>
          </p:nvSpPr>
          <p:spPr bwMode="auto">
            <a:xfrm>
              <a:off x="678" y="2200"/>
              <a:ext cx="324" cy="30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6635" name="Rectangle 11"/>
            <p:cNvSpPr>
              <a:spLocks noChangeArrowheads="1"/>
            </p:cNvSpPr>
            <p:nvPr/>
          </p:nvSpPr>
          <p:spPr bwMode="auto">
            <a:xfrm>
              <a:off x="1402" y="2840"/>
              <a:ext cx="324" cy="30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6636" name="Oval 12"/>
            <p:cNvSpPr>
              <a:spLocks noChangeArrowheads="1"/>
            </p:cNvSpPr>
            <p:nvPr/>
          </p:nvSpPr>
          <p:spPr bwMode="auto">
            <a:xfrm>
              <a:off x="1402" y="3480"/>
              <a:ext cx="324" cy="30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6637" name="Oval 13"/>
            <p:cNvSpPr>
              <a:spLocks noChangeArrowheads="1"/>
            </p:cNvSpPr>
            <p:nvPr/>
          </p:nvSpPr>
          <p:spPr bwMode="auto">
            <a:xfrm>
              <a:off x="1402" y="2200"/>
              <a:ext cx="324" cy="30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6638" name="Line 14"/>
            <p:cNvSpPr>
              <a:spLocks noChangeShapeType="1"/>
            </p:cNvSpPr>
            <p:nvPr/>
          </p:nvSpPr>
          <p:spPr bwMode="auto">
            <a:xfrm flipV="1">
              <a:off x="1566" y="2512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6639" name="Line 15"/>
            <p:cNvSpPr>
              <a:spLocks noChangeShapeType="1"/>
            </p:cNvSpPr>
            <p:nvPr/>
          </p:nvSpPr>
          <p:spPr bwMode="auto">
            <a:xfrm flipV="1">
              <a:off x="1566" y="3152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6640" name="Rectangle 16"/>
            <p:cNvSpPr>
              <a:spLocks noChangeArrowheads="1"/>
            </p:cNvSpPr>
            <p:nvPr/>
          </p:nvSpPr>
          <p:spPr bwMode="auto">
            <a:xfrm>
              <a:off x="1758" y="2225"/>
              <a:ext cx="60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 dirty="0"/>
                <a:t>amber1</a:t>
              </a:r>
            </a:p>
          </p:txBody>
        </p:sp>
        <p:sp>
          <p:nvSpPr>
            <p:cNvPr id="26641" name="Rectangle 17"/>
            <p:cNvSpPr>
              <a:spLocks noChangeArrowheads="1"/>
            </p:cNvSpPr>
            <p:nvPr/>
          </p:nvSpPr>
          <p:spPr bwMode="auto">
            <a:xfrm>
              <a:off x="1805" y="3535"/>
              <a:ext cx="55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/>
                <a:t>green1</a:t>
              </a:r>
            </a:p>
          </p:txBody>
        </p:sp>
        <p:sp>
          <p:nvSpPr>
            <p:cNvPr id="26642" name="Rectangle 18"/>
            <p:cNvSpPr>
              <a:spLocks noChangeArrowheads="1"/>
            </p:cNvSpPr>
            <p:nvPr/>
          </p:nvSpPr>
          <p:spPr bwMode="auto">
            <a:xfrm>
              <a:off x="1398" y="1595"/>
              <a:ext cx="32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 dirty="0"/>
                <a:t>yr1</a:t>
              </a:r>
            </a:p>
          </p:txBody>
        </p:sp>
        <p:sp>
          <p:nvSpPr>
            <p:cNvPr id="26643" name="Rectangle 19"/>
            <p:cNvSpPr>
              <a:spLocks noChangeArrowheads="1"/>
            </p:cNvSpPr>
            <p:nvPr/>
          </p:nvSpPr>
          <p:spPr bwMode="auto">
            <a:xfrm>
              <a:off x="1398" y="2855"/>
              <a:ext cx="3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 dirty="0"/>
                <a:t>gy1</a:t>
              </a:r>
            </a:p>
          </p:txBody>
        </p:sp>
        <p:sp>
          <p:nvSpPr>
            <p:cNvPr id="26644" name="Line 20"/>
            <p:cNvSpPr>
              <a:spLocks noChangeShapeType="1"/>
            </p:cNvSpPr>
            <p:nvPr/>
          </p:nvSpPr>
          <p:spPr bwMode="auto">
            <a:xfrm flipH="1">
              <a:off x="841" y="1152"/>
              <a:ext cx="595" cy="10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6645" name="Line 21"/>
            <p:cNvSpPr>
              <a:spLocks noChangeShapeType="1"/>
            </p:cNvSpPr>
            <p:nvPr/>
          </p:nvSpPr>
          <p:spPr bwMode="auto">
            <a:xfrm>
              <a:off x="841" y="2512"/>
              <a:ext cx="595" cy="1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6646" name="Rectangle 22"/>
            <p:cNvSpPr>
              <a:spLocks noChangeArrowheads="1"/>
            </p:cNvSpPr>
            <p:nvPr/>
          </p:nvSpPr>
          <p:spPr bwMode="auto">
            <a:xfrm>
              <a:off x="3556" y="1560"/>
              <a:ext cx="324" cy="30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6647" name="Oval 23"/>
            <p:cNvSpPr>
              <a:spLocks noChangeArrowheads="1"/>
            </p:cNvSpPr>
            <p:nvPr/>
          </p:nvSpPr>
          <p:spPr bwMode="auto">
            <a:xfrm>
              <a:off x="3556" y="920"/>
              <a:ext cx="324" cy="30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6648" name="Oval 24"/>
            <p:cNvSpPr>
              <a:spLocks noChangeArrowheads="1"/>
            </p:cNvSpPr>
            <p:nvPr/>
          </p:nvSpPr>
          <p:spPr bwMode="auto">
            <a:xfrm>
              <a:off x="3678" y="1036"/>
              <a:ext cx="78" cy="72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6649" name="Rectangle 25"/>
            <p:cNvSpPr>
              <a:spLocks noChangeArrowheads="1"/>
            </p:cNvSpPr>
            <p:nvPr/>
          </p:nvSpPr>
          <p:spPr bwMode="auto">
            <a:xfrm flipH="1">
              <a:off x="4278" y="2225"/>
              <a:ext cx="32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 dirty="0"/>
                <a:t>rg2</a:t>
              </a:r>
            </a:p>
          </p:txBody>
        </p:sp>
        <p:sp>
          <p:nvSpPr>
            <p:cNvPr id="26650" name="Rectangle 26"/>
            <p:cNvSpPr>
              <a:spLocks noChangeArrowheads="1"/>
            </p:cNvSpPr>
            <p:nvPr/>
          </p:nvSpPr>
          <p:spPr bwMode="auto">
            <a:xfrm flipH="1">
              <a:off x="3918" y="965"/>
              <a:ext cx="40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 dirty="0"/>
                <a:t>red2</a:t>
              </a:r>
            </a:p>
          </p:txBody>
        </p:sp>
        <p:sp>
          <p:nvSpPr>
            <p:cNvPr id="26651" name="Line 27"/>
            <p:cNvSpPr>
              <a:spLocks noChangeShapeType="1"/>
            </p:cNvSpPr>
            <p:nvPr/>
          </p:nvSpPr>
          <p:spPr bwMode="auto">
            <a:xfrm flipV="1">
              <a:off x="3716" y="1872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6652" name="Line 28"/>
            <p:cNvSpPr>
              <a:spLocks noChangeShapeType="1"/>
            </p:cNvSpPr>
            <p:nvPr/>
          </p:nvSpPr>
          <p:spPr bwMode="auto">
            <a:xfrm flipV="1">
              <a:off x="3716" y="1232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6653" name="Rectangle 29"/>
            <p:cNvSpPr>
              <a:spLocks noChangeArrowheads="1"/>
            </p:cNvSpPr>
            <p:nvPr/>
          </p:nvSpPr>
          <p:spPr bwMode="auto">
            <a:xfrm>
              <a:off x="4280" y="2200"/>
              <a:ext cx="324" cy="30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6654" name="Rectangle 30"/>
            <p:cNvSpPr>
              <a:spLocks noChangeArrowheads="1"/>
            </p:cNvSpPr>
            <p:nvPr/>
          </p:nvSpPr>
          <p:spPr bwMode="auto">
            <a:xfrm>
              <a:off x="3556" y="2840"/>
              <a:ext cx="324" cy="30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6655" name="Oval 31"/>
            <p:cNvSpPr>
              <a:spLocks noChangeArrowheads="1"/>
            </p:cNvSpPr>
            <p:nvPr/>
          </p:nvSpPr>
          <p:spPr bwMode="auto">
            <a:xfrm>
              <a:off x="3556" y="3480"/>
              <a:ext cx="324" cy="30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6656" name="Oval 32"/>
            <p:cNvSpPr>
              <a:spLocks noChangeArrowheads="1"/>
            </p:cNvSpPr>
            <p:nvPr/>
          </p:nvSpPr>
          <p:spPr bwMode="auto">
            <a:xfrm>
              <a:off x="3556" y="2200"/>
              <a:ext cx="324" cy="30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6657" name="Line 33"/>
            <p:cNvSpPr>
              <a:spLocks noChangeShapeType="1"/>
            </p:cNvSpPr>
            <p:nvPr/>
          </p:nvSpPr>
          <p:spPr bwMode="auto">
            <a:xfrm flipV="1">
              <a:off x="3716" y="2512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6658" name="Line 34"/>
            <p:cNvSpPr>
              <a:spLocks noChangeShapeType="1"/>
            </p:cNvSpPr>
            <p:nvPr/>
          </p:nvSpPr>
          <p:spPr bwMode="auto">
            <a:xfrm flipV="1">
              <a:off x="3716" y="3152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6659" name="Rectangle 35"/>
            <p:cNvSpPr>
              <a:spLocks noChangeArrowheads="1"/>
            </p:cNvSpPr>
            <p:nvPr/>
          </p:nvSpPr>
          <p:spPr bwMode="auto">
            <a:xfrm flipH="1">
              <a:off x="2883" y="2225"/>
              <a:ext cx="64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 dirty="0"/>
                <a:t>amber 2</a:t>
              </a:r>
            </a:p>
          </p:txBody>
        </p:sp>
        <p:sp>
          <p:nvSpPr>
            <p:cNvPr id="26660" name="Rectangle 36"/>
            <p:cNvSpPr>
              <a:spLocks noChangeArrowheads="1"/>
            </p:cNvSpPr>
            <p:nvPr/>
          </p:nvSpPr>
          <p:spPr bwMode="auto">
            <a:xfrm flipH="1">
              <a:off x="3918" y="3530"/>
              <a:ext cx="55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 dirty="0"/>
                <a:t>green2</a:t>
              </a:r>
            </a:p>
          </p:txBody>
        </p:sp>
        <p:sp>
          <p:nvSpPr>
            <p:cNvPr id="26661" name="Rectangle 37"/>
            <p:cNvSpPr>
              <a:spLocks noChangeArrowheads="1"/>
            </p:cNvSpPr>
            <p:nvPr/>
          </p:nvSpPr>
          <p:spPr bwMode="auto">
            <a:xfrm flipH="1">
              <a:off x="3558" y="1595"/>
              <a:ext cx="32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 dirty="0"/>
                <a:t>yr2</a:t>
              </a:r>
            </a:p>
          </p:txBody>
        </p:sp>
        <p:sp>
          <p:nvSpPr>
            <p:cNvPr id="26662" name="Rectangle 38"/>
            <p:cNvSpPr>
              <a:spLocks noChangeArrowheads="1"/>
            </p:cNvSpPr>
            <p:nvPr/>
          </p:nvSpPr>
          <p:spPr bwMode="auto">
            <a:xfrm flipH="1">
              <a:off x="3513" y="2855"/>
              <a:ext cx="3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 dirty="0"/>
                <a:t>gy2</a:t>
              </a:r>
            </a:p>
          </p:txBody>
        </p:sp>
        <p:sp>
          <p:nvSpPr>
            <p:cNvPr id="26663" name="Line 39"/>
            <p:cNvSpPr>
              <a:spLocks noChangeShapeType="1"/>
            </p:cNvSpPr>
            <p:nvPr/>
          </p:nvSpPr>
          <p:spPr bwMode="auto">
            <a:xfrm>
              <a:off x="3846" y="1152"/>
              <a:ext cx="595" cy="10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6664" name="Line 40"/>
            <p:cNvSpPr>
              <a:spLocks noChangeShapeType="1"/>
            </p:cNvSpPr>
            <p:nvPr/>
          </p:nvSpPr>
          <p:spPr bwMode="auto">
            <a:xfrm flipH="1">
              <a:off x="3846" y="2512"/>
              <a:ext cx="595" cy="1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6665" name="Oval 41"/>
            <p:cNvSpPr>
              <a:spLocks noChangeArrowheads="1"/>
            </p:cNvSpPr>
            <p:nvPr/>
          </p:nvSpPr>
          <p:spPr bwMode="auto">
            <a:xfrm>
              <a:off x="2458" y="1576"/>
              <a:ext cx="324" cy="30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6666" name="Line 42"/>
            <p:cNvSpPr>
              <a:spLocks noChangeShapeType="1"/>
            </p:cNvSpPr>
            <p:nvPr/>
          </p:nvSpPr>
          <p:spPr bwMode="auto">
            <a:xfrm flipH="1">
              <a:off x="1008" y="1776"/>
              <a:ext cx="1440" cy="4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6667" name="Line 43"/>
            <p:cNvSpPr>
              <a:spLocks noChangeShapeType="1"/>
            </p:cNvSpPr>
            <p:nvPr/>
          </p:nvSpPr>
          <p:spPr bwMode="auto">
            <a:xfrm>
              <a:off x="1728" y="1728"/>
              <a:ext cx="7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6668" name="Line 44"/>
            <p:cNvSpPr>
              <a:spLocks noChangeShapeType="1"/>
            </p:cNvSpPr>
            <p:nvPr/>
          </p:nvSpPr>
          <p:spPr bwMode="auto">
            <a:xfrm flipH="1">
              <a:off x="2784" y="1728"/>
              <a:ext cx="7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6669" name="Line 45"/>
            <p:cNvSpPr>
              <a:spLocks noChangeShapeType="1"/>
            </p:cNvSpPr>
            <p:nvPr/>
          </p:nvSpPr>
          <p:spPr bwMode="auto">
            <a:xfrm>
              <a:off x="2784" y="1776"/>
              <a:ext cx="1488" cy="4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6670" name="Oval 46"/>
            <p:cNvSpPr>
              <a:spLocks noChangeArrowheads="1"/>
            </p:cNvSpPr>
            <p:nvPr/>
          </p:nvSpPr>
          <p:spPr bwMode="auto">
            <a:xfrm>
              <a:off x="2582" y="1708"/>
              <a:ext cx="78" cy="72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6671" name="Rectangle 47"/>
            <p:cNvSpPr>
              <a:spLocks noChangeArrowheads="1"/>
            </p:cNvSpPr>
            <p:nvPr/>
          </p:nvSpPr>
          <p:spPr bwMode="auto">
            <a:xfrm>
              <a:off x="2477" y="1311"/>
              <a:ext cx="37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/>
                <a:t>safe</a:t>
              </a:r>
            </a:p>
          </p:txBody>
        </p:sp>
      </p:grpSp>
      <p:sp>
        <p:nvSpPr>
          <p:cNvPr id="51" name="Slide Number Placeholder 5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52" name="Footer Placeholder 5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309662" y="1357298"/>
            <a:ext cx="7429552" cy="496730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795338" y="428605"/>
            <a:ext cx="8443942" cy="928693"/>
          </a:xfrm>
          <a:noFill/>
          <a:ln/>
        </p:spPr>
        <p:txBody>
          <a:bodyPr>
            <a:noAutofit/>
          </a:bodyPr>
          <a:lstStyle/>
          <a:p>
            <a:r>
              <a:rPr lang="en-GB" dirty="0"/>
              <a:t>Two Safe and Fair Traffic Lights</a:t>
            </a:r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2952736" y="2444736"/>
            <a:ext cx="514350" cy="482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676" name="Oval 4"/>
          <p:cNvSpPr>
            <a:spLocks noChangeArrowheads="1"/>
          </p:cNvSpPr>
          <p:nvPr/>
        </p:nvSpPr>
        <p:spPr bwMode="auto">
          <a:xfrm>
            <a:off x="2952736" y="1428736"/>
            <a:ext cx="514350" cy="4826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677" name="Oval 5"/>
          <p:cNvSpPr>
            <a:spLocks noChangeArrowheads="1"/>
          </p:cNvSpPr>
          <p:nvPr/>
        </p:nvSpPr>
        <p:spPr bwMode="auto">
          <a:xfrm>
            <a:off x="3149586" y="1612886"/>
            <a:ext cx="123825" cy="1143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1809728" y="3500438"/>
            <a:ext cx="5222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 dirty="0"/>
              <a:t>rg1</a:t>
            </a:r>
          </a:p>
        </p:txBody>
      </p:sp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3524240" y="1428736"/>
            <a:ext cx="63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 dirty="0"/>
              <a:t>red1</a:t>
            </a:r>
          </a:p>
        </p:txBody>
      </p:sp>
      <p:sp>
        <p:nvSpPr>
          <p:cNvPr id="28680" name="Line 8"/>
          <p:cNvSpPr>
            <a:spLocks noChangeShapeType="1"/>
          </p:cNvSpPr>
          <p:nvPr/>
        </p:nvSpPr>
        <p:spPr bwMode="auto">
          <a:xfrm flipV="1">
            <a:off x="3213086" y="2940036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8681" name="Line 9"/>
          <p:cNvSpPr>
            <a:spLocks noChangeShapeType="1"/>
          </p:cNvSpPr>
          <p:nvPr/>
        </p:nvSpPr>
        <p:spPr bwMode="auto">
          <a:xfrm flipV="1">
            <a:off x="3213086" y="1924036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8682" name="Rectangle 10"/>
          <p:cNvSpPr>
            <a:spLocks noChangeArrowheads="1"/>
          </p:cNvSpPr>
          <p:nvPr/>
        </p:nvSpPr>
        <p:spPr bwMode="auto">
          <a:xfrm>
            <a:off x="1803386" y="3460736"/>
            <a:ext cx="514350" cy="482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683" name="Rectangle 11"/>
          <p:cNvSpPr>
            <a:spLocks noChangeArrowheads="1"/>
          </p:cNvSpPr>
          <p:nvPr/>
        </p:nvSpPr>
        <p:spPr bwMode="auto">
          <a:xfrm>
            <a:off x="2952736" y="4476736"/>
            <a:ext cx="514350" cy="482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684" name="Oval 12"/>
          <p:cNvSpPr>
            <a:spLocks noChangeArrowheads="1"/>
          </p:cNvSpPr>
          <p:nvPr/>
        </p:nvSpPr>
        <p:spPr bwMode="auto">
          <a:xfrm>
            <a:off x="2952736" y="5492736"/>
            <a:ext cx="514350" cy="4826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685" name="Oval 13"/>
          <p:cNvSpPr>
            <a:spLocks noChangeArrowheads="1"/>
          </p:cNvSpPr>
          <p:nvPr/>
        </p:nvSpPr>
        <p:spPr bwMode="auto">
          <a:xfrm>
            <a:off x="2952736" y="3460736"/>
            <a:ext cx="514350" cy="4826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686" name="Line 14"/>
          <p:cNvSpPr>
            <a:spLocks noChangeShapeType="1"/>
          </p:cNvSpPr>
          <p:nvPr/>
        </p:nvSpPr>
        <p:spPr bwMode="auto">
          <a:xfrm flipV="1">
            <a:off x="3213086" y="3956036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8687" name="Line 15"/>
          <p:cNvSpPr>
            <a:spLocks noChangeShapeType="1"/>
          </p:cNvSpPr>
          <p:nvPr/>
        </p:nvSpPr>
        <p:spPr bwMode="auto">
          <a:xfrm flipV="1">
            <a:off x="3213086" y="4972036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8688" name="Rectangle 16"/>
          <p:cNvSpPr>
            <a:spLocks noChangeArrowheads="1"/>
          </p:cNvSpPr>
          <p:nvPr/>
        </p:nvSpPr>
        <p:spPr bwMode="auto">
          <a:xfrm>
            <a:off x="3524240" y="3500438"/>
            <a:ext cx="10017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 dirty="0"/>
              <a:t>yellow1</a:t>
            </a:r>
          </a:p>
        </p:txBody>
      </p:sp>
      <p:sp>
        <p:nvSpPr>
          <p:cNvPr id="28689" name="Rectangle 17"/>
          <p:cNvSpPr>
            <a:spLocks noChangeArrowheads="1"/>
          </p:cNvSpPr>
          <p:nvPr/>
        </p:nvSpPr>
        <p:spPr bwMode="auto">
          <a:xfrm>
            <a:off x="3524240" y="5572140"/>
            <a:ext cx="8747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 dirty="0"/>
              <a:t>green1</a:t>
            </a:r>
          </a:p>
        </p:txBody>
      </p:sp>
      <p:sp>
        <p:nvSpPr>
          <p:cNvPr id="28690" name="Rectangle 18"/>
          <p:cNvSpPr>
            <a:spLocks noChangeArrowheads="1"/>
          </p:cNvSpPr>
          <p:nvPr/>
        </p:nvSpPr>
        <p:spPr bwMode="auto">
          <a:xfrm>
            <a:off x="2952736" y="2500306"/>
            <a:ext cx="5222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 dirty="0"/>
              <a:t>yr1</a:t>
            </a:r>
          </a:p>
        </p:txBody>
      </p:sp>
      <p:sp>
        <p:nvSpPr>
          <p:cNvPr id="28691" name="Rectangle 19"/>
          <p:cNvSpPr>
            <a:spLocks noChangeArrowheads="1"/>
          </p:cNvSpPr>
          <p:nvPr/>
        </p:nvSpPr>
        <p:spPr bwMode="auto">
          <a:xfrm>
            <a:off x="2952736" y="4500570"/>
            <a:ext cx="565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 dirty="0"/>
              <a:t>gy1</a:t>
            </a:r>
          </a:p>
        </p:txBody>
      </p:sp>
      <p:sp>
        <p:nvSpPr>
          <p:cNvPr id="28692" name="Line 20"/>
          <p:cNvSpPr>
            <a:spLocks noChangeShapeType="1"/>
          </p:cNvSpPr>
          <p:nvPr/>
        </p:nvSpPr>
        <p:spPr bwMode="auto">
          <a:xfrm flipH="1">
            <a:off x="2062149" y="1797036"/>
            <a:ext cx="944562" cy="165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8693" name="Line 21"/>
          <p:cNvSpPr>
            <a:spLocks noChangeShapeType="1"/>
          </p:cNvSpPr>
          <p:nvPr/>
        </p:nvSpPr>
        <p:spPr bwMode="auto">
          <a:xfrm>
            <a:off x="2062149" y="3956036"/>
            <a:ext cx="944562" cy="1587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8694" name="Rectangle 22"/>
          <p:cNvSpPr>
            <a:spLocks noChangeArrowheads="1"/>
          </p:cNvSpPr>
          <p:nvPr/>
        </p:nvSpPr>
        <p:spPr bwMode="auto">
          <a:xfrm>
            <a:off x="6372211" y="2444736"/>
            <a:ext cx="514350" cy="482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695" name="Oval 23"/>
          <p:cNvSpPr>
            <a:spLocks noChangeArrowheads="1"/>
          </p:cNvSpPr>
          <p:nvPr/>
        </p:nvSpPr>
        <p:spPr bwMode="auto">
          <a:xfrm>
            <a:off x="6372211" y="1428736"/>
            <a:ext cx="514350" cy="4826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696" name="Oval 24"/>
          <p:cNvSpPr>
            <a:spLocks noChangeArrowheads="1"/>
          </p:cNvSpPr>
          <p:nvPr/>
        </p:nvSpPr>
        <p:spPr bwMode="auto">
          <a:xfrm>
            <a:off x="6565886" y="1612886"/>
            <a:ext cx="123825" cy="1143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697" name="Rectangle 25"/>
          <p:cNvSpPr>
            <a:spLocks noChangeArrowheads="1"/>
          </p:cNvSpPr>
          <p:nvPr/>
        </p:nvSpPr>
        <p:spPr bwMode="auto">
          <a:xfrm flipH="1">
            <a:off x="7524768" y="3571876"/>
            <a:ext cx="5222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 dirty="0"/>
              <a:t>rg2</a:t>
            </a:r>
          </a:p>
        </p:txBody>
      </p:sp>
      <p:sp>
        <p:nvSpPr>
          <p:cNvPr id="28698" name="Rectangle 26"/>
          <p:cNvSpPr>
            <a:spLocks noChangeArrowheads="1"/>
          </p:cNvSpPr>
          <p:nvPr/>
        </p:nvSpPr>
        <p:spPr bwMode="auto">
          <a:xfrm flipH="1">
            <a:off x="7024702" y="1500174"/>
            <a:ext cx="63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 dirty="0"/>
              <a:t>red2</a:t>
            </a:r>
          </a:p>
        </p:txBody>
      </p:sp>
      <p:sp>
        <p:nvSpPr>
          <p:cNvPr id="28699" name="Line 27"/>
          <p:cNvSpPr>
            <a:spLocks noChangeShapeType="1"/>
          </p:cNvSpPr>
          <p:nvPr/>
        </p:nvSpPr>
        <p:spPr bwMode="auto">
          <a:xfrm flipV="1">
            <a:off x="6626211" y="2940036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8700" name="Line 28"/>
          <p:cNvSpPr>
            <a:spLocks noChangeShapeType="1"/>
          </p:cNvSpPr>
          <p:nvPr/>
        </p:nvSpPr>
        <p:spPr bwMode="auto">
          <a:xfrm flipV="1">
            <a:off x="6626211" y="1924036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8701" name="Rectangle 29"/>
          <p:cNvSpPr>
            <a:spLocks noChangeArrowheads="1"/>
          </p:cNvSpPr>
          <p:nvPr/>
        </p:nvSpPr>
        <p:spPr bwMode="auto">
          <a:xfrm>
            <a:off x="7521561" y="3460736"/>
            <a:ext cx="514350" cy="482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702" name="Rectangle 30"/>
          <p:cNvSpPr>
            <a:spLocks noChangeArrowheads="1"/>
          </p:cNvSpPr>
          <p:nvPr/>
        </p:nvSpPr>
        <p:spPr bwMode="auto">
          <a:xfrm>
            <a:off x="6372211" y="4476736"/>
            <a:ext cx="514350" cy="482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703" name="Oval 31"/>
          <p:cNvSpPr>
            <a:spLocks noChangeArrowheads="1"/>
          </p:cNvSpPr>
          <p:nvPr/>
        </p:nvSpPr>
        <p:spPr bwMode="auto">
          <a:xfrm>
            <a:off x="6372211" y="5492736"/>
            <a:ext cx="514350" cy="4826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704" name="Oval 32"/>
          <p:cNvSpPr>
            <a:spLocks noChangeArrowheads="1"/>
          </p:cNvSpPr>
          <p:nvPr/>
        </p:nvSpPr>
        <p:spPr bwMode="auto">
          <a:xfrm>
            <a:off x="6372211" y="3460736"/>
            <a:ext cx="514350" cy="4826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705" name="Line 33"/>
          <p:cNvSpPr>
            <a:spLocks noChangeShapeType="1"/>
          </p:cNvSpPr>
          <p:nvPr/>
        </p:nvSpPr>
        <p:spPr bwMode="auto">
          <a:xfrm flipV="1">
            <a:off x="6626211" y="3956036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8706" name="Line 34"/>
          <p:cNvSpPr>
            <a:spLocks noChangeShapeType="1"/>
          </p:cNvSpPr>
          <p:nvPr/>
        </p:nvSpPr>
        <p:spPr bwMode="auto">
          <a:xfrm flipV="1">
            <a:off x="6626211" y="4972036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8707" name="Rectangle 35"/>
          <p:cNvSpPr>
            <a:spLocks noChangeArrowheads="1"/>
          </p:cNvSpPr>
          <p:nvPr/>
        </p:nvSpPr>
        <p:spPr bwMode="auto">
          <a:xfrm flipH="1">
            <a:off x="5524504" y="3857628"/>
            <a:ext cx="10017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 dirty="0"/>
              <a:t>yellow2</a:t>
            </a:r>
          </a:p>
        </p:txBody>
      </p:sp>
      <p:sp>
        <p:nvSpPr>
          <p:cNvPr id="28708" name="Rectangle 36"/>
          <p:cNvSpPr>
            <a:spLocks noChangeArrowheads="1"/>
          </p:cNvSpPr>
          <p:nvPr/>
        </p:nvSpPr>
        <p:spPr bwMode="auto">
          <a:xfrm flipH="1">
            <a:off x="6953264" y="5572140"/>
            <a:ext cx="8747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 dirty="0"/>
              <a:t>green2</a:t>
            </a:r>
          </a:p>
        </p:txBody>
      </p:sp>
      <p:sp>
        <p:nvSpPr>
          <p:cNvPr id="28709" name="Rectangle 37"/>
          <p:cNvSpPr>
            <a:spLocks noChangeArrowheads="1"/>
          </p:cNvSpPr>
          <p:nvPr/>
        </p:nvSpPr>
        <p:spPr bwMode="auto">
          <a:xfrm flipH="1">
            <a:off x="6381760" y="2500306"/>
            <a:ext cx="5222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 dirty="0"/>
              <a:t>yr2</a:t>
            </a:r>
          </a:p>
        </p:txBody>
      </p:sp>
      <p:sp>
        <p:nvSpPr>
          <p:cNvPr id="28710" name="Rectangle 38"/>
          <p:cNvSpPr>
            <a:spLocks noChangeArrowheads="1"/>
          </p:cNvSpPr>
          <p:nvPr/>
        </p:nvSpPr>
        <p:spPr bwMode="auto">
          <a:xfrm flipH="1">
            <a:off x="6381760" y="4500570"/>
            <a:ext cx="565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 dirty="0"/>
              <a:t>gy2</a:t>
            </a:r>
          </a:p>
        </p:txBody>
      </p:sp>
      <p:sp>
        <p:nvSpPr>
          <p:cNvPr id="28711" name="Line 39"/>
          <p:cNvSpPr>
            <a:spLocks noChangeShapeType="1"/>
          </p:cNvSpPr>
          <p:nvPr/>
        </p:nvSpPr>
        <p:spPr bwMode="auto">
          <a:xfrm>
            <a:off x="6832586" y="1797036"/>
            <a:ext cx="944563" cy="165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8712" name="Line 40"/>
          <p:cNvSpPr>
            <a:spLocks noChangeShapeType="1"/>
          </p:cNvSpPr>
          <p:nvPr/>
        </p:nvSpPr>
        <p:spPr bwMode="auto">
          <a:xfrm flipH="1">
            <a:off x="6832586" y="3956036"/>
            <a:ext cx="944563" cy="1587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8713" name="Oval 41"/>
          <p:cNvSpPr>
            <a:spLocks noChangeArrowheads="1"/>
          </p:cNvSpPr>
          <p:nvPr/>
        </p:nvSpPr>
        <p:spPr bwMode="auto">
          <a:xfrm>
            <a:off x="4629136" y="2470136"/>
            <a:ext cx="514350" cy="4826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714" name="Line 42"/>
          <p:cNvSpPr>
            <a:spLocks noChangeShapeType="1"/>
          </p:cNvSpPr>
          <p:nvPr/>
        </p:nvSpPr>
        <p:spPr bwMode="auto">
          <a:xfrm flipH="1" flipV="1">
            <a:off x="2327261" y="3778236"/>
            <a:ext cx="2286000" cy="990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8715" name="Line 43"/>
          <p:cNvSpPr>
            <a:spLocks noChangeShapeType="1"/>
          </p:cNvSpPr>
          <p:nvPr/>
        </p:nvSpPr>
        <p:spPr bwMode="auto">
          <a:xfrm>
            <a:off x="3470261" y="2711436"/>
            <a:ext cx="1143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8716" name="Line 44"/>
          <p:cNvSpPr>
            <a:spLocks noChangeShapeType="1"/>
          </p:cNvSpPr>
          <p:nvPr/>
        </p:nvSpPr>
        <p:spPr bwMode="auto">
          <a:xfrm flipH="1">
            <a:off x="5146661" y="2711436"/>
            <a:ext cx="1219200" cy="205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8717" name="Line 45"/>
          <p:cNvSpPr>
            <a:spLocks noChangeShapeType="1"/>
          </p:cNvSpPr>
          <p:nvPr/>
        </p:nvSpPr>
        <p:spPr bwMode="auto">
          <a:xfrm>
            <a:off x="5146661" y="2787636"/>
            <a:ext cx="2362200" cy="762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8718" name="Oval 46"/>
          <p:cNvSpPr>
            <a:spLocks noChangeArrowheads="1"/>
          </p:cNvSpPr>
          <p:nvPr/>
        </p:nvSpPr>
        <p:spPr bwMode="auto">
          <a:xfrm>
            <a:off x="4825986" y="4737086"/>
            <a:ext cx="123825" cy="1143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719" name="Rectangle 47"/>
          <p:cNvSpPr>
            <a:spLocks noChangeArrowheads="1"/>
          </p:cNvSpPr>
          <p:nvPr/>
        </p:nvSpPr>
        <p:spPr bwMode="auto">
          <a:xfrm>
            <a:off x="4583099" y="2049449"/>
            <a:ext cx="7207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safe2</a:t>
            </a:r>
          </a:p>
        </p:txBody>
      </p:sp>
      <p:sp>
        <p:nvSpPr>
          <p:cNvPr id="28720" name="Oval 48"/>
          <p:cNvSpPr>
            <a:spLocks noChangeArrowheads="1"/>
          </p:cNvSpPr>
          <p:nvPr/>
        </p:nvSpPr>
        <p:spPr bwMode="auto">
          <a:xfrm>
            <a:off x="4629136" y="4502136"/>
            <a:ext cx="514350" cy="4826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721" name="Rectangle 49"/>
          <p:cNvSpPr>
            <a:spLocks noChangeArrowheads="1"/>
          </p:cNvSpPr>
          <p:nvPr/>
        </p:nvSpPr>
        <p:spPr bwMode="auto">
          <a:xfrm>
            <a:off x="4506899" y="4997436"/>
            <a:ext cx="7207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safe1</a:t>
            </a:r>
          </a:p>
        </p:txBody>
      </p:sp>
      <p:sp>
        <p:nvSpPr>
          <p:cNvPr id="52" name="Slide Number Placeholder 5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53" name="Footer Placeholder 5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452538" y="1357298"/>
            <a:ext cx="7215238" cy="51435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-1"/>
            <a:ext cx="9129682" cy="1578429"/>
          </a:xfrm>
          <a:ln/>
        </p:spPr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228601" y="1611079"/>
            <a:ext cx="9361713" cy="4659091"/>
          </a:xfrm>
          <a:noFill/>
          <a:ln/>
        </p:spPr>
        <p:txBody>
          <a:bodyPr>
            <a:noAutofit/>
          </a:bodyPr>
          <a:lstStyle/>
          <a:p>
            <a:r>
              <a:rPr lang="en-GB" sz="2800" dirty="0"/>
              <a:t>1) Can you </a:t>
            </a:r>
            <a:r>
              <a:rPr lang="en-GB" sz="2800" u="sng" dirty="0"/>
              <a:t>prove</a:t>
            </a:r>
            <a:r>
              <a:rPr lang="en-GB" sz="2800" dirty="0"/>
              <a:t> that the Petri net from the previous slide will never allow two red lights to be shown simultaneously?</a:t>
            </a:r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31" name="Footer Placeholder 3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COMP201 - Software Engineering</a:t>
            </a: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95300" y="475482"/>
            <a:ext cx="8997950" cy="1143000"/>
          </a:xfrm>
        </p:spPr>
        <p:txBody>
          <a:bodyPr/>
          <a:lstStyle/>
          <a:p>
            <a:pPr algn="ctr"/>
            <a:r>
              <a:rPr lang="en-GB" dirty="0"/>
              <a:t>Exercise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32124-345D-427F-AF27-E3DDA3ACDE22}" type="slidenum">
              <a:rPr lang="en-GB" smtClean="0"/>
              <a:pPr/>
              <a:t>21</a:t>
            </a:fld>
            <a:endParaRPr lang="en-GB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595282" y="0"/>
            <a:ext cx="8915400" cy="1500174"/>
          </a:xfrm>
          <a:ln/>
        </p:spPr>
        <p:txBody>
          <a:bodyPr/>
          <a:lstStyle/>
          <a:p>
            <a:r>
              <a:rPr lang="en-US" dirty="0"/>
              <a:t>Arcs in Petri Nets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391887" y="4800594"/>
            <a:ext cx="8665027" cy="1471634"/>
          </a:xfrm>
          <a:noFill/>
          <a:ln/>
        </p:spPr>
        <p:txBody>
          <a:bodyPr>
            <a:noAutofit/>
          </a:bodyPr>
          <a:lstStyle/>
          <a:p>
            <a:r>
              <a:rPr lang="en-GB" sz="2400" dirty="0"/>
              <a:t>The number of arcs between two objects specifies the number of tokens to be produced/consumed (we can alternatively represent this by writing a number next to a single arc).</a:t>
            </a:r>
          </a:p>
          <a:p>
            <a:r>
              <a:rPr lang="en-GB" sz="2400" dirty="0"/>
              <a:t>This can be used to model (</a:t>
            </a:r>
            <a:r>
              <a:rPr lang="en-GB" sz="2400" dirty="0" err="1"/>
              <a:t>dis</a:t>
            </a:r>
            <a:r>
              <a:rPr lang="en-GB" sz="2400" dirty="0"/>
              <a:t>)assembly processes.</a:t>
            </a: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5927725" y="2876542"/>
            <a:ext cx="7334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black</a:t>
            </a:r>
          </a:p>
        </p:txBody>
      </p:sp>
      <p:sp>
        <p:nvSpPr>
          <p:cNvPr id="32773" name="Line 5"/>
          <p:cNvSpPr>
            <a:spLocks noChangeShapeType="1"/>
          </p:cNvSpPr>
          <p:nvPr/>
        </p:nvSpPr>
        <p:spPr bwMode="auto">
          <a:xfrm flipH="1" flipV="1">
            <a:off x="4953000" y="2214554"/>
            <a:ext cx="5334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2774" name="Line 6"/>
          <p:cNvSpPr>
            <a:spLocks noChangeShapeType="1"/>
          </p:cNvSpPr>
          <p:nvPr/>
        </p:nvSpPr>
        <p:spPr bwMode="auto">
          <a:xfrm>
            <a:off x="3657600" y="3357554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2775" name="Rectangle 7"/>
          <p:cNvSpPr>
            <a:spLocks noChangeArrowheads="1"/>
          </p:cNvSpPr>
          <p:nvPr/>
        </p:nvSpPr>
        <p:spPr bwMode="auto">
          <a:xfrm>
            <a:off x="3441700" y="3979854"/>
            <a:ext cx="584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2776" name="Rectangle 8"/>
          <p:cNvSpPr>
            <a:spLocks noChangeArrowheads="1"/>
          </p:cNvSpPr>
          <p:nvPr/>
        </p:nvSpPr>
        <p:spPr bwMode="auto">
          <a:xfrm>
            <a:off x="5270500" y="3979854"/>
            <a:ext cx="584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4356100" y="1846254"/>
            <a:ext cx="584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2778" name="Line 10"/>
          <p:cNvSpPr>
            <a:spLocks noChangeShapeType="1"/>
          </p:cNvSpPr>
          <p:nvPr/>
        </p:nvSpPr>
        <p:spPr bwMode="auto">
          <a:xfrm flipV="1">
            <a:off x="3810000" y="2290754"/>
            <a:ext cx="5334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2779" name="Oval 11"/>
          <p:cNvSpPr>
            <a:spLocks noChangeArrowheads="1"/>
          </p:cNvSpPr>
          <p:nvPr/>
        </p:nvSpPr>
        <p:spPr bwMode="auto">
          <a:xfrm>
            <a:off x="5270500" y="2760654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2780" name="Oval 12"/>
          <p:cNvSpPr>
            <a:spLocks noChangeArrowheads="1"/>
          </p:cNvSpPr>
          <p:nvPr/>
        </p:nvSpPr>
        <p:spPr bwMode="auto">
          <a:xfrm>
            <a:off x="3441700" y="2760654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2781" name="Line 13"/>
          <p:cNvSpPr>
            <a:spLocks noChangeShapeType="1"/>
          </p:cNvSpPr>
          <p:nvPr/>
        </p:nvSpPr>
        <p:spPr bwMode="auto">
          <a:xfrm flipH="1">
            <a:off x="3962400" y="2443154"/>
            <a:ext cx="5334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2782" name="Rectangle 14"/>
          <p:cNvSpPr>
            <a:spLocks noChangeArrowheads="1"/>
          </p:cNvSpPr>
          <p:nvPr/>
        </p:nvSpPr>
        <p:spPr bwMode="auto">
          <a:xfrm>
            <a:off x="2879725" y="2876542"/>
            <a:ext cx="508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red</a:t>
            </a:r>
          </a:p>
        </p:txBody>
      </p:sp>
      <p:sp>
        <p:nvSpPr>
          <p:cNvPr id="32783" name="Line 15"/>
          <p:cNvSpPr>
            <a:spLocks noChangeShapeType="1"/>
          </p:cNvSpPr>
          <p:nvPr/>
        </p:nvSpPr>
        <p:spPr bwMode="auto">
          <a:xfrm flipV="1">
            <a:off x="4038600" y="3205154"/>
            <a:ext cx="129540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2784" name="Rectangle 16"/>
          <p:cNvSpPr>
            <a:spLocks noChangeArrowheads="1"/>
          </p:cNvSpPr>
          <p:nvPr/>
        </p:nvSpPr>
        <p:spPr bwMode="auto">
          <a:xfrm>
            <a:off x="5318125" y="4095742"/>
            <a:ext cx="438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bb</a:t>
            </a:r>
          </a:p>
        </p:txBody>
      </p:sp>
      <p:sp>
        <p:nvSpPr>
          <p:cNvPr id="32785" name="Line 17"/>
          <p:cNvSpPr>
            <a:spLocks noChangeShapeType="1"/>
          </p:cNvSpPr>
          <p:nvPr/>
        </p:nvSpPr>
        <p:spPr bwMode="auto">
          <a:xfrm>
            <a:off x="3810000" y="3357554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2786" name="Line 18"/>
          <p:cNvSpPr>
            <a:spLocks noChangeShapeType="1"/>
          </p:cNvSpPr>
          <p:nvPr/>
        </p:nvSpPr>
        <p:spPr bwMode="auto">
          <a:xfrm>
            <a:off x="5562600" y="3357554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2787" name="Line 19"/>
          <p:cNvSpPr>
            <a:spLocks noChangeShapeType="1"/>
          </p:cNvSpPr>
          <p:nvPr/>
        </p:nvSpPr>
        <p:spPr bwMode="auto">
          <a:xfrm>
            <a:off x="5410200" y="3281354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2788" name="Line 20"/>
          <p:cNvSpPr>
            <a:spLocks noChangeShapeType="1"/>
          </p:cNvSpPr>
          <p:nvPr/>
        </p:nvSpPr>
        <p:spPr bwMode="auto">
          <a:xfrm flipV="1">
            <a:off x="5715000" y="3281354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2789" name="Rectangle 21"/>
          <p:cNvSpPr>
            <a:spLocks noChangeArrowheads="1"/>
          </p:cNvSpPr>
          <p:nvPr/>
        </p:nvSpPr>
        <p:spPr bwMode="auto">
          <a:xfrm>
            <a:off x="3489325" y="4095742"/>
            <a:ext cx="3540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rr</a:t>
            </a:r>
          </a:p>
        </p:txBody>
      </p:sp>
      <p:sp>
        <p:nvSpPr>
          <p:cNvPr id="32790" name="Rectangle 22"/>
          <p:cNvSpPr>
            <a:spLocks noChangeArrowheads="1"/>
          </p:cNvSpPr>
          <p:nvPr/>
        </p:nvSpPr>
        <p:spPr bwMode="auto">
          <a:xfrm>
            <a:off x="4403725" y="1962142"/>
            <a:ext cx="3952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br</a:t>
            </a:r>
          </a:p>
        </p:txBody>
      </p:sp>
      <p:sp>
        <p:nvSpPr>
          <p:cNvPr id="32791" name="Oval 23"/>
          <p:cNvSpPr>
            <a:spLocks noChangeArrowheads="1"/>
          </p:cNvSpPr>
          <p:nvPr/>
        </p:nvSpPr>
        <p:spPr bwMode="auto">
          <a:xfrm>
            <a:off x="3663950" y="3135304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2792" name="Oval 24"/>
          <p:cNvSpPr>
            <a:spLocks noChangeArrowheads="1"/>
          </p:cNvSpPr>
          <p:nvPr/>
        </p:nvSpPr>
        <p:spPr bwMode="auto">
          <a:xfrm>
            <a:off x="5568950" y="3059104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2793" name="Oval 25"/>
          <p:cNvSpPr>
            <a:spLocks noChangeArrowheads="1"/>
          </p:cNvSpPr>
          <p:nvPr/>
        </p:nvSpPr>
        <p:spPr bwMode="auto">
          <a:xfrm>
            <a:off x="5416550" y="2906704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2794" name="Oval 26"/>
          <p:cNvSpPr>
            <a:spLocks noChangeArrowheads="1"/>
          </p:cNvSpPr>
          <p:nvPr/>
        </p:nvSpPr>
        <p:spPr bwMode="auto">
          <a:xfrm>
            <a:off x="3587750" y="2906704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2795" name="Oval 27"/>
          <p:cNvSpPr>
            <a:spLocks noChangeArrowheads="1"/>
          </p:cNvSpPr>
          <p:nvPr/>
        </p:nvSpPr>
        <p:spPr bwMode="auto">
          <a:xfrm>
            <a:off x="3816350" y="2906704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31" name="Footer Placeholder 3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>
          <a:xfrm>
            <a:off x="795338" y="428605"/>
            <a:ext cx="8443942" cy="928693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Some Definitions</a:t>
            </a:r>
          </a:p>
        </p:txBody>
      </p:sp>
      <p:sp>
        <p:nvSpPr>
          <p:cNvPr id="34818" name="Rectangle 2"/>
          <p:cNvSpPr>
            <a:spLocks noGrp="1" noChangeArrowheads="1"/>
          </p:cNvSpPr>
          <p:nvPr>
            <p:ph idx="1"/>
          </p:nvPr>
        </p:nvSpPr>
        <p:spPr>
          <a:xfrm>
            <a:off x="388452" y="1353899"/>
            <a:ext cx="8592261" cy="2857520"/>
          </a:xfrm>
          <a:noFill/>
          <a:ln/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>
                <a:solidFill>
                  <a:schemeClr val="accent3"/>
                </a:solidFill>
              </a:rPr>
              <a:t>Current state (</a:t>
            </a:r>
            <a:r>
              <a:rPr lang="en-GB" sz="2400" dirty="0"/>
              <a:t>also called current </a:t>
            </a:r>
            <a:r>
              <a:rPr lang="en-GB" sz="2400" u="sng" dirty="0"/>
              <a:t>marking</a:t>
            </a:r>
            <a:r>
              <a:rPr lang="en-GB" sz="2400" dirty="0">
                <a:solidFill>
                  <a:schemeClr val="accent3"/>
                </a:solidFill>
              </a:rPr>
              <a:t>) </a:t>
            </a:r>
            <a:r>
              <a:rPr lang="en-GB" sz="2400" dirty="0"/>
              <a:t>- The configuration of tokens over the places.</a:t>
            </a:r>
          </a:p>
          <a:p>
            <a:pPr>
              <a:lnSpc>
                <a:spcPct val="120000"/>
              </a:lnSpc>
            </a:pPr>
            <a:r>
              <a:rPr lang="en-GB" sz="2400" dirty="0">
                <a:solidFill>
                  <a:schemeClr val="accent3"/>
                </a:solidFill>
              </a:rPr>
              <a:t>Reachable state </a:t>
            </a:r>
            <a:r>
              <a:rPr lang="en-GB" sz="2400" dirty="0"/>
              <a:t>- A state reachable form the current state by firing a sequence of enabled transitions.</a:t>
            </a:r>
          </a:p>
          <a:p>
            <a:pPr>
              <a:lnSpc>
                <a:spcPct val="120000"/>
              </a:lnSpc>
            </a:pPr>
            <a:r>
              <a:rPr lang="en-GB" sz="2400" dirty="0">
                <a:solidFill>
                  <a:schemeClr val="accent3"/>
                </a:solidFill>
              </a:rPr>
              <a:t>Deadlock state </a:t>
            </a:r>
            <a:r>
              <a:rPr lang="en-GB" sz="2400" dirty="0"/>
              <a:t>- A state where no transition is enabled.</a:t>
            </a:r>
          </a:p>
          <a:p>
            <a:pPr>
              <a:lnSpc>
                <a:spcPct val="120000"/>
              </a:lnSpc>
              <a:buFontTx/>
              <a:buNone/>
            </a:pPr>
            <a:endParaRPr lang="en-GB" sz="1400" dirty="0"/>
          </a:p>
          <a:p>
            <a:pPr>
              <a:lnSpc>
                <a:spcPct val="120000"/>
              </a:lnSpc>
              <a:buFontTx/>
              <a:buNone/>
            </a:pPr>
            <a:endParaRPr lang="en-GB" sz="1400" dirty="0"/>
          </a:p>
          <a:p>
            <a:pPr>
              <a:lnSpc>
                <a:spcPct val="120000"/>
              </a:lnSpc>
              <a:buFontTx/>
              <a:buNone/>
            </a:pPr>
            <a:r>
              <a:rPr lang="en-GB" sz="1400" dirty="0"/>
              <a:t> </a:t>
            </a:r>
          </a:p>
        </p:txBody>
      </p:sp>
      <p:grpSp>
        <p:nvGrpSpPr>
          <p:cNvPr id="34844" name="Group 28"/>
          <p:cNvGrpSpPr>
            <a:grpSpLocks/>
          </p:cNvGrpSpPr>
          <p:nvPr/>
        </p:nvGrpSpPr>
        <p:grpSpPr bwMode="auto">
          <a:xfrm>
            <a:off x="5310190" y="3828376"/>
            <a:ext cx="3781425" cy="2717800"/>
            <a:chOff x="3110" y="2264"/>
            <a:chExt cx="2382" cy="1712"/>
          </a:xfrm>
        </p:grpSpPr>
        <p:sp>
          <p:nvSpPr>
            <p:cNvPr id="34820" name="Rectangle 4"/>
            <p:cNvSpPr>
              <a:spLocks noChangeArrowheads="1"/>
            </p:cNvSpPr>
            <p:nvPr/>
          </p:nvSpPr>
          <p:spPr bwMode="auto">
            <a:xfrm>
              <a:off x="5030" y="2913"/>
              <a:ext cx="46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/>
                <a:t>black</a:t>
              </a:r>
            </a:p>
          </p:txBody>
        </p:sp>
        <p:sp>
          <p:nvSpPr>
            <p:cNvPr id="34821" name="Line 5"/>
            <p:cNvSpPr>
              <a:spLocks noChangeShapeType="1"/>
            </p:cNvSpPr>
            <p:nvPr/>
          </p:nvSpPr>
          <p:spPr bwMode="auto">
            <a:xfrm flipH="1" flipV="1">
              <a:off x="4416" y="2496"/>
              <a:ext cx="336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4822" name="Line 6"/>
            <p:cNvSpPr>
              <a:spLocks noChangeShapeType="1"/>
            </p:cNvSpPr>
            <p:nvPr/>
          </p:nvSpPr>
          <p:spPr bwMode="auto">
            <a:xfrm>
              <a:off x="3600" y="3216"/>
              <a:ext cx="0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4823" name="Rectangle 7"/>
            <p:cNvSpPr>
              <a:spLocks noChangeArrowheads="1"/>
            </p:cNvSpPr>
            <p:nvPr/>
          </p:nvSpPr>
          <p:spPr bwMode="auto">
            <a:xfrm>
              <a:off x="3464" y="3608"/>
              <a:ext cx="368" cy="36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4824" name="Rectangle 8"/>
            <p:cNvSpPr>
              <a:spLocks noChangeArrowheads="1"/>
            </p:cNvSpPr>
            <p:nvPr/>
          </p:nvSpPr>
          <p:spPr bwMode="auto">
            <a:xfrm>
              <a:off x="4616" y="3608"/>
              <a:ext cx="368" cy="36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4825" name="Rectangle 9"/>
            <p:cNvSpPr>
              <a:spLocks noChangeArrowheads="1"/>
            </p:cNvSpPr>
            <p:nvPr/>
          </p:nvSpPr>
          <p:spPr bwMode="auto">
            <a:xfrm>
              <a:off x="4040" y="2264"/>
              <a:ext cx="368" cy="36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4826" name="Line 10"/>
            <p:cNvSpPr>
              <a:spLocks noChangeShapeType="1"/>
            </p:cNvSpPr>
            <p:nvPr/>
          </p:nvSpPr>
          <p:spPr bwMode="auto">
            <a:xfrm flipV="1">
              <a:off x="3696" y="2544"/>
              <a:ext cx="336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4827" name="Oval 11"/>
            <p:cNvSpPr>
              <a:spLocks noChangeArrowheads="1"/>
            </p:cNvSpPr>
            <p:nvPr/>
          </p:nvSpPr>
          <p:spPr bwMode="auto">
            <a:xfrm>
              <a:off x="4616" y="2840"/>
              <a:ext cx="368" cy="3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4828" name="Oval 12"/>
            <p:cNvSpPr>
              <a:spLocks noChangeArrowheads="1"/>
            </p:cNvSpPr>
            <p:nvPr/>
          </p:nvSpPr>
          <p:spPr bwMode="auto">
            <a:xfrm>
              <a:off x="3464" y="2840"/>
              <a:ext cx="368" cy="3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4829" name="Line 13"/>
            <p:cNvSpPr>
              <a:spLocks noChangeShapeType="1"/>
            </p:cNvSpPr>
            <p:nvPr/>
          </p:nvSpPr>
          <p:spPr bwMode="auto">
            <a:xfrm flipH="1">
              <a:off x="3792" y="2640"/>
              <a:ext cx="336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4830" name="Rectangle 14"/>
            <p:cNvSpPr>
              <a:spLocks noChangeArrowheads="1"/>
            </p:cNvSpPr>
            <p:nvPr/>
          </p:nvSpPr>
          <p:spPr bwMode="auto">
            <a:xfrm>
              <a:off x="3110" y="2913"/>
              <a:ext cx="3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/>
                <a:t>red</a:t>
              </a:r>
            </a:p>
          </p:txBody>
        </p:sp>
        <p:sp>
          <p:nvSpPr>
            <p:cNvPr id="34831" name="Line 15"/>
            <p:cNvSpPr>
              <a:spLocks noChangeShapeType="1"/>
            </p:cNvSpPr>
            <p:nvPr/>
          </p:nvSpPr>
          <p:spPr bwMode="auto">
            <a:xfrm flipV="1">
              <a:off x="3840" y="3120"/>
              <a:ext cx="816" cy="5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4832" name="Rectangle 16"/>
            <p:cNvSpPr>
              <a:spLocks noChangeArrowheads="1"/>
            </p:cNvSpPr>
            <p:nvPr/>
          </p:nvSpPr>
          <p:spPr bwMode="auto">
            <a:xfrm>
              <a:off x="4646" y="3681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/>
                <a:t>bb</a:t>
              </a:r>
            </a:p>
          </p:txBody>
        </p:sp>
        <p:sp>
          <p:nvSpPr>
            <p:cNvPr id="34833" name="Line 17"/>
            <p:cNvSpPr>
              <a:spLocks noChangeShapeType="1"/>
            </p:cNvSpPr>
            <p:nvPr/>
          </p:nvSpPr>
          <p:spPr bwMode="auto">
            <a:xfrm>
              <a:off x="3696" y="3216"/>
              <a:ext cx="0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4834" name="Line 18"/>
            <p:cNvSpPr>
              <a:spLocks noChangeShapeType="1"/>
            </p:cNvSpPr>
            <p:nvPr/>
          </p:nvSpPr>
          <p:spPr bwMode="auto">
            <a:xfrm>
              <a:off x="4800" y="3216"/>
              <a:ext cx="0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4835" name="Line 19"/>
            <p:cNvSpPr>
              <a:spLocks noChangeShapeType="1"/>
            </p:cNvSpPr>
            <p:nvPr/>
          </p:nvSpPr>
          <p:spPr bwMode="auto">
            <a:xfrm>
              <a:off x="4704" y="3168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4836" name="Line 20"/>
            <p:cNvSpPr>
              <a:spLocks noChangeShapeType="1"/>
            </p:cNvSpPr>
            <p:nvPr/>
          </p:nvSpPr>
          <p:spPr bwMode="auto">
            <a:xfrm flipV="1">
              <a:off x="4896" y="3168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4837" name="Rectangle 21"/>
            <p:cNvSpPr>
              <a:spLocks noChangeArrowheads="1"/>
            </p:cNvSpPr>
            <p:nvPr/>
          </p:nvSpPr>
          <p:spPr bwMode="auto">
            <a:xfrm>
              <a:off x="3494" y="3681"/>
              <a:ext cx="22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/>
                <a:t>rr</a:t>
              </a:r>
            </a:p>
          </p:txBody>
        </p:sp>
        <p:sp>
          <p:nvSpPr>
            <p:cNvPr id="34838" name="Rectangle 22"/>
            <p:cNvSpPr>
              <a:spLocks noChangeArrowheads="1"/>
            </p:cNvSpPr>
            <p:nvPr/>
          </p:nvSpPr>
          <p:spPr bwMode="auto">
            <a:xfrm>
              <a:off x="4070" y="2337"/>
              <a:ext cx="24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/>
                <a:t>br</a:t>
              </a:r>
            </a:p>
          </p:txBody>
        </p:sp>
        <p:sp>
          <p:nvSpPr>
            <p:cNvPr id="34839" name="Oval 23"/>
            <p:cNvSpPr>
              <a:spLocks noChangeArrowheads="1"/>
            </p:cNvSpPr>
            <p:nvPr/>
          </p:nvSpPr>
          <p:spPr bwMode="auto">
            <a:xfrm>
              <a:off x="3604" y="3076"/>
              <a:ext cx="88" cy="88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4840" name="Oval 24"/>
            <p:cNvSpPr>
              <a:spLocks noChangeArrowheads="1"/>
            </p:cNvSpPr>
            <p:nvPr/>
          </p:nvSpPr>
          <p:spPr bwMode="auto">
            <a:xfrm>
              <a:off x="4804" y="3028"/>
              <a:ext cx="88" cy="88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4841" name="Oval 25"/>
            <p:cNvSpPr>
              <a:spLocks noChangeArrowheads="1"/>
            </p:cNvSpPr>
            <p:nvPr/>
          </p:nvSpPr>
          <p:spPr bwMode="auto">
            <a:xfrm>
              <a:off x="4708" y="2932"/>
              <a:ext cx="88" cy="88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4842" name="Oval 26"/>
            <p:cNvSpPr>
              <a:spLocks noChangeArrowheads="1"/>
            </p:cNvSpPr>
            <p:nvPr/>
          </p:nvSpPr>
          <p:spPr bwMode="auto">
            <a:xfrm>
              <a:off x="3556" y="2932"/>
              <a:ext cx="88" cy="88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4843" name="Oval 27"/>
            <p:cNvSpPr>
              <a:spLocks noChangeArrowheads="1"/>
            </p:cNvSpPr>
            <p:nvPr/>
          </p:nvSpPr>
          <p:spPr bwMode="auto">
            <a:xfrm>
              <a:off x="3700" y="2932"/>
              <a:ext cx="88" cy="88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>
          <a:xfrm>
            <a:off x="8585200" y="6389009"/>
            <a:ext cx="825500" cy="365125"/>
          </a:xfrm>
        </p:spPr>
        <p:txBody>
          <a:bodyPr/>
          <a:lstStyle/>
          <a:p>
            <a:fld id="{A50E0B5A-3BDD-4BFF-B22C-E8EB0A281B31}" type="slidenum">
              <a:rPr lang="en-GB" smtClean="0"/>
              <a:pPr/>
              <a:t>23</a:t>
            </a:fld>
            <a:endParaRPr lang="en-GB" dirty="0"/>
          </a:p>
        </p:txBody>
      </p:sp>
      <p:sp>
        <p:nvSpPr>
          <p:cNvPr id="32" name="Footer Placeholder 31"/>
          <p:cNvSpPr>
            <a:spLocks noGrp="1"/>
          </p:cNvSpPr>
          <p:nvPr>
            <p:ph type="ftr" sz="quarter" idx="11"/>
          </p:nvPr>
        </p:nvSpPr>
        <p:spPr>
          <a:xfrm>
            <a:off x="2867478" y="6345465"/>
            <a:ext cx="3632200" cy="365125"/>
          </a:xfrm>
        </p:spPr>
        <p:txBody>
          <a:bodyPr/>
          <a:lstStyle/>
          <a:p>
            <a:r>
              <a:rPr lang="en-GB"/>
              <a:t>COMP201 - Software Engineering</a:t>
            </a:r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>
          <a:xfrm>
            <a:off x="795338" y="428605"/>
            <a:ext cx="8443942" cy="928693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Some Definitions</a:t>
            </a:r>
          </a:p>
        </p:txBody>
      </p:sp>
      <p:sp>
        <p:nvSpPr>
          <p:cNvPr id="34818" name="Rectangle 2"/>
          <p:cNvSpPr>
            <a:spLocks noGrp="1" noChangeArrowheads="1"/>
          </p:cNvSpPr>
          <p:nvPr>
            <p:ph idx="1"/>
          </p:nvPr>
        </p:nvSpPr>
        <p:spPr>
          <a:xfrm>
            <a:off x="595281" y="1571612"/>
            <a:ext cx="8592261" cy="2857520"/>
          </a:xfrm>
          <a:noFill/>
          <a:ln/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If we write the places in some fixed order (red, black say), then we can use a </a:t>
            </a:r>
            <a:r>
              <a:rPr lang="en-GB" sz="2400" dirty="0" err="1"/>
              <a:t>tuple</a:t>
            </a:r>
            <a:r>
              <a:rPr lang="en-GB" sz="2400" dirty="0"/>
              <a:t>: (</a:t>
            </a:r>
            <a:r>
              <a:rPr lang="en-GB" sz="2400" dirty="0" err="1"/>
              <a:t>n,m</a:t>
            </a:r>
            <a:r>
              <a:rPr lang="en-GB" sz="2400" dirty="0"/>
              <a:t>) to denote the number of tokens in each corresponding place (n tokens in “red” and m tokens in “black”).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The example below is thus in state (3,2). After firing transition “</a:t>
            </a:r>
            <a:r>
              <a:rPr lang="en-GB" sz="2400" dirty="0" err="1"/>
              <a:t>rr</a:t>
            </a:r>
            <a:r>
              <a:rPr lang="en-GB" sz="2400" dirty="0"/>
              <a:t>”, it will move to state (1,3) etc..</a:t>
            </a:r>
          </a:p>
          <a:p>
            <a:pPr>
              <a:lnSpc>
                <a:spcPct val="120000"/>
              </a:lnSpc>
              <a:buFontTx/>
              <a:buNone/>
            </a:pPr>
            <a:endParaRPr lang="en-GB" sz="1400" dirty="0"/>
          </a:p>
          <a:p>
            <a:pPr>
              <a:lnSpc>
                <a:spcPct val="120000"/>
              </a:lnSpc>
              <a:buFontTx/>
              <a:buNone/>
            </a:pPr>
            <a:endParaRPr lang="en-GB" sz="1400" dirty="0"/>
          </a:p>
          <a:p>
            <a:pPr>
              <a:lnSpc>
                <a:spcPct val="120000"/>
              </a:lnSpc>
              <a:buFontTx/>
              <a:buNone/>
            </a:pPr>
            <a:r>
              <a:rPr lang="en-GB" sz="1400" dirty="0"/>
              <a:t> </a:t>
            </a:r>
          </a:p>
        </p:txBody>
      </p: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5310190" y="3643314"/>
            <a:ext cx="3781425" cy="2717800"/>
            <a:chOff x="3110" y="2264"/>
            <a:chExt cx="2382" cy="1712"/>
          </a:xfrm>
        </p:grpSpPr>
        <p:sp>
          <p:nvSpPr>
            <p:cNvPr id="34820" name="Rectangle 4"/>
            <p:cNvSpPr>
              <a:spLocks noChangeArrowheads="1"/>
            </p:cNvSpPr>
            <p:nvPr/>
          </p:nvSpPr>
          <p:spPr bwMode="auto">
            <a:xfrm>
              <a:off x="5030" y="2913"/>
              <a:ext cx="46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/>
                <a:t>black</a:t>
              </a:r>
            </a:p>
          </p:txBody>
        </p:sp>
        <p:sp>
          <p:nvSpPr>
            <p:cNvPr id="34821" name="Line 5"/>
            <p:cNvSpPr>
              <a:spLocks noChangeShapeType="1"/>
            </p:cNvSpPr>
            <p:nvPr/>
          </p:nvSpPr>
          <p:spPr bwMode="auto">
            <a:xfrm flipH="1" flipV="1">
              <a:off x="4416" y="2496"/>
              <a:ext cx="336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4822" name="Line 6"/>
            <p:cNvSpPr>
              <a:spLocks noChangeShapeType="1"/>
            </p:cNvSpPr>
            <p:nvPr/>
          </p:nvSpPr>
          <p:spPr bwMode="auto">
            <a:xfrm>
              <a:off x="3600" y="3216"/>
              <a:ext cx="0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4823" name="Rectangle 7"/>
            <p:cNvSpPr>
              <a:spLocks noChangeArrowheads="1"/>
            </p:cNvSpPr>
            <p:nvPr/>
          </p:nvSpPr>
          <p:spPr bwMode="auto">
            <a:xfrm>
              <a:off x="3464" y="3608"/>
              <a:ext cx="368" cy="36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4824" name="Rectangle 8"/>
            <p:cNvSpPr>
              <a:spLocks noChangeArrowheads="1"/>
            </p:cNvSpPr>
            <p:nvPr/>
          </p:nvSpPr>
          <p:spPr bwMode="auto">
            <a:xfrm>
              <a:off x="4616" y="3608"/>
              <a:ext cx="368" cy="36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4825" name="Rectangle 9"/>
            <p:cNvSpPr>
              <a:spLocks noChangeArrowheads="1"/>
            </p:cNvSpPr>
            <p:nvPr/>
          </p:nvSpPr>
          <p:spPr bwMode="auto">
            <a:xfrm>
              <a:off x="4040" y="2264"/>
              <a:ext cx="368" cy="36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4826" name="Line 10"/>
            <p:cNvSpPr>
              <a:spLocks noChangeShapeType="1"/>
            </p:cNvSpPr>
            <p:nvPr/>
          </p:nvSpPr>
          <p:spPr bwMode="auto">
            <a:xfrm flipV="1">
              <a:off x="3696" y="2544"/>
              <a:ext cx="336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4827" name="Oval 11"/>
            <p:cNvSpPr>
              <a:spLocks noChangeArrowheads="1"/>
            </p:cNvSpPr>
            <p:nvPr/>
          </p:nvSpPr>
          <p:spPr bwMode="auto">
            <a:xfrm>
              <a:off x="4616" y="2840"/>
              <a:ext cx="368" cy="3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4828" name="Oval 12"/>
            <p:cNvSpPr>
              <a:spLocks noChangeArrowheads="1"/>
            </p:cNvSpPr>
            <p:nvPr/>
          </p:nvSpPr>
          <p:spPr bwMode="auto">
            <a:xfrm>
              <a:off x="3464" y="2840"/>
              <a:ext cx="368" cy="3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4829" name="Line 13"/>
            <p:cNvSpPr>
              <a:spLocks noChangeShapeType="1"/>
            </p:cNvSpPr>
            <p:nvPr/>
          </p:nvSpPr>
          <p:spPr bwMode="auto">
            <a:xfrm flipH="1">
              <a:off x="3792" y="2640"/>
              <a:ext cx="336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4830" name="Rectangle 14"/>
            <p:cNvSpPr>
              <a:spLocks noChangeArrowheads="1"/>
            </p:cNvSpPr>
            <p:nvPr/>
          </p:nvSpPr>
          <p:spPr bwMode="auto">
            <a:xfrm>
              <a:off x="3110" y="2913"/>
              <a:ext cx="3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/>
                <a:t>red</a:t>
              </a:r>
            </a:p>
          </p:txBody>
        </p:sp>
        <p:sp>
          <p:nvSpPr>
            <p:cNvPr id="34831" name="Line 15"/>
            <p:cNvSpPr>
              <a:spLocks noChangeShapeType="1"/>
            </p:cNvSpPr>
            <p:nvPr/>
          </p:nvSpPr>
          <p:spPr bwMode="auto">
            <a:xfrm flipV="1">
              <a:off x="3840" y="3120"/>
              <a:ext cx="816" cy="5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4832" name="Rectangle 16"/>
            <p:cNvSpPr>
              <a:spLocks noChangeArrowheads="1"/>
            </p:cNvSpPr>
            <p:nvPr/>
          </p:nvSpPr>
          <p:spPr bwMode="auto">
            <a:xfrm>
              <a:off x="4646" y="3681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/>
                <a:t>bb</a:t>
              </a:r>
            </a:p>
          </p:txBody>
        </p:sp>
        <p:sp>
          <p:nvSpPr>
            <p:cNvPr id="34833" name="Line 17"/>
            <p:cNvSpPr>
              <a:spLocks noChangeShapeType="1"/>
            </p:cNvSpPr>
            <p:nvPr/>
          </p:nvSpPr>
          <p:spPr bwMode="auto">
            <a:xfrm>
              <a:off x="3696" y="3216"/>
              <a:ext cx="0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4834" name="Line 18"/>
            <p:cNvSpPr>
              <a:spLocks noChangeShapeType="1"/>
            </p:cNvSpPr>
            <p:nvPr/>
          </p:nvSpPr>
          <p:spPr bwMode="auto">
            <a:xfrm>
              <a:off x="4800" y="3216"/>
              <a:ext cx="0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4835" name="Line 19"/>
            <p:cNvSpPr>
              <a:spLocks noChangeShapeType="1"/>
            </p:cNvSpPr>
            <p:nvPr/>
          </p:nvSpPr>
          <p:spPr bwMode="auto">
            <a:xfrm>
              <a:off x="4704" y="3168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4836" name="Line 20"/>
            <p:cNvSpPr>
              <a:spLocks noChangeShapeType="1"/>
            </p:cNvSpPr>
            <p:nvPr/>
          </p:nvSpPr>
          <p:spPr bwMode="auto">
            <a:xfrm flipV="1">
              <a:off x="4896" y="3168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4837" name="Rectangle 21"/>
            <p:cNvSpPr>
              <a:spLocks noChangeArrowheads="1"/>
            </p:cNvSpPr>
            <p:nvPr/>
          </p:nvSpPr>
          <p:spPr bwMode="auto">
            <a:xfrm>
              <a:off x="3494" y="3681"/>
              <a:ext cx="22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/>
                <a:t>rr</a:t>
              </a:r>
            </a:p>
          </p:txBody>
        </p:sp>
        <p:sp>
          <p:nvSpPr>
            <p:cNvPr id="34838" name="Rectangle 22"/>
            <p:cNvSpPr>
              <a:spLocks noChangeArrowheads="1"/>
            </p:cNvSpPr>
            <p:nvPr/>
          </p:nvSpPr>
          <p:spPr bwMode="auto">
            <a:xfrm>
              <a:off x="4070" y="2337"/>
              <a:ext cx="24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/>
                <a:t>br</a:t>
              </a:r>
            </a:p>
          </p:txBody>
        </p:sp>
        <p:sp>
          <p:nvSpPr>
            <p:cNvPr id="34839" name="Oval 23"/>
            <p:cNvSpPr>
              <a:spLocks noChangeArrowheads="1"/>
            </p:cNvSpPr>
            <p:nvPr/>
          </p:nvSpPr>
          <p:spPr bwMode="auto">
            <a:xfrm>
              <a:off x="3604" y="3076"/>
              <a:ext cx="88" cy="88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4840" name="Oval 24"/>
            <p:cNvSpPr>
              <a:spLocks noChangeArrowheads="1"/>
            </p:cNvSpPr>
            <p:nvPr/>
          </p:nvSpPr>
          <p:spPr bwMode="auto">
            <a:xfrm>
              <a:off x="4804" y="3028"/>
              <a:ext cx="88" cy="88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4841" name="Oval 25"/>
            <p:cNvSpPr>
              <a:spLocks noChangeArrowheads="1"/>
            </p:cNvSpPr>
            <p:nvPr/>
          </p:nvSpPr>
          <p:spPr bwMode="auto">
            <a:xfrm>
              <a:off x="4708" y="2932"/>
              <a:ext cx="88" cy="88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4842" name="Oval 26"/>
            <p:cNvSpPr>
              <a:spLocks noChangeArrowheads="1"/>
            </p:cNvSpPr>
            <p:nvPr/>
          </p:nvSpPr>
          <p:spPr bwMode="auto">
            <a:xfrm>
              <a:off x="3556" y="2932"/>
              <a:ext cx="88" cy="88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4843" name="Oval 27"/>
            <p:cNvSpPr>
              <a:spLocks noChangeArrowheads="1"/>
            </p:cNvSpPr>
            <p:nvPr/>
          </p:nvSpPr>
          <p:spPr bwMode="auto">
            <a:xfrm>
              <a:off x="3700" y="2932"/>
              <a:ext cx="88" cy="88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24</a:t>
            </a:fld>
            <a:endParaRPr lang="en-GB"/>
          </a:p>
        </p:txBody>
      </p:sp>
      <p:sp>
        <p:nvSpPr>
          <p:cNvPr id="32" name="Footer Placeholder 3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idx="1"/>
          </p:nvPr>
        </p:nvSpPr>
        <p:spPr>
          <a:xfrm>
            <a:off x="1023938" y="5715000"/>
            <a:ext cx="7389812" cy="666750"/>
          </a:xfrm>
          <a:noFill/>
          <a:ln/>
        </p:spPr>
        <p:txBody>
          <a:bodyPr>
            <a:normAutofit/>
          </a:bodyPr>
          <a:lstStyle/>
          <a:p>
            <a:r>
              <a:rPr lang="en-GB" sz="2800" dirty="0"/>
              <a:t>7 reachable states, 1 deadlock state.</a:t>
            </a:r>
          </a:p>
        </p:txBody>
      </p:sp>
      <p:grpSp>
        <p:nvGrpSpPr>
          <p:cNvPr id="36891" name="Group 27"/>
          <p:cNvGrpSpPr>
            <a:grpSpLocks/>
          </p:cNvGrpSpPr>
          <p:nvPr/>
        </p:nvGrpSpPr>
        <p:grpSpPr bwMode="auto">
          <a:xfrm>
            <a:off x="812800" y="1231900"/>
            <a:ext cx="3448050" cy="2413000"/>
            <a:chOff x="512" y="776"/>
            <a:chExt cx="2172" cy="1520"/>
          </a:xfrm>
        </p:grpSpPr>
        <p:sp>
          <p:nvSpPr>
            <p:cNvPr id="36867" name="Rectangle 3"/>
            <p:cNvSpPr>
              <a:spLocks noChangeArrowheads="1"/>
            </p:cNvSpPr>
            <p:nvPr/>
          </p:nvSpPr>
          <p:spPr bwMode="auto">
            <a:xfrm>
              <a:off x="2222" y="1349"/>
              <a:ext cx="46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/>
                <a:t>black</a:t>
              </a:r>
            </a:p>
          </p:txBody>
        </p:sp>
        <p:sp>
          <p:nvSpPr>
            <p:cNvPr id="36868" name="Line 4"/>
            <p:cNvSpPr>
              <a:spLocks noChangeShapeType="1"/>
            </p:cNvSpPr>
            <p:nvPr/>
          </p:nvSpPr>
          <p:spPr bwMode="auto">
            <a:xfrm flipH="1" flipV="1">
              <a:off x="1681" y="981"/>
              <a:ext cx="300" cy="2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6869" name="Line 5"/>
            <p:cNvSpPr>
              <a:spLocks noChangeShapeType="1"/>
            </p:cNvSpPr>
            <p:nvPr/>
          </p:nvSpPr>
          <p:spPr bwMode="auto">
            <a:xfrm>
              <a:off x="955" y="1621"/>
              <a:ext cx="0" cy="3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6870" name="Rectangle 6"/>
            <p:cNvSpPr>
              <a:spLocks noChangeArrowheads="1"/>
            </p:cNvSpPr>
            <p:nvPr/>
          </p:nvSpPr>
          <p:spPr bwMode="auto">
            <a:xfrm>
              <a:off x="834" y="1971"/>
              <a:ext cx="326" cy="32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6871" name="Rectangle 7"/>
            <p:cNvSpPr>
              <a:spLocks noChangeArrowheads="1"/>
            </p:cNvSpPr>
            <p:nvPr/>
          </p:nvSpPr>
          <p:spPr bwMode="auto">
            <a:xfrm>
              <a:off x="1860" y="1971"/>
              <a:ext cx="327" cy="32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6872" name="Rectangle 8"/>
            <p:cNvSpPr>
              <a:spLocks noChangeArrowheads="1"/>
            </p:cNvSpPr>
            <p:nvPr/>
          </p:nvSpPr>
          <p:spPr bwMode="auto">
            <a:xfrm>
              <a:off x="1347" y="776"/>
              <a:ext cx="326" cy="32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6873" name="Line 9"/>
            <p:cNvSpPr>
              <a:spLocks noChangeShapeType="1"/>
            </p:cNvSpPr>
            <p:nvPr/>
          </p:nvSpPr>
          <p:spPr bwMode="auto">
            <a:xfrm flipV="1">
              <a:off x="1040" y="1024"/>
              <a:ext cx="299" cy="2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6874" name="Oval 10"/>
            <p:cNvSpPr>
              <a:spLocks noChangeArrowheads="1"/>
            </p:cNvSpPr>
            <p:nvPr/>
          </p:nvSpPr>
          <p:spPr bwMode="auto">
            <a:xfrm>
              <a:off x="1860" y="1288"/>
              <a:ext cx="327" cy="32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6875" name="Oval 11"/>
            <p:cNvSpPr>
              <a:spLocks noChangeArrowheads="1"/>
            </p:cNvSpPr>
            <p:nvPr/>
          </p:nvSpPr>
          <p:spPr bwMode="auto">
            <a:xfrm>
              <a:off x="834" y="1288"/>
              <a:ext cx="326" cy="32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6876" name="Line 12"/>
            <p:cNvSpPr>
              <a:spLocks noChangeShapeType="1"/>
            </p:cNvSpPr>
            <p:nvPr/>
          </p:nvSpPr>
          <p:spPr bwMode="auto">
            <a:xfrm flipH="1">
              <a:off x="1126" y="1109"/>
              <a:ext cx="299" cy="2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6877" name="Rectangle 13"/>
            <p:cNvSpPr>
              <a:spLocks noChangeArrowheads="1"/>
            </p:cNvSpPr>
            <p:nvPr/>
          </p:nvSpPr>
          <p:spPr bwMode="auto">
            <a:xfrm>
              <a:off x="512" y="1349"/>
              <a:ext cx="3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/>
                <a:t>red</a:t>
              </a:r>
            </a:p>
          </p:txBody>
        </p:sp>
        <p:sp>
          <p:nvSpPr>
            <p:cNvPr id="36878" name="Line 14"/>
            <p:cNvSpPr>
              <a:spLocks noChangeShapeType="1"/>
            </p:cNvSpPr>
            <p:nvPr/>
          </p:nvSpPr>
          <p:spPr bwMode="auto">
            <a:xfrm flipV="1">
              <a:off x="1168" y="1536"/>
              <a:ext cx="727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6879" name="Rectangle 15"/>
            <p:cNvSpPr>
              <a:spLocks noChangeArrowheads="1"/>
            </p:cNvSpPr>
            <p:nvPr/>
          </p:nvSpPr>
          <p:spPr bwMode="auto">
            <a:xfrm>
              <a:off x="1880" y="2031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/>
                <a:t>bb</a:t>
              </a:r>
            </a:p>
          </p:txBody>
        </p:sp>
        <p:sp>
          <p:nvSpPr>
            <p:cNvPr id="36880" name="Line 16"/>
            <p:cNvSpPr>
              <a:spLocks noChangeShapeType="1"/>
            </p:cNvSpPr>
            <p:nvPr/>
          </p:nvSpPr>
          <p:spPr bwMode="auto">
            <a:xfrm>
              <a:off x="1040" y="1621"/>
              <a:ext cx="0" cy="3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6881" name="Line 17"/>
            <p:cNvSpPr>
              <a:spLocks noChangeShapeType="1"/>
            </p:cNvSpPr>
            <p:nvPr/>
          </p:nvSpPr>
          <p:spPr bwMode="auto">
            <a:xfrm>
              <a:off x="2024" y="1621"/>
              <a:ext cx="0" cy="3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6882" name="Line 18"/>
            <p:cNvSpPr>
              <a:spLocks noChangeShapeType="1"/>
            </p:cNvSpPr>
            <p:nvPr/>
          </p:nvSpPr>
          <p:spPr bwMode="auto">
            <a:xfrm>
              <a:off x="1938" y="1579"/>
              <a:ext cx="0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6883" name="Line 19"/>
            <p:cNvSpPr>
              <a:spLocks noChangeShapeType="1"/>
            </p:cNvSpPr>
            <p:nvPr/>
          </p:nvSpPr>
          <p:spPr bwMode="auto">
            <a:xfrm flipV="1">
              <a:off x="2109" y="1579"/>
              <a:ext cx="0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6884" name="Rectangle 20"/>
            <p:cNvSpPr>
              <a:spLocks noChangeArrowheads="1"/>
            </p:cNvSpPr>
            <p:nvPr/>
          </p:nvSpPr>
          <p:spPr bwMode="auto">
            <a:xfrm>
              <a:off x="854" y="2031"/>
              <a:ext cx="22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/>
                <a:t>rr</a:t>
              </a:r>
            </a:p>
          </p:txBody>
        </p:sp>
        <p:sp>
          <p:nvSpPr>
            <p:cNvPr id="36885" name="Rectangle 21"/>
            <p:cNvSpPr>
              <a:spLocks noChangeArrowheads="1"/>
            </p:cNvSpPr>
            <p:nvPr/>
          </p:nvSpPr>
          <p:spPr bwMode="auto">
            <a:xfrm>
              <a:off x="1367" y="837"/>
              <a:ext cx="24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/>
                <a:t>br</a:t>
              </a:r>
            </a:p>
          </p:txBody>
        </p:sp>
        <p:sp>
          <p:nvSpPr>
            <p:cNvPr id="36886" name="Oval 22"/>
            <p:cNvSpPr>
              <a:spLocks noChangeArrowheads="1"/>
            </p:cNvSpPr>
            <p:nvPr/>
          </p:nvSpPr>
          <p:spPr bwMode="auto">
            <a:xfrm>
              <a:off x="959" y="1497"/>
              <a:ext cx="77" cy="78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6887" name="Oval 23"/>
            <p:cNvSpPr>
              <a:spLocks noChangeArrowheads="1"/>
            </p:cNvSpPr>
            <p:nvPr/>
          </p:nvSpPr>
          <p:spPr bwMode="auto">
            <a:xfrm>
              <a:off x="2028" y="1455"/>
              <a:ext cx="77" cy="77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6888" name="Oval 24"/>
            <p:cNvSpPr>
              <a:spLocks noChangeArrowheads="1"/>
            </p:cNvSpPr>
            <p:nvPr/>
          </p:nvSpPr>
          <p:spPr bwMode="auto">
            <a:xfrm>
              <a:off x="1942" y="1369"/>
              <a:ext cx="78" cy="78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6889" name="Oval 25"/>
            <p:cNvSpPr>
              <a:spLocks noChangeArrowheads="1"/>
            </p:cNvSpPr>
            <p:nvPr/>
          </p:nvSpPr>
          <p:spPr bwMode="auto">
            <a:xfrm>
              <a:off x="916" y="1369"/>
              <a:ext cx="77" cy="78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6890" name="Oval 26"/>
            <p:cNvSpPr>
              <a:spLocks noChangeArrowheads="1"/>
            </p:cNvSpPr>
            <p:nvPr/>
          </p:nvSpPr>
          <p:spPr bwMode="auto">
            <a:xfrm>
              <a:off x="1044" y="1369"/>
              <a:ext cx="78" cy="78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6915" name="Group 51"/>
          <p:cNvGrpSpPr>
            <a:grpSpLocks/>
          </p:cNvGrpSpPr>
          <p:nvPr/>
        </p:nvGrpSpPr>
        <p:grpSpPr bwMode="auto">
          <a:xfrm>
            <a:off x="5135563" y="1246188"/>
            <a:ext cx="3590925" cy="4156075"/>
            <a:chOff x="3235" y="785"/>
            <a:chExt cx="2262" cy="2618"/>
          </a:xfrm>
        </p:grpSpPr>
        <p:sp>
          <p:nvSpPr>
            <p:cNvPr id="36892" name="Rectangle 28"/>
            <p:cNvSpPr>
              <a:spLocks noChangeArrowheads="1"/>
            </p:cNvSpPr>
            <p:nvPr/>
          </p:nvSpPr>
          <p:spPr bwMode="auto">
            <a:xfrm>
              <a:off x="3903" y="785"/>
              <a:ext cx="392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lang="en-GB" sz="1800"/>
                <a:t>(3,2)</a:t>
              </a:r>
            </a:p>
          </p:txBody>
        </p:sp>
        <p:sp>
          <p:nvSpPr>
            <p:cNvPr id="36893" name="Rectangle 29"/>
            <p:cNvSpPr>
              <a:spLocks noChangeArrowheads="1"/>
            </p:cNvSpPr>
            <p:nvPr/>
          </p:nvSpPr>
          <p:spPr bwMode="auto">
            <a:xfrm>
              <a:off x="3235" y="1387"/>
              <a:ext cx="392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lang="en-GB" sz="1800"/>
                <a:t>(1,3)</a:t>
              </a:r>
            </a:p>
          </p:txBody>
        </p:sp>
        <p:sp>
          <p:nvSpPr>
            <p:cNvPr id="36894" name="Rectangle 30"/>
            <p:cNvSpPr>
              <a:spLocks noChangeArrowheads="1"/>
            </p:cNvSpPr>
            <p:nvPr/>
          </p:nvSpPr>
          <p:spPr bwMode="auto">
            <a:xfrm>
              <a:off x="4504" y="1387"/>
              <a:ext cx="392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lang="en-GB" sz="1800"/>
                <a:t>(3,1)</a:t>
              </a:r>
            </a:p>
          </p:txBody>
        </p:sp>
        <p:sp>
          <p:nvSpPr>
            <p:cNvPr id="36895" name="Rectangle 31"/>
            <p:cNvSpPr>
              <a:spLocks noChangeArrowheads="1"/>
            </p:cNvSpPr>
            <p:nvPr/>
          </p:nvSpPr>
          <p:spPr bwMode="auto">
            <a:xfrm>
              <a:off x="3836" y="1988"/>
              <a:ext cx="392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lang="en-GB" sz="1800"/>
                <a:t>(1,2)</a:t>
              </a:r>
            </a:p>
          </p:txBody>
        </p:sp>
        <p:sp>
          <p:nvSpPr>
            <p:cNvPr id="36896" name="Rectangle 32"/>
            <p:cNvSpPr>
              <a:spLocks noChangeArrowheads="1"/>
            </p:cNvSpPr>
            <p:nvPr/>
          </p:nvSpPr>
          <p:spPr bwMode="auto">
            <a:xfrm>
              <a:off x="5105" y="1988"/>
              <a:ext cx="392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lang="en-GB" sz="1800"/>
                <a:t>(3,0)</a:t>
              </a:r>
            </a:p>
          </p:txBody>
        </p:sp>
        <p:sp>
          <p:nvSpPr>
            <p:cNvPr id="36897" name="Rectangle 33"/>
            <p:cNvSpPr>
              <a:spLocks noChangeArrowheads="1"/>
            </p:cNvSpPr>
            <p:nvPr/>
          </p:nvSpPr>
          <p:spPr bwMode="auto">
            <a:xfrm>
              <a:off x="4504" y="2588"/>
              <a:ext cx="392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lang="en-GB" sz="1800"/>
                <a:t>(1,1)</a:t>
              </a:r>
            </a:p>
          </p:txBody>
        </p:sp>
        <p:sp>
          <p:nvSpPr>
            <p:cNvPr id="36898" name="Rectangle 34"/>
            <p:cNvSpPr>
              <a:spLocks noChangeArrowheads="1"/>
            </p:cNvSpPr>
            <p:nvPr/>
          </p:nvSpPr>
          <p:spPr bwMode="auto">
            <a:xfrm>
              <a:off x="5105" y="3189"/>
              <a:ext cx="392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lang="en-GB" sz="1800"/>
                <a:t>(1,0)</a:t>
              </a:r>
            </a:p>
          </p:txBody>
        </p:sp>
        <p:sp>
          <p:nvSpPr>
            <p:cNvPr id="36899" name="Line 35"/>
            <p:cNvSpPr>
              <a:spLocks noChangeShapeType="1"/>
            </p:cNvSpPr>
            <p:nvPr/>
          </p:nvSpPr>
          <p:spPr bwMode="auto">
            <a:xfrm>
              <a:off x="4834" y="2912"/>
              <a:ext cx="266" cy="34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6900" name="Line 36"/>
            <p:cNvSpPr>
              <a:spLocks noChangeShapeType="1"/>
            </p:cNvSpPr>
            <p:nvPr/>
          </p:nvSpPr>
          <p:spPr bwMode="auto">
            <a:xfrm>
              <a:off x="4232" y="2312"/>
              <a:ext cx="268" cy="3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6901" name="Line 37"/>
            <p:cNvSpPr>
              <a:spLocks noChangeShapeType="1"/>
            </p:cNvSpPr>
            <p:nvPr/>
          </p:nvSpPr>
          <p:spPr bwMode="auto">
            <a:xfrm flipH="1">
              <a:off x="4834" y="2312"/>
              <a:ext cx="266" cy="3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6902" name="Line 38"/>
            <p:cNvSpPr>
              <a:spLocks noChangeShapeType="1"/>
            </p:cNvSpPr>
            <p:nvPr/>
          </p:nvSpPr>
          <p:spPr bwMode="auto">
            <a:xfrm>
              <a:off x="3632" y="1710"/>
              <a:ext cx="266" cy="3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6903" name="Line 39"/>
            <p:cNvSpPr>
              <a:spLocks noChangeShapeType="1"/>
            </p:cNvSpPr>
            <p:nvPr/>
          </p:nvSpPr>
          <p:spPr bwMode="auto">
            <a:xfrm>
              <a:off x="4834" y="1710"/>
              <a:ext cx="266" cy="3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6904" name="Line 40"/>
            <p:cNvSpPr>
              <a:spLocks noChangeShapeType="1"/>
            </p:cNvSpPr>
            <p:nvPr/>
          </p:nvSpPr>
          <p:spPr bwMode="auto">
            <a:xfrm>
              <a:off x="4232" y="1109"/>
              <a:ext cx="268" cy="3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6905" name="Line 41"/>
            <p:cNvSpPr>
              <a:spLocks noChangeShapeType="1"/>
            </p:cNvSpPr>
            <p:nvPr/>
          </p:nvSpPr>
          <p:spPr bwMode="auto">
            <a:xfrm flipH="1">
              <a:off x="4232" y="1710"/>
              <a:ext cx="268" cy="3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6906" name="Line 42"/>
            <p:cNvSpPr>
              <a:spLocks noChangeShapeType="1"/>
            </p:cNvSpPr>
            <p:nvPr/>
          </p:nvSpPr>
          <p:spPr bwMode="auto">
            <a:xfrm flipH="1">
              <a:off x="3632" y="1109"/>
              <a:ext cx="266" cy="3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6907" name="Rectangle 43"/>
            <p:cNvSpPr>
              <a:spLocks noChangeArrowheads="1"/>
            </p:cNvSpPr>
            <p:nvPr/>
          </p:nvSpPr>
          <p:spPr bwMode="auto">
            <a:xfrm>
              <a:off x="3593" y="957"/>
              <a:ext cx="212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lang="en-GB" sz="1800"/>
                <a:t>rr</a:t>
              </a:r>
            </a:p>
          </p:txBody>
        </p:sp>
        <p:sp>
          <p:nvSpPr>
            <p:cNvPr id="36908" name="Rectangle 44"/>
            <p:cNvSpPr>
              <a:spLocks noChangeArrowheads="1"/>
            </p:cNvSpPr>
            <p:nvPr/>
          </p:nvSpPr>
          <p:spPr bwMode="auto">
            <a:xfrm>
              <a:off x="4193" y="1559"/>
              <a:ext cx="212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lang="en-GB" sz="1800"/>
                <a:t>rr</a:t>
              </a:r>
            </a:p>
          </p:txBody>
        </p:sp>
        <p:sp>
          <p:nvSpPr>
            <p:cNvPr id="36909" name="Rectangle 45"/>
            <p:cNvSpPr>
              <a:spLocks noChangeArrowheads="1"/>
            </p:cNvSpPr>
            <p:nvPr/>
          </p:nvSpPr>
          <p:spPr bwMode="auto">
            <a:xfrm>
              <a:off x="4795" y="2159"/>
              <a:ext cx="212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lang="en-GB" sz="1800"/>
                <a:t>rr</a:t>
              </a:r>
            </a:p>
          </p:txBody>
        </p:sp>
        <p:sp>
          <p:nvSpPr>
            <p:cNvPr id="36910" name="Rectangle 46"/>
            <p:cNvSpPr>
              <a:spLocks noChangeArrowheads="1"/>
            </p:cNvSpPr>
            <p:nvPr/>
          </p:nvSpPr>
          <p:spPr bwMode="auto">
            <a:xfrm>
              <a:off x="4982" y="1559"/>
              <a:ext cx="236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lang="en-GB" sz="1800"/>
                <a:t>br</a:t>
              </a:r>
            </a:p>
          </p:txBody>
        </p:sp>
        <p:sp>
          <p:nvSpPr>
            <p:cNvPr id="36911" name="Rectangle 47"/>
            <p:cNvSpPr>
              <a:spLocks noChangeArrowheads="1"/>
            </p:cNvSpPr>
            <p:nvPr/>
          </p:nvSpPr>
          <p:spPr bwMode="auto">
            <a:xfrm>
              <a:off x="5049" y="2846"/>
              <a:ext cx="236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lang="en-GB" sz="1800"/>
                <a:t>br</a:t>
              </a:r>
            </a:p>
          </p:txBody>
        </p:sp>
        <p:sp>
          <p:nvSpPr>
            <p:cNvPr id="36912" name="Rectangle 48"/>
            <p:cNvSpPr>
              <a:spLocks noChangeArrowheads="1"/>
            </p:cNvSpPr>
            <p:nvPr/>
          </p:nvSpPr>
          <p:spPr bwMode="auto">
            <a:xfrm>
              <a:off x="3889" y="2417"/>
              <a:ext cx="420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lang="en-GB" sz="1800"/>
                <a:t>bb\br</a:t>
              </a:r>
            </a:p>
          </p:txBody>
        </p:sp>
        <p:sp>
          <p:nvSpPr>
            <p:cNvPr id="36913" name="Rectangle 49"/>
            <p:cNvSpPr>
              <a:spLocks noChangeArrowheads="1"/>
            </p:cNvSpPr>
            <p:nvPr/>
          </p:nvSpPr>
          <p:spPr bwMode="auto">
            <a:xfrm>
              <a:off x="3288" y="1816"/>
              <a:ext cx="420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lang="en-GB" sz="1800"/>
                <a:t>bb\br</a:t>
              </a:r>
            </a:p>
          </p:txBody>
        </p:sp>
        <p:sp>
          <p:nvSpPr>
            <p:cNvPr id="36914" name="Rectangle 50"/>
            <p:cNvSpPr>
              <a:spLocks noChangeArrowheads="1"/>
            </p:cNvSpPr>
            <p:nvPr/>
          </p:nvSpPr>
          <p:spPr bwMode="auto">
            <a:xfrm>
              <a:off x="4357" y="957"/>
              <a:ext cx="420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lang="en-GB" sz="1800"/>
                <a:t>bb\br</a:t>
              </a:r>
            </a:p>
          </p:txBody>
        </p:sp>
      </p:grpSp>
      <p:sp>
        <p:nvSpPr>
          <p:cNvPr id="54" name="Slide Number Placeholder 5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55" name="Footer Placeholder 5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795338" y="357167"/>
            <a:ext cx="8229628" cy="857256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Exercise: Readers and Writers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4952999"/>
            <a:ext cx="8516257" cy="1505857"/>
          </a:xfrm>
          <a:noFill/>
          <a:ln/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GB" sz="2400" dirty="0"/>
              <a:t>How many states are reachable?</a:t>
            </a:r>
          </a:p>
          <a:p>
            <a:pPr>
              <a:lnSpc>
                <a:spcPct val="80000"/>
              </a:lnSpc>
            </a:pPr>
            <a:r>
              <a:rPr lang="en-GB" sz="2400" dirty="0"/>
              <a:t>Are there any deadlock states?</a:t>
            </a:r>
          </a:p>
          <a:p>
            <a:pPr>
              <a:lnSpc>
                <a:spcPct val="80000"/>
              </a:lnSpc>
            </a:pPr>
            <a:r>
              <a:rPr lang="en-GB" sz="2400" dirty="0"/>
              <a:t>How to model the situation with 2 writers and 3 readers?</a:t>
            </a:r>
          </a:p>
          <a:p>
            <a:pPr>
              <a:lnSpc>
                <a:spcPct val="80000"/>
              </a:lnSpc>
            </a:pPr>
            <a:r>
              <a:rPr lang="en-GB" sz="2400" dirty="0"/>
              <a:t>How to model a "bounded mailbox" (buffer size =4)?</a:t>
            </a:r>
          </a:p>
        </p:txBody>
      </p:sp>
      <p:sp>
        <p:nvSpPr>
          <p:cNvPr id="40964" name="Rectangle 4"/>
          <p:cNvSpPr>
            <a:spLocks noChangeArrowheads="1"/>
          </p:cNvSpPr>
          <p:nvPr/>
        </p:nvSpPr>
        <p:spPr bwMode="auto">
          <a:xfrm>
            <a:off x="974725" y="2871788"/>
            <a:ext cx="5508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rest</a:t>
            </a:r>
          </a:p>
        </p:txBody>
      </p:sp>
      <p:sp>
        <p:nvSpPr>
          <p:cNvPr id="40965" name="Rectangle 5"/>
          <p:cNvSpPr>
            <a:spLocks noChangeArrowheads="1"/>
          </p:cNvSpPr>
          <p:nvPr/>
        </p:nvSpPr>
        <p:spPr bwMode="auto">
          <a:xfrm>
            <a:off x="4251325" y="2338388"/>
            <a:ext cx="1143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mail_box</a:t>
            </a:r>
          </a:p>
        </p:txBody>
      </p:sp>
      <p:sp>
        <p:nvSpPr>
          <p:cNvPr id="40966" name="Rectangle 6"/>
          <p:cNvSpPr>
            <a:spLocks noChangeArrowheads="1"/>
          </p:cNvSpPr>
          <p:nvPr/>
        </p:nvSpPr>
        <p:spPr bwMode="auto">
          <a:xfrm>
            <a:off x="7146925" y="1500188"/>
            <a:ext cx="14954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receive_mail</a:t>
            </a:r>
          </a:p>
        </p:txBody>
      </p:sp>
      <p:sp>
        <p:nvSpPr>
          <p:cNvPr id="40967" name="Rectangle 7"/>
          <p:cNvSpPr>
            <a:spLocks noChangeArrowheads="1"/>
          </p:cNvSpPr>
          <p:nvPr/>
        </p:nvSpPr>
        <p:spPr bwMode="auto">
          <a:xfrm>
            <a:off x="3032125" y="3252788"/>
            <a:ext cx="1200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type_mail</a:t>
            </a:r>
          </a:p>
        </p:txBody>
      </p:sp>
      <p:sp>
        <p:nvSpPr>
          <p:cNvPr id="40968" name="Oval 8"/>
          <p:cNvSpPr>
            <a:spLocks noChangeArrowheads="1"/>
          </p:cNvSpPr>
          <p:nvPr/>
        </p:nvSpPr>
        <p:spPr bwMode="auto">
          <a:xfrm>
            <a:off x="2603500" y="275590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0969" name="Oval 9"/>
          <p:cNvSpPr>
            <a:spLocks noChangeArrowheads="1"/>
          </p:cNvSpPr>
          <p:nvPr/>
        </p:nvSpPr>
        <p:spPr bwMode="auto">
          <a:xfrm>
            <a:off x="1758950" y="297815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0970" name="Line 10"/>
          <p:cNvSpPr>
            <a:spLocks noChangeShapeType="1"/>
          </p:cNvSpPr>
          <p:nvPr/>
        </p:nvSpPr>
        <p:spPr bwMode="auto">
          <a:xfrm flipV="1">
            <a:off x="1981200" y="1828800"/>
            <a:ext cx="60960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0971" name="Line 11"/>
          <p:cNvSpPr>
            <a:spLocks noChangeShapeType="1"/>
          </p:cNvSpPr>
          <p:nvPr/>
        </p:nvSpPr>
        <p:spPr bwMode="auto">
          <a:xfrm>
            <a:off x="2895600" y="3352800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0972" name="Rectangle 12"/>
          <p:cNvSpPr>
            <a:spLocks noChangeArrowheads="1"/>
          </p:cNvSpPr>
          <p:nvPr/>
        </p:nvSpPr>
        <p:spPr bwMode="auto">
          <a:xfrm>
            <a:off x="2603500" y="1536700"/>
            <a:ext cx="584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0973" name="Rectangle 13"/>
          <p:cNvSpPr>
            <a:spLocks noChangeArrowheads="1"/>
          </p:cNvSpPr>
          <p:nvPr/>
        </p:nvSpPr>
        <p:spPr bwMode="auto">
          <a:xfrm>
            <a:off x="2603500" y="3975100"/>
            <a:ext cx="584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0974" name="Line 14"/>
          <p:cNvSpPr>
            <a:spLocks noChangeShapeType="1"/>
          </p:cNvSpPr>
          <p:nvPr/>
        </p:nvSpPr>
        <p:spPr bwMode="auto">
          <a:xfrm flipH="1" flipV="1">
            <a:off x="1981200" y="3352800"/>
            <a:ext cx="60960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0975" name="Oval 15"/>
          <p:cNvSpPr>
            <a:spLocks noChangeArrowheads="1"/>
          </p:cNvSpPr>
          <p:nvPr/>
        </p:nvSpPr>
        <p:spPr bwMode="auto">
          <a:xfrm>
            <a:off x="1536700" y="275590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0976" name="Oval 16"/>
          <p:cNvSpPr>
            <a:spLocks noChangeArrowheads="1"/>
          </p:cNvSpPr>
          <p:nvPr/>
        </p:nvSpPr>
        <p:spPr bwMode="auto">
          <a:xfrm>
            <a:off x="4508500" y="275590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0977" name="Line 17"/>
          <p:cNvSpPr>
            <a:spLocks noChangeShapeType="1"/>
          </p:cNvSpPr>
          <p:nvPr/>
        </p:nvSpPr>
        <p:spPr bwMode="auto">
          <a:xfrm>
            <a:off x="2895600" y="2133600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0978" name="Line 18"/>
          <p:cNvSpPr>
            <a:spLocks noChangeShapeType="1"/>
          </p:cNvSpPr>
          <p:nvPr/>
        </p:nvSpPr>
        <p:spPr bwMode="auto">
          <a:xfrm flipV="1">
            <a:off x="3200400" y="3276600"/>
            <a:ext cx="1371600" cy="990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0979" name="Rectangle 19"/>
          <p:cNvSpPr>
            <a:spLocks noChangeArrowheads="1"/>
          </p:cNvSpPr>
          <p:nvPr/>
        </p:nvSpPr>
        <p:spPr bwMode="auto">
          <a:xfrm>
            <a:off x="7146925" y="4167188"/>
            <a:ext cx="7477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ready</a:t>
            </a:r>
          </a:p>
        </p:txBody>
      </p:sp>
      <p:sp>
        <p:nvSpPr>
          <p:cNvPr id="40980" name="Oval 20"/>
          <p:cNvSpPr>
            <a:spLocks noChangeArrowheads="1"/>
          </p:cNvSpPr>
          <p:nvPr/>
        </p:nvSpPr>
        <p:spPr bwMode="auto">
          <a:xfrm>
            <a:off x="6413500" y="275590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0981" name="Oval 21"/>
          <p:cNvSpPr>
            <a:spLocks noChangeArrowheads="1"/>
          </p:cNvSpPr>
          <p:nvPr/>
        </p:nvSpPr>
        <p:spPr bwMode="auto">
          <a:xfrm>
            <a:off x="7702550" y="297815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0982" name="Line 22"/>
          <p:cNvSpPr>
            <a:spLocks noChangeShapeType="1"/>
          </p:cNvSpPr>
          <p:nvPr/>
        </p:nvSpPr>
        <p:spPr bwMode="auto">
          <a:xfrm flipH="1" flipV="1">
            <a:off x="7010400" y="1828800"/>
            <a:ext cx="60960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0983" name="Line 23"/>
          <p:cNvSpPr>
            <a:spLocks noChangeShapeType="1"/>
          </p:cNvSpPr>
          <p:nvPr/>
        </p:nvSpPr>
        <p:spPr bwMode="auto">
          <a:xfrm>
            <a:off x="6705600" y="3352800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0984" name="Rectangle 24"/>
          <p:cNvSpPr>
            <a:spLocks noChangeArrowheads="1"/>
          </p:cNvSpPr>
          <p:nvPr/>
        </p:nvSpPr>
        <p:spPr bwMode="auto">
          <a:xfrm>
            <a:off x="6413500" y="1536700"/>
            <a:ext cx="584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0985" name="Rectangle 25"/>
          <p:cNvSpPr>
            <a:spLocks noChangeArrowheads="1"/>
          </p:cNvSpPr>
          <p:nvPr/>
        </p:nvSpPr>
        <p:spPr bwMode="auto">
          <a:xfrm>
            <a:off x="6413500" y="3975100"/>
            <a:ext cx="584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0986" name="Line 26"/>
          <p:cNvSpPr>
            <a:spLocks noChangeShapeType="1"/>
          </p:cNvSpPr>
          <p:nvPr/>
        </p:nvSpPr>
        <p:spPr bwMode="auto">
          <a:xfrm flipV="1">
            <a:off x="7010400" y="3352800"/>
            <a:ext cx="60960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0987" name="Oval 27"/>
          <p:cNvSpPr>
            <a:spLocks noChangeArrowheads="1"/>
          </p:cNvSpPr>
          <p:nvPr/>
        </p:nvSpPr>
        <p:spPr bwMode="auto">
          <a:xfrm>
            <a:off x="7480300" y="275590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0988" name="Oval 28"/>
          <p:cNvSpPr>
            <a:spLocks noChangeArrowheads="1"/>
          </p:cNvSpPr>
          <p:nvPr/>
        </p:nvSpPr>
        <p:spPr bwMode="auto">
          <a:xfrm>
            <a:off x="4508500" y="275590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0989" name="Line 29"/>
          <p:cNvSpPr>
            <a:spLocks noChangeShapeType="1"/>
          </p:cNvSpPr>
          <p:nvPr/>
        </p:nvSpPr>
        <p:spPr bwMode="auto">
          <a:xfrm>
            <a:off x="6705600" y="2133600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0990" name="Line 30"/>
          <p:cNvSpPr>
            <a:spLocks noChangeShapeType="1"/>
          </p:cNvSpPr>
          <p:nvPr/>
        </p:nvSpPr>
        <p:spPr bwMode="auto">
          <a:xfrm flipV="1">
            <a:off x="5105400" y="1828800"/>
            <a:ext cx="1295400" cy="1066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0991" name="Rectangle 31"/>
          <p:cNvSpPr>
            <a:spLocks noChangeArrowheads="1"/>
          </p:cNvSpPr>
          <p:nvPr/>
        </p:nvSpPr>
        <p:spPr bwMode="auto">
          <a:xfrm>
            <a:off x="8137525" y="2871788"/>
            <a:ext cx="5508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rest</a:t>
            </a:r>
          </a:p>
        </p:txBody>
      </p:sp>
      <p:sp>
        <p:nvSpPr>
          <p:cNvPr id="40992" name="Rectangle 32"/>
          <p:cNvSpPr>
            <a:spLocks noChangeArrowheads="1"/>
          </p:cNvSpPr>
          <p:nvPr/>
        </p:nvSpPr>
        <p:spPr bwMode="auto">
          <a:xfrm>
            <a:off x="1660525" y="1500188"/>
            <a:ext cx="7477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begin</a:t>
            </a:r>
          </a:p>
        </p:txBody>
      </p:sp>
      <p:sp>
        <p:nvSpPr>
          <p:cNvPr id="40993" name="Rectangle 33"/>
          <p:cNvSpPr>
            <a:spLocks noChangeArrowheads="1"/>
          </p:cNvSpPr>
          <p:nvPr/>
        </p:nvSpPr>
        <p:spPr bwMode="auto">
          <a:xfrm>
            <a:off x="1279525" y="4167188"/>
            <a:ext cx="12287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send_mail</a:t>
            </a:r>
          </a:p>
        </p:txBody>
      </p:sp>
      <p:sp>
        <p:nvSpPr>
          <p:cNvPr id="40994" name="Rectangle 34"/>
          <p:cNvSpPr>
            <a:spLocks noChangeArrowheads="1"/>
          </p:cNvSpPr>
          <p:nvPr/>
        </p:nvSpPr>
        <p:spPr bwMode="auto">
          <a:xfrm>
            <a:off x="5394325" y="3252788"/>
            <a:ext cx="1200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read_mail</a:t>
            </a:r>
          </a:p>
        </p:txBody>
      </p:sp>
      <p:sp>
        <p:nvSpPr>
          <p:cNvPr id="37" name="Slide Number Placeholder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26</a:t>
            </a:fld>
            <a:endParaRPr lang="en-GB"/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8158" y="1214422"/>
            <a:ext cx="8143932" cy="3643338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889250" y="7270748"/>
            <a:ext cx="3632200" cy="365125"/>
          </a:xfrm>
        </p:spPr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85200" y="7270748"/>
            <a:ext cx="825500" cy="365125"/>
          </a:xfrm>
        </p:spPr>
        <p:txBody>
          <a:bodyPr/>
          <a:lstStyle/>
          <a:p>
            <a:fld id="{A50E0B5A-3BDD-4BFF-B22C-E8EB0A281B31}" type="slidenum">
              <a:rPr lang="en-GB" smtClean="0"/>
              <a:pPr/>
              <a:t>27</a:t>
            </a:fld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363264-FBCC-B8D6-5ED1-D9783181AFF0}"/>
              </a:ext>
            </a:extLst>
          </p:cNvPr>
          <p:cNvSpPr/>
          <p:nvPr/>
        </p:nvSpPr>
        <p:spPr>
          <a:xfrm>
            <a:off x="881034" y="3123688"/>
            <a:ext cx="8143932" cy="3643338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07E3BFF-411D-6E2B-5EE6-927288E78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725" y="3786185"/>
            <a:ext cx="5508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rest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3F9AD70-7747-BBC7-90AF-5637AFAF3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325" y="3252785"/>
            <a:ext cx="1143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mail_box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23730DA-6A28-0C45-0B21-1B30A5FA8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6925" y="2414585"/>
            <a:ext cx="14954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receive_mail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AF3561B-1F42-8704-7E72-A4A79CE30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125" y="4167185"/>
            <a:ext cx="1200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type_mail</a:t>
            </a:r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24D7E3D8-6459-A72F-83B8-763632C5A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500" y="3670297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C913B7D1-5CCA-B9B8-2F98-DF87DB6DF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8950" y="3892547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8918C05C-3EAE-332E-B2E6-709A4F1999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2743197"/>
            <a:ext cx="60960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3947AC79-1814-6582-4DBE-F88C1073524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4267197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FED970A7-BCAC-4902-E927-6F275CD58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500" y="2451097"/>
            <a:ext cx="584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9DCA087D-AD2D-A723-203A-650CA8D8B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500" y="4889497"/>
            <a:ext cx="584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" name="Line 14">
            <a:extLst>
              <a:ext uri="{FF2B5EF4-FFF2-40B4-BE49-F238E27FC236}">
                <a16:creationId xmlns:a16="http://schemas.microsoft.com/office/drawing/2014/main" id="{A6AE8151-535C-5FA1-A86C-872C98BEA7E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981200" y="4267197"/>
            <a:ext cx="60960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7" name="Oval 15">
            <a:extLst>
              <a:ext uri="{FF2B5EF4-FFF2-40B4-BE49-F238E27FC236}">
                <a16:creationId xmlns:a16="http://schemas.microsoft.com/office/drawing/2014/main" id="{13045D45-352E-8C68-37F3-C08FE9AB8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699" y="3670297"/>
            <a:ext cx="727075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" name="Oval 16">
            <a:extLst>
              <a:ext uri="{FF2B5EF4-FFF2-40B4-BE49-F238E27FC236}">
                <a16:creationId xmlns:a16="http://schemas.microsoft.com/office/drawing/2014/main" id="{72F9E10F-E95B-FFB6-C825-CBF858D83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0" y="3670297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FB062C42-A646-71B3-AAD0-84FB6E946A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3047997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7CEFEF88-BEF1-8DD8-83A3-21D251006C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0400" y="4190997"/>
            <a:ext cx="1371600" cy="990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1" name="Rectangle 19">
            <a:extLst>
              <a:ext uri="{FF2B5EF4-FFF2-40B4-BE49-F238E27FC236}">
                <a16:creationId xmlns:a16="http://schemas.microsoft.com/office/drawing/2014/main" id="{D0F98F13-3CCB-1896-1FCB-64534BF08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6925" y="5081585"/>
            <a:ext cx="7477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ready</a:t>
            </a:r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E38A518A-E3FB-FDF1-0C09-5735394C9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3500" y="3670297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" name="Oval 21">
            <a:extLst>
              <a:ext uri="{FF2B5EF4-FFF2-40B4-BE49-F238E27FC236}">
                <a16:creationId xmlns:a16="http://schemas.microsoft.com/office/drawing/2014/main" id="{51116CA1-7463-0B8D-8C5E-12CB56FDF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2550" y="3839997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4" name="Line 22">
            <a:extLst>
              <a:ext uri="{FF2B5EF4-FFF2-40B4-BE49-F238E27FC236}">
                <a16:creationId xmlns:a16="http://schemas.microsoft.com/office/drawing/2014/main" id="{9386FF25-5434-AEB9-7127-B138BE1F902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010400" y="2743197"/>
            <a:ext cx="60960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FCE24B83-DFC0-6A56-2E8D-4223319C3E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4267197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6" name="Rectangle 24">
            <a:extLst>
              <a:ext uri="{FF2B5EF4-FFF2-40B4-BE49-F238E27FC236}">
                <a16:creationId xmlns:a16="http://schemas.microsoft.com/office/drawing/2014/main" id="{8B755A44-DD47-CB8A-03BF-BEA2BBE8A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3500" y="2451097"/>
            <a:ext cx="584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7" name="Rectangle 25">
            <a:extLst>
              <a:ext uri="{FF2B5EF4-FFF2-40B4-BE49-F238E27FC236}">
                <a16:creationId xmlns:a16="http://schemas.microsoft.com/office/drawing/2014/main" id="{DF0877E6-D950-063C-67DD-618565B2B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3500" y="4889497"/>
            <a:ext cx="584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" name="Line 26">
            <a:extLst>
              <a:ext uri="{FF2B5EF4-FFF2-40B4-BE49-F238E27FC236}">
                <a16:creationId xmlns:a16="http://schemas.microsoft.com/office/drawing/2014/main" id="{388205BB-2548-7887-41A5-39D491C405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10400" y="4267197"/>
            <a:ext cx="60960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9" name="Oval 27">
            <a:extLst>
              <a:ext uri="{FF2B5EF4-FFF2-40B4-BE49-F238E27FC236}">
                <a16:creationId xmlns:a16="http://schemas.microsoft.com/office/drawing/2014/main" id="{C9A1950C-5502-2B5F-8C64-E2B812C4C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1085" y="3595685"/>
            <a:ext cx="747712" cy="671512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0" name="Oval 28">
            <a:extLst>
              <a:ext uri="{FF2B5EF4-FFF2-40B4-BE49-F238E27FC236}">
                <a16:creationId xmlns:a16="http://schemas.microsoft.com/office/drawing/2014/main" id="{79206DE1-6B6B-B333-82F8-6EC79893A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0" y="3670297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1" name="Line 29">
            <a:extLst>
              <a:ext uri="{FF2B5EF4-FFF2-40B4-BE49-F238E27FC236}">
                <a16:creationId xmlns:a16="http://schemas.microsoft.com/office/drawing/2014/main" id="{8105B18E-AA33-6C71-369F-F3C497D0B8D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3047997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2" name="Line 30">
            <a:extLst>
              <a:ext uri="{FF2B5EF4-FFF2-40B4-BE49-F238E27FC236}">
                <a16:creationId xmlns:a16="http://schemas.microsoft.com/office/drawing/2014/main" id="{0BA80170-59AE-9544-B484-493037C69A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5400" y="2743197"/>
            <a:ext cx="1295400" cy="1066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3" name="Rectangle 31">
            <a:extLst>
              <a:ext uri="{FF2B5EF4-FFF2-40B4-BE49-F238E27FC236}">
                <a16:creationId xmlns:a16="http://schemas.microsoft.com/office/drawing/2014/main" id="{1DECFDBE-6FB6-4FE8-F480-37D9A106C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7525" y="3786185"/>
            <a:ext cx="5508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rest</a:t>
            </a:r>
          </a:p>
        </p:txBody>
      </p:sp>
      <p:sp>
        <p:nvSpPr>
          <p:cNvPr id="34" name="Rectangle 32">
            <a:extLst>
              <a:ext uri="{FF2B5EF4-FFF2-40B4-BE49-F238E27FC236}">
                <a16:creationId xmlns:a16="http://schemas.microsoft.com/office/drawing/2014/main" id="{5FA3A81B-300E-7B7C-6D27-C9259C290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0525" y="2414585"/>
            <a:ext cx="7477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begin</a:t>
            </a:r>
          </a:p>
        </p:txBody>
      </p:sp>
      <p:sp>
        <p:nvSpPr>
          <p:cNvPr id="35" name="Rectangle 33">
            <a:extLst>
              <a:ext uri="{FF2B5EF4-FFF2-40B4-BE49-F238E27FC236}">
                <a16:creationId xmlns:a16="http://schemas.microsoft.com/office/drawing/2014/main" id="{BF7E111C-1CFD-00E1-02E0-6FA8FC4CA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9525" y="5081585"/>
            <a:ext cx="12287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send_mail</a:t>
            </a:r>
          </a:p>
        </p:txBody>
      </p:sp>
      <p:sp>
        <p:nvSpPr>
          <p:cNvPr id="36" name="Rectangle 34">
            <a:extLst>
              <a:ext uri="{FF2B5EF4-FFF2-40B4-BE49-F238E27FC236}">
                <a16:creationId xmlns:a16="http://schemas.microsoft.com/office/drawing/2014/main" id="{5F1A8C1E-9D08-B395-7AD7-B6C47DE01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4325" y="4167185"/>
            <a:ext cx="1200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read_mail</a:t>
            </a:r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115B5195-012C-A0C1-B236-8827DAB5783A}"/>
              </a:ext>
            </a:extLst>
          </p:cNvPr>
          <p:cNvSpPr txBox="1">
            <a:spLocks/>
          </p:cNvSpPr>
          <p:nvPr/>
        </p:nvSpPr>
        <p:spPr>
          <a:xfrm>
            <a:off x="8585200" y="7270748"/>
            <a:ext cx="825500" cy="365125"/>
          </a:xfrm>
          <a:prstGeom prst="rect">
            <a:avLst/>
          </a:prstGeom>
        </p:spPr>
        <p:txBody>
          <a:bodyPr vert="horz" lIns="0" tIns="0" rIns="0" bIns="0" anchor="b"/>
          <a:lstStyle>
            <a:defPPr>
              <a:defRPr lang="en-GB"/>
            </a:defPPr>
            <a:lvl1pPr algn="r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2">
                    <a:shade val="90000"/>
                  </a:schemeClr>
                </a:solidFill>
                <a:latin typeface="Times New Roman" charset="0"/>
                <a:ea typeface="+mn-ea"/>
                <a:cs typeface="+mn-cs"/>
              </a:defRPr>
            </a:lvl1pPr>
            <a:lvl2pPr marL="4572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2pPr>
            <a:lvl3pPr marL="9144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3pPr>
            <a:lvl4pPr marL="13716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4pPr>
            <a:lvl5pPr marL="18288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9pPr>
          </a:lstStyle>
          <a:p>
            <a:fld id="{A50E0B5A-3BDD-4BFF-B22C-E8EB0A281B31}" type="slidenum">
              <a:rPr lang="en-GB" smtClean="0"/>
              <a:pPr/>
              <a:t>27</a:t>
            </a:fld>
            <a:endParaRPr lang="en-GB"/>
          </a:p>
        </p:txBody>
      </p:sp>
      <p:sp>
        <p:nvSpPr>
          <p:cNvPr id="38" name="Footer Placeholder 37">
            <a:extLst>
              <a:ext uri="{FF2B5EF4-FFF2-40B4-BE49-F238E27FC236}">
                <a16:creationId xmlns:a16="http://schemas.microsoft.com/office/drawing/2014/main" id="{D0974056-A251-72C8-4961-D0C2181E9217}"/>
              </a:ext>
            </a:extLst>
          </p:cNvPr>
          <p:cNvSpPr txBox="1">
            <a:spLocks/>
          </p:cNvSpPr>
          <p:nvPr/>
        </p:nvSpPr>
        <p:spPr>
          <a:xfrm>
            <a:off x="2889250" y="7270748"/>
            <a:ext cx="3632200" cy="365125"/>
          </a:xfrm>
          <a:prstGeom prst="rect">
            <a:avLst/>
          </a:prstGeom>
        </p:spPr>
        <p:txBody>
          <a:bodyPr vert="horz" lIns="0" tIns="0" rIns="0" bIns="0" anchor="b"/>
          <a:lstStyle>
            <a:defPPr>
              <a:defRPr lang="en-GB"/>
            </a:defPPr>
            <a:lvl1pPr algn="l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2">
                    <a:shade val="90000"/>
                  </a:schemeClr>
                </a:solidFill>
                <a:latin typeface="Times New Roman" charset="0"/>
                <a:ea typeface="+mn-ea"/>
                <a:cs typeface="+mn-cs"/>
              </a:defRPr>
            </a:lvl1pPr>
            <a:lvl2pPr marL="4572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2pPr>
            <a:lvl3pPr marL="9144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3pPr>
            <a:lvl4pPr marL="13716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4pPr>
            <a:lvl5pPr marL="18288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9pPr>
          </a:lstStyle>
          <a:p>
            <a:r>
              <a:rPr lang="en-GB"/>
              <a:t>COMP201 - Software Engineering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D5D38AC-0457-E270-9C4E-B9570EA01B9F}"/>
              </a:ext>
            </a:extLst>
          </p:cNvPr>
          <p:cNvSpPr/>
          <p:nvPr/>
        </p:nvSpPr>
        <p:spPr>
          <a:xfrm>
            <a:off x="738158" y="2128819"/>
            <a:ext cx="8143932" cy="3643338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itle 40">
            <a:extLst>
              <a:ext uri="{FF2B5EF4-FFF2-40B4-BE49-F238E27FC236}">
                <a16:creationId xmlns:a16="http://schemas.microsoft.com/office/drawing/2014/main" id="{9569D72B-9062-FB30-478B-F34356CFC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2" name="Oval 28">
            <a:extLst>
              <a:ext uri="{FF2B5EF4-FFF2-40B4-BE49-F238E27FC236}">
                <a16:creationId xmlns:a16="http://schemas.microsoft.com/office/drawing/2014/main" id="{D00C42C8-10E2-46EE-F9F8-E3503694C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5644" y="4651726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3" name="Line 18">
            <a:extLst>
              <a:ext uri="{FF2B5EF4-FFF2-40B4-BE49-F238E27FC236}">
                <a16:creationId xmlns:a16="http://schemas.microsoft.com/office/drawing/2014/main" id="{439F347A-D388-2D66-3ACE-D30DF05603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09924" y="5097758"/>
            <a:ext cx="1530349" cy="17223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4" name="Line 18">
            <a:extLst>
              <a:ext uri="{FF2B5EF4-FFF2-40B4-BE49-F238E27FC236}">
                <a16:creationId xmlns:a16="http://schemas.microsoft.com/office/drawing/2014/main" id="{929E5A14-BF94-2C88-F9AE-EF18FBD9B4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19686" y="3051171"/>
            <a:ext cx="1331915" cy="160208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5" name="Oval 21">
            <a:extLst>
              <a:ext uri="{FF2B5EF4-FFF2-40B4-BE49-F238E27FC236}">
                <a16:creationId xmlns:a16="http://schemas.microsoft.com/office/drawing/2014/main" id="{1E2A767C-5575-E7B8-EC24-68E46F4F8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4950" y="4044947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7" name="Oval 9">
            <a:extLst>
              <a:ext uri="{FF2B5EF4-FFF2-40B4-BE49-F238E27FC236}">
                <a16:creationId xmlns:a16="http://schemas.microsoft.com/office/drawing/2014/main" id="{024F31C5-8E65-33A3-6357-57EEF7A63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70" y="3804985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8" name="Oval 21">
            <a:extLst>
              <a:ext uri="{FF2B5EF4-FFF2-40B4-BE49-F238E27FC236}">
                <a16:creationId xmlns:a16="http://schemas.microsoft.com/office/drawing/2014/main" id="{BA7A836F-F71F-3EDA-CB9E-2FF007818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104" y="4822717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9" name="Oval 21">
            <a:extLst>
              <a:ext uri="{FF2B5EF4-FFF2-40B4-BE49-F238E27FC236}">
                <a16:creationId xmlns:a16="http://schemas.microsoft.com/office/drawing/2014/main" id="{6A43DEB8-287D-20CE-46EA-292BB3011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8674" y="365081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0" name="Oval 21">
            <a:extLst>
              <a:ext uri="{FF2B5EF4-FFF2-40B4-BE49-F238E27FC236}">
                <a16:creationId xmlns:a16="http://schemas.microsoft.com/office/drawing/2014/main" id="{B87582EA-35B7-A3CC-A640-94B6CEA6E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504" y="4975117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1" name="Oval 21">
            <a:extLst>
              <a:ext uri="{FF2B5EF4-FFF2-40B4-BE49-F238E27FC236}">
                <a16:creationId xmlns:a16="http://schemas.microsoft.com/office/drawing/2014/main" id="{D1B389EF-EF35-F54A-2610-1A052B6C5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7475" y="5032927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45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795338" y="476913"/>
            <a:ext cx="8229628" cy="857256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The Four Seasons</a:t>
            </a:r>
          </a:p>
        </p:txBody>
      </p:sp>
      <p:sp>
        <p:nvSpPr>
          <p:cNvPr id="37" name="Slide Number Placeholder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28</a:t>
            </a:fld>
            <a:endParaRPr lang="en-GB"/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40" name="Content Placeholder 39"/>
          <p:cNvSpPr>
            <a:spLocks noGrp="1"/>
          </p:cNvSpPr>
          <p:nvPr>
            <p:ph idx="1"/>
          </p:nvPr>
        </p:nvSpPr>
        <p:spPr>
          <a:xfrm>
            <a:off x="495300" y="1567543"/>
            <a:ext cx="8915400" cy="4757057"/>
          </a:xfrm>
        </p:spPr>
        <p:txBody>
          <a:bodyPr/>
          <a:lstStyle/>
          <a:p>
            <a:r>
              <a:rPr lang="en-GB" dirty="0"/>
              <a:t>Let us try to model the four seasons of the year together with their properties by a Petri net.</a:t>
            </a:r>
          </a:p>
          <a:p>
            <a:r>
              <a:rPr lang="en-GB" dirty="0"/>
              <a:t>We would like to denote the current season {spring, summer, autumn, winter}, the temperature {hot, cold} and the light level {bright, dark}.</a:t>
            </a:r>
          </a:p>
          <a:p>
            <a:r>
              <a:rPr lang="en-GB" dirty="0"/>
              <a:t>As a first step, let us model the seasons (with a token to represent that it is currently autumn).</a:t>
            </a: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795338" y="357167"/>
            <a:ext cx="8229628" cy="857256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The Four Seasons</a:t>
            </a:r>
          </a:p>
        </p:txBody>
      </p:sp>
      <p:sp>
        <p:nvSpPr>
          <p:cNvPr id="37" name="Slide Number Placeholder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29</a:t>
            </a:fld>
            <a:endParaRPr lang="en-GB"/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7" name="Oval 6"/>
          <p:cNvSpPr/>
          <p:nvPr/>
        </p:nvSpPr>
        <p:spPr>
          <a:xfrm>
            <a:off x="4419600" y="1709058"/>
            <a:ext cx="489857" cy="4789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4452259" y="5344886"/>
            <a:ext cx="489857" cy="4789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2253342" y="3396342"/>
            <a:ext cx="489857" cy="4789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6520541" y="3483429"/>
            <a:ext cx="489857" cy="4789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0</a:t>
            </a:r>
          </a:p>
        </p:txBody>
      </p:sp>
      <p:sp>
        <p:nvSpPr>
          <p:cNvPr id="11" name="Arc 10"/>
          <p:cNvSpPr/>
          <p:nvPr/>
        </p:nvSpPr>
        <p:spPr>
          <a:xfrm>
            <a:off x="3091542" y="1915887"/>
            <a:ext cx="3679372" cy="3156856"/>
          </a:xfrm>
          <a:prstGeom prst="arc">
            <a:avLst>
              <a:gd name="adj1" fmla="val 16200003"/>
              <a:gd name="adj2" fmla="val 21563582"/>
            </a:avLst>
          </a:prstGeom>
          <a:ln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c 13"/>
          <p:cNvSpPr/>
          <p:nvPr/>
        </p:nvSpPr>
        <p:spPr>
          <a:xfrm rot="10800000">
            <a:off x="2481943" y="2177143"/>
            <a:ext cx="3875314" cy="3418114"/>
          </a:xfrm>
          <a:prstGeom prst="arc">
            <a:avLst>
              <a:gd name="adj1" fmla="val 16200003"/>
              <a:gd name="adj2" fmla="val 21563582"/>
            </a:avLst>
          </a:prstGeom>
          <a:ln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c 14"/>
          <p:cNvSpPr/>
          <p:nvPr/>
        </p:nvSpPr>
        <p:spPr>
          <a:xfrm rot="16200000">
            <a:off x="2917375" y="1469570"/>
            <a:ext cx="2971800" cy="3842657"/>
          </a:xfrm>
          <a:prstGeom prst="arc">
            <a:avLst>
              <a:gd name="adj1" fmla="val 16200003"/>
              <a:gd name="adj2" fmla="val 21563582"/>
            </a:avLst>
          </a:prstGeom>
          <a:ln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rc 15"/>
          <p:cNvSpPr/>
          <p:nvPr/>
        </p:nvSpPr>
        <p:spPr>
          <a:xfrm rot="5400000">
            <a:off x="3309257" y="2133601"/>
            <a:ext cx="3287484" cy="3657600"/>
          </a:xfrm>
          <a:prstGeom prst="arc">
            <a:avLst>
              <a:gd name="adj1" fmla="val 16200003"/>
              <a:gd name="adj2" fmla="val 21563582"/>
            </a:avLst>
          </a:prstGeom>
          <a:ln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/>
          <p:cNvSpPr txBox="1"/>
          <p:nvPr/>
        </p:nvSpPr>
        <p:spPr>
          <a:xfrm>
            <a:off x="4131207" y="1295400"/>
            <a:ext cx="1066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+mn-lt"/>
              </a:rPr>
              <a:t>Summer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6071" y="3439886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+mn-lt"/>
              </a:rPr>
              <a:t>Autumn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6832" y="5900057"/>
            <a:ext cx="905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+mn-lt"/>
              </a:rPr>
              <a:t>Winter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3706" y="3505201"/>
            <a:ext cx="841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+mn-lt"/>
              </a:rPr>
              <a:t>Spring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1172" y="2144487"/>
            <a:ext cx="468085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/>
          <p:cNvSpPr/>
          <p:nvPr/>
        </p:nvSpPr>
        <p:spPr>
          <a:xfrm>
            <a:off x="5987144" y="2144487"/>
            <a:ext cx="468085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/>
          <p:cNvSpPr/>
          <p:nvPr/>
        </p:nvSpPr>
        <p:spPr>
          <a:xfrm>
            <a:off x="2841172" y="4865915"/>
            <a:ext cx="468085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/>
          <p:cNvSpPr/>
          <p:nvPr/>
        </p:nvSpPr>
        <p:spPr>
          <a:xfrm>
            <a:off x="6085114" y="4833258"/>
            <a:ext cx="468085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/>
          <p:cNvSpPr/>
          <p:nvPr/>
        </p:nvSpPr>
        <p:spPr>
          <a:xfrm>
            <a:off x="2427514" y="3548743"/>
            <a:ext cx="141514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795338" y="357167"/>
            <a:ext cx="8229628" cy="857256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The Four Seasons</a:t>
            </a:r>
          </a:p>
        </p:txBody>
      </p:sp>
      <p:sp>
        <p:nvSpPr>
          <p:cNvPr id="37" name="Slide Number Placeholder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30</a:t>
            </a:fld>
            <a:endParaRPr lang="en-GB"/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7" name="Oval 6"/>
          <p:cNvSpPr/>
          <p:nvPr/>
        </p:nvSpPr>
        <p:spPr>
          <a:xfrm>
            <a:off x="4419600" y="1709058"/>
            <a:ext cx="489857" cy="4789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4452259" y="5344886"/>
            <a:ext cx="489857" cy="4789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2253342" y="3396342"/>
            <a:ext cx="489857" cy="4789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6520541" y="3483429"/>
            <a:ext cx="489857" cy="4789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0</a:t>
            </a:r>
          </a:p>
        </p:txBody>
      </p:sp>
      <p:sp>
        <p:nvSpPr>
          <p:cNvPr id="11" name="Arc 10"/>
          <p:cNvSpPr/>
          <p:nvPr/>
        </p:nvSpPr>
        <p:spPr>
          <a:xfrm>
            <a:off x="3091542" y="1915887"/>
            <a:ext cx="3679372" cy="3156856"/>
          </a:xfrm>
          <a:prstGeom prst="arc">
            <a:avLst>
              <a:gd name="adj1" fmla="val 16200003"/>
              <a:gd name="adj2" fmla="val 21563582"/>
            </a:avLst>
          </a:prstGeom>
          <a:ln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c 13"/>
          <p:cNvSpPr/>
          <p:nvPr/>
        </p:nvSpPr>
        <p:spPr>
          <a:xfrm rot="10800000">
            <a:off x="2481943" y="2177143"/>
            <a:ext cx="3875314" cy="3418114"/>
          </a:xfrm>
          <a:prstGeom prst="arc">
            <a:avLst>
              <a:gd name="adj1" fmla="val 16200003"/>
              <a:gd name="adj2" fmla="val 21563582"/>
            </a:avLst>
          </a:prstGeom>
          <a:ln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c 14"/>
          <p:cNvSpPr/>
          <p:nvPr/>
        </p:nvSpPr>
        <p:spPr>
          <a:xfrm rot="16200000">
            <a:off x="2917375" y="1469570"/>
            <a:ext cx="2971800" cy="3842657"/>
          </a:xfrm>
          <a:prstGeom prst="arc">
            <a:avLst>
              <a:gd name="adj1" fmla="val 16200003"/>
              <a:gd name="adj2" fmla="val 21563582"/>
            </a:avLst>
          </a:prstGeom>
          <a:ln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rc 15"/>
          <p:cNvSpPr/>
          <p:nvPr/>
        </p:nvSpPr>
        <p:spPr>
          <a:xfrm rot="5400000">
            <a:off x="3309257" y="2133601"/>
            <a:ext cx="3287484" cy="3657600"/>
          </a:xfrm>
          <a:prstGeom prst="arc">
            <a:avLst>
              <a:gd name="adj1" fmla="val 16200003"/>
              <a:gd name="adj2" fmla="val 21563582"/>
            </a:avLst>
          </a:prstGeom>
          <a:ln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/>
          <p:cNvSpPr txBox="1"/>
          <p:nvPr/>
        </p:nvSpPr>
        <p:spPr>
          <a:xfrm>
            <a:off x="4131207" y="1295400"/>
            <a:ext cx="1066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+mn-lt"/>
              </a:rPr>
              <a:t>Summer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6071" y="3439886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+mn-lt"/>
              </a:rPr>
              <a:t>Autumn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6832" y="5900057"/>
            <a:ext cx="905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+mn-lt"/>
              </a:rPr>
              <a:t>Winter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3706" y="3505201"/>
            <a:ext cx="841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+mn-lt"/>
              </a:rPr>
              <a:t>Spring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1172" y="2144487"/>
            <a:ext cx="468085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/>
          <p:cNvSpPr/>
          <p:nvPr/>
        </p:nvSpPr>
        <p:spPr>
          <a:xfrm>
            <a:off x="5987144" y="2144487"/>
            <a:ext cx="468085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/>
          <p:cNvSpPr/>
          <p:nvPr/>
        </p:nvSpPr>
        <p:spPr>
          <a:xfrm>
            <a:off x="2841172" y="4865915"/>
            <a:ext cx="468085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/>
          <p:cNvSpPr/>
          <p:nvPr/>
        </p:nvSpPr>
        <p:spPr>
          <a:xfrm>
            <a:off x="6085114" y="4833258"/>
            <a:ext cx="468085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/>
          <p:cNvSpPr/>
          <p:nvPr/>
        </p:nvSpPr>
        <p:spPr>
          <a:xfrm>
            <a:off x="2427514" y="3548743"/>
            <a:ext cx="141514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Oval 25"/>
          <p:cNvSpPr/>
          <p:nvPr/>
        </p:nvSpPr>
        <p:spPr>
          <a:xfrm>
            <a:off x="3243943" y="3450770"/>
            <a:ext cx="489857" cy="4789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/>
          <p:cNvSpPr/>
          <p:nvPr/>
        </p:nvSpPr>
        <p:spPr>
          <a:xfrm>
            <a:off x="5573486" y="3396342"/>
            <a:ext cx="489857" cy="4789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/>
          <p:cNvSpPr txBox="1"/>
          <p:nvPr/>
        </p:nvSpPr>
        <p:spPr>
          <a:xfrm>
            <a:off x="2866558" y="3135085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Hot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50824" y="3831771"/>
            <a:ext cx="683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Cold</a:t>
            </a:r>
          </a:p>
        </p:txBody>
      </p:sp>
      <p:sp>
        <p:nvSpPr>
          <p:cNvPr id="30" name="Oval 29"/>
          <p:cNvSpPr/>
          <p:nvPr/>
        </p:nvSpPr>
        <p:spPr>
          <a:xfrm>
            <a:off x="4441370" y="2536370"/>
            <a:ext cx="489857" cy="4789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/>
          <p:cNvSpPr/>
          <p:nvPr/>
        </p:nvSpPr>
        <p:spPr>
          <a:xfrm>
            <a:off x="4506686" y="4474027"/>
            <a:ext cx="489857" cy="4789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/>
          <p:cNvSpPr txBox="1"/>
          <p:nvPr/>
        </p:nvSpPr>
        <p:spPr>
          <a:xfrm>
            <a:off x="3912781" y="4767943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Dark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76936" y="2275114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Bright</a:t>
            </a:r>
          </a:p>
        </p:txBody>
      </p:sp>
      <p:sp>
        <p:nvSpPr>
          <p:cNvPr id="34" name="Oval 33"/>
          <p:cNvSpPr/>
          <p:nvPr/>
        </p:nvSpPr>
        <p:spPr>
          <a:xfrm>
            <a:off x="4680856" y="4615542"/>
            <a:ext cx="141514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Oval 34"/>
          <p:cNvSpPr/>
          <p:nvPr/>
        </p:nvSpPr>
        <p:spPr>
          <a:xfrm>
            <a:off x="3428999" y="3603172"/>
            <a:ext cx="141514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9" name="Straight Arrow Connector 38"/>
          <p:cNvCxnSpPr>
            <a:stCxn id="27" idx="0"/>
            <a:endCxn id="22" idx="2"/>
          </p:cNvCxnSpPr>
          <p:nvPr/>
        </p:nvCxnSpPr>
        <p:spPr>
          <a:xfrm rot="5400000" flipH="1" flipV="1">
            <a:off x="5622474" y="2797629"/>
            <a:ext cx="794655" cy="402772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2" idx="1"/>
            <a:endCxn id="26" idx="6"/>
          </p:cNvCxnSpPr>
          <p:nvPr/>
        </p:nvCxnSpPr>
        <p:spPr>
          <a:xfrm rot="10800000" flipV="1">
            <a:off x="3733800" y="2373086"/>
            <a:ext cx="2253344" cy="1317169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30" idx="2"/>
            <a:endCxn id="21" idx="3"/>
          </p:cNvCxnSpPr>
          <p:nvPr/>
        </p:nvCxnSpPr>
        <p:spPr>
          <a:xfrm rot="10800000">
            <a:off x="3309258" y="2373088"/>
            <a:ext cx="1132113" cy="402769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21" idx="2"/>
            <a:endCxn id="31" idx="0"/>
          </p:cNvCxnSpPr>
          <p:nvPr/>
        </p:nvCxnSpPr>
        <p:spPr>
          <a:xfrm rot="16200000" flipH="1">
            <a:off x="2977245" y="2699657"/>
            <a:ext cx="1872340" cy="1676400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26" idx="4"/>
            <a:endCxn id="23" idx="0"/>
          </p:cNvCxnSpPr>
          <p:nvPr/>
        </p:nvCxnSpPr>
        <p:spPr>
          <a:xfrm rot="5400000">
            <a:off x="2813957" y="4191000"/>
            <a:ext cx="936174" cy="413657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23" idx="3"/>
            <a:endCxn id="27" idx="2"/>
          </p:cNvCxnSpPr>
          <p:nvPr/>
        </p:nvCxnSpPr>
        <p:spPr>
          <a:xfrm flipV="1">
            <a:off x="3309257" y="3635828"/>
            <a:ext cx="2264229" cy="1458687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31" idx="6"/>
            <a:endCxn id="24" idx="1"/>
          </p:cNvCxnSpPr>
          <p:nvPr/>
        </p:nvCxnSpPr>
        <p:spPr>
          <a:xfrm>
            <a:off x="4996543" y="4713513"/>
            <a:ext cx="1088571" cy="348345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24" idx="0"/>
            <a:endCxn id="30" idx="4"/>
          </p:cNvCxnSpPr>
          <p:nvPr/>
        </p:nvCxnSpPr>
        <p:spPr>
          <a:xfrm rot="16200000" flipV="1">
            <a:off x="4593770" y="3107871"/>
            <a:ext cx="1817917" cy="1632858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>
            <a:off x="2721429" y="4767943"/>
            <a:ext cx="130628" cy="10885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Isosceles Triangle 41"/>
          <p:cNvSpPr/>
          <p:nvPr/>
        </p:nvSpPr>
        <p:spPr>
          <a:xfrm rot="17556890">
            <a:off x="5958691" y="5280400"/>
            <a:ext cx="132292" cy="8960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Isosceles Triangle 43"/>
          <p:cNvSpPr/>
          <p:nvPr/>
        </p:nvSpPr>
        <p:spPr>
          <a:xfrm rot="18826679">
            <a:off x="6431593" y="2591457"/>
            <a:ext cx="148078" cy="13074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Isosceles Triangle 45"/>
          <p:cNvSpPr/>
          <p:nvPr/>
        </p:nvSpPr>
        <p:spPr>
          <a:xfrm>
            <a:off x="3320144" y="2068286"/>
            <a:ext cx="130628" cy="10885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795338" y="357166"/>
            <a:ext cx="8158190" cy="1000131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High-Level Petri Nets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595282" y="1816100"/>
            <a:ext cx="8715436" cy="4432300"/>
          </a:xfrm>
          <a:noFill/>
          <a:ln/>
        </p:spPr>
        <p:txBody>
          <a:bodyPr>
            <a:noAutofit/>
          </a:bodyPr>
          <a:lstStyle/>
          <a:p>
            <a:pPr>
              <a:buFontTx/>
              <a:buNone/>
            </a:pPr>
            <a:r>
              <a:rPr lang="en-GB" sz="2400" dirty="0"/>
              <a:t>In practice, classical Petri nets have some modelling problems: </a:t>
            </a:r>
          </a:p>
          <a:p>
            <a:r>
              <a:rPr lang="en-GB" sz="2400" dirty="0"/>
              <a:t>The Petri net becomes too large and too complex.</a:t>
            </a:r>
          </a:p>
          <a:p>
            <a:r>
              <a:rPr lang="en-GB" sz="2400" dirty="0"/>
              <a:t>It takes too much time to model a given situation.</a:t>
            </a:r>
          </a:p>
          <a:p>
            <a:r>
              <a:rPr lang="en-GB" sz="2400" dirty="0"/>
              <a:t>It is not possible to handle time and data.</a:t>
            </a:r>
          </a:p>
          <a:p>
            <a:pPr>
              <a:buFontTx/>
              <a:buNone/>
            </a:pPr>
            <a:endParaRPr lang="en-GB" sz="2400" dirty="0"/>
          </a:p>
          <a:p>
            <a:pPr>
              <a:buFontTx/>
              <a:buNone/>
            </a:pPr>
            <a:r>
              <a:rPr lang="en-GB" sz="2400" dirty="0"/>
              <a:t>Therefore, we use high-level Petri nets, i.e. Petri nets extended with:</a:t>
            </a:r>
          </a:p>
          <a:p>
            <a:r>
              <a:rPr lang="en-GB" sz="2400" dirty="0">
                <a:solidFill>
                  <a:schemeClr val="accent2"/>
                </a:solidFill>
              </a:rPr>
              <a:t>colour</a:t>
            </a:r>
          </a:p>
          <a:p>
            <a:r>
              <a:rPr lang="en-GB" sz="2400" dirty="0">
                <a:solidFill>
                  <a:schemeClr val="accent2"/>
                </a:solidFill>
              </a:rPr>
              <a:t>time</a:t>
            </a:r>
          </a:p>
          <a:p>
            <a:r>
              <a:rPr lang="en-GB" sz="2400" dirty="0">
                <a:solidFill>
                  <a:schemeClr val="accent2"/>
                </a:solidFill>
              </a:rPr>
              <a:t>hierarchy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31</a:t>
            </a:fld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idx="1"/>
          </p:nvPr>
        </p:nvSpPr>
        <p:spPr>
          <a:xfrm>
            <a:off x="678542" y="2062844"/>
            <a:ext cx="8538029" cy="774700"/>
          </a:xfrm>
          <a:noFill/>
          <a:ln/>
        </p:spPr>
        <p:txBody>
          <a:bodyPr>
            <a:normAutofit fontScale="85000" lnSpcReduction="20000"/>
          </a:bodyPr>
          <a:lstStyle/>
          <a:p>
            <a:pPr>
              <a:buFontTx/>
              <a:buNone/>
            </a:pPr>
            <a:r>
              <a:rPr lang="en-GB" sz="3000" dirty="0"/>
              <a:t>To explain the three extensions we use the following example of a hairdresser's salon</a:t>
            </a:r>
            <a:r>
              <a:rPr lang="en-GB" sz="2400" dirty="0"/>
              <a:t>:</a:t>
            </a:r>
          </a:p>
        </p:txBody>
      </p:sp>
      <p:sp>
        <p:nvSpPr>
          <p:cNvPr id="45059" name="Rectangle 3"/>
          <p:cNvSpPr>
            <a:spLocks noChangeArrowheads="1"/>
          </p:cNvSpPr>
          <p:nvPr/>
        </p:nvSpPr>
        <p:spPr bwMode="auto">
          <a:xfrm>
            <a:off x="3343720" y="4583770"/>
            <a:ext cx="584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5060" name="Oval 4"/>
          <p:cNvSpPr>
            <a:spLocks noChangeArrowheads="1"/>
          </p:cNvSpPr>
          <p:nvPr/>
        </p:nvSpPr>
        <p:spPr bwMode="auto">
          <a:xfrm>
            <a:off x="2124520" y="458377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5061" name="Line 5"/>
          <p:cNvSpPr>
            <a:spLocks noChangeShapeType="1"/>
          </p:cNvSpPr>
          <p:nvPr/>
        </p:nvSpPr>
        <p:spPr bwMode="auto">
          <a:xfrm>
            <a:off x="2721420" y="487587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5062" name="Oval 6"/>
          <p:cNvSpPr>
            <a:spLocks noChangeArrowheads="1"/>
          </p:cNvSpPr>
          <p:nvPr/>
        </p:nvSpPr>
        <p:spPr bwMode="auto">
          <a:xfrm>
            <a:off x="2270570" y="472982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5063" name="Rectangle 7"/>
          <p:cNvSpPr>
            <a:spLocks noChangeArrowheads="1"/>
          </p:cNvSpPr>
          <p:nvPr/>
        </p:nvSpPr>
        <p:spPr bwMode="auto">
          <a:xfrm>
            <a:off x="3315145" y="4699658"/>
            <a:ext cx="6207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start</a:t>
            </a:r>
          </a:p>
        </p:txBody>
      </p:sp>
      <p:sp>
        <p:nvSpPr>
          <p:cNvPr id="45064" name="Rectangle 8"/>
          <p:cNvSpPr>
            <a:spLocks noChangeArrowheads="1"/>
          </p:cNvSpPr>
          <p:nvPr/>
        </p:nvSpPr>
        <p:spPr bwMode="auto">
          <a:xfrm>
            <a:off x="1943545" y="5233058"/>
            <a:ext cx="946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waiting</a:t>
            </a:r>
          </a:p>
        </p:txBody>
      </p:sp>
      <p:sp>
        <p:nvSpPr>
          <p:cNvPr id="45065" name="Rectangle 9"/>
          <p:cNvSpPr>
            <a:spLocks noChangeArrowheads="1"/>
          </p:cNvSpPr>
          <p:nvPr/>
        </p:nvSpPr>
        <p:spPr bwMode="auto">
          <a:xfrm>
            <a:off x="5782120" y="4583770"/>
            <a:ext cx="6604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5066" name="Line 10"/>
          <p:cNvSpPr>
            <a:spLocks noChangeShapeType="1"/>
          </p:cNvSpPr>
          <p:nvPr/>
        </p:nvSpPr>
        <p:spPr bwMode="auto">
          <a:xfrm>
            <a:off x="3940620" y="487587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5067" name="Line 11"/>
          <p:cNvSpPr>
            <a:spLocks noChangeShapeType="1"/>
          </p:cNvSpPr>
          <p:nvPr/>
        </p:nvSpPr>
        <p:spPr bwMode="auto">
          <a:xfrm>
            <a:off x="5159820" y="487587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5068" name="Line 12"/>
          <p:cNvSpPr>
            <a:spLocks noChangeShapeType="1"/>
          </p:cNvSpPr>
          <p:nvPr/>
        </p:nvSpPr>
        <p:spPr bwMode="auto">
          <a:xfrm flipV="1">
            <a:off x="6455220" y="4875870"/>
            <a:ext cx="533400" cy="19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5069" name="Line 13"/>
          <p:cNvSpPr>
            <a:spLocks noChangeShapeType="1"/>
          </p:cNvSpPr>
          <p:nvPr/>
        </p:nvSpPr>
        <p:spPr bwMode="auto">
          <a:xfrm flipH="1">
            <a:off x="3940620" y="4209120"/>
            <a:ext cx="6858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5070" name="Line 14"/>
          <p:cNvSpPr>
            <a:spLocks noChangeShapeType="1"/>
          </p:cNvSpPr>
          <p:nvPr/>
        </p:nvSpPr>
        <p:spPr bwMode="auto">
          <a:xfrm flipH="1" flipV="1">
            <a:off x="5083620" y="4209120"/>
            <a:ext cx="6858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5071" name="Oval 15"/>
          <p:cNvSpPr>
            <a:spLocks noChangeArrowheads="1"/>
          </p:cNvSpPr>
          <p:nvPr/>
        </p:nvSpPr>
        <p:spPr bwMode="auto">
          <a:xfrm>
            <a:off x="4562920" y="458377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5072" name="Oval 16"/>
          <p:cNvSpPr>
            <a:spLocks noChangeArrowheads="1"/>
          </p:cNvSpPr>
          <p:nvPr/>
        </p:nvSpPr>
        <p:spPr bwMode="auto">
          <a:xfrm>
            <a:off x="7001320" y="458377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5073" name="Oval 17"/>
          <p:cNvSpPr>
            <a:spLocks noChangeArrowheads="1"/>
          </p:cNvSpPr>
          <p:nvPr/>
        </p:nvSpPr>
        <p:spPr bwMode="auto">
          <a:xfrm>
            <a:off x="4562920" y="374557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5074" name="Oval 18"/>
          <p:cNvSpPr>
            <a:spLocks noChangeArrowheads="1"/>
          </p:cNvSpPr>
          <p:nvPr/>
        </p:nvSpPr>
        <p:spPr bwMode="auto">
          <a:xfrm>
            <a:off x="2270570" y="495842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5075" name="Oval 19"/>
          <p:cNvSpPr>
            <a:spLocks noChangeArrowheads="1"/>
          </p:cNvSpPr>
          <p:nvPr/>
        </p:nvSpPr>
        <p:spPr bwMode="auto">
          <a:xfrm>
            <a:off x="2499170" y="488222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5076" name="Oval 20"/>
          <p:cNvSpPr>
            <a:spLocks noChangeArrowheads="1"/>
          </p:cNvSpPr>
          <p:nvPr/>
        </p:nvSpPr>
        <p:spPr bwMode="auto">
          <a:xfrm>
            <a:off x="4785170" y="396782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5077" name="Rectangle 21"/>
          <p:cNvSpPr>
            <a:spLocks noChangeArrowheads="1"/>
          </p:cNvSpPr>
          <p:nvPr/>
        </p:nvSpPr>
        <p:spPr bwMode="auto">
          <a:xfrm>
            <a:off x="5753545" y="4699658"/>
            <a:ext cx="762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finish</a:t>
            </a:r>
          </a:p>
        </p:txBody>
      </p:sp>
      <p:sp>
        <p:nvSpPr>
          <p:cNvPr id="45078" name="Rectangle 22"/>
          <p:cNvSpPr>
            <a:spLocks noChangeArrowheads="1"/>
          </p:cNvSpPr>
          <p:nvPr/>
        </p:nvSpPr>
        <p:spPr bwMode="auto">
          <a:xfrm>
            <a:off x="4534345" y="5233058"/>
            <a:ext cx="6635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busy</a:t>
            </a:r>
          </a:p>
        </p:txBody>
      </p:sp>
      <p:sp>
        <p:nvSpPr>
          <p:cNvPr id="45079" name="Rectangle 23"/>
          <p:cNvSpPr>
            <a:spLocks noChangeArrowheads="1"/>
          </p:cNvSpPr>
          <p:nvPr/>
        </p:nvSpPr>
        <p:spPr bwMode="auto">
          <a:xfrm>
            <a:off x="4610545" y="3404258"/>
            <a:ext cx="5794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free</a:t>
            </a:r>
          </a:p>
        </p:txBody>
      </p:sp>
      <p:sp>
        <p:nvSpPr>
          <p:cNvPr id="45081" name="Line 25"/>
          <p:cNvSpPr>
            <a:spLocks noChangeShapeType="1"/>
          </p:cNvSpPr>
          <p:nvPr/>
        </p:nvSpPr>
        <p:spPr bwMode="auto">
          <a:xfrm>
            <a:off x="2188020" y="3751920"/>
            <a:ext cx="15240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5082" name="Rectangle 26"/>
          <p:cNvSpPr>
            <a:spLocks noChangeArrowheads="1"/>
          </p:cNvSpPr>
          <p:nvPr/>
        </p:nvSpPr>
        <p:spPr bwMode="auto">
          <a:xfrm>
            <a:off x="1273620" y="3423308"/>
            <a:ext cx="15732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 i="1"/>
              <a:t>client waiting</a:t>
            </a:r>
          </a:p>
        </p:txBody>
      </p:sp>
      <p:sp>
        <p:nvSpPr>
          <p:cNvPr id="45083" name="Line 27"/>
          <p:cNvSpPr>
            <a:spLocks noChangeShapeType="1"/>
          </p:cNvSpPr>
          <p:nvPr/>
        </p:nvSpPr>
        <p:spPr bwMode="auto">
          <a:xfrm flipH="1">
            <a:off x="5007420" y="344712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5084" name="Rectangle 28"/>
          <p:cNvSpPr>
            <a:spLocks noChangeArrowheads="1"/>
          </p:cNvSpPr>
          <p:nvPr/>
        </p:nvSpPr>
        <p:spPr bwMode="auto">
          <a:xfrm>
            <a:off x="4534345" y="2966108"/>
            <a:ext cx="28860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 i="1"/>
              <a:t>hairdresser ready to begin</a:t>
            </a:r>
          </a:p>
        </p:txBody>
      </p:sp>
      <p:sp>
        <p:nvSpPr>
          <p:cNvPr id="45085" name="Rectangle 29"/>
          <p:cNvSpPr>
            <a:spLocks noChangeArrowheads="1"/>
          </p:cNvSpPr>
          <p:nvPr/>
        </p:nvSpPr>
        <p:spPr bwMode="auto">
          <a:xfrm>
            <a:off x="504370" y="5854684"/>
            <a:ext cx="8973457" cy="749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285750" indent="-285750" algn="l" defTabSz="762000">
              <a:spcBef>
                <a:spcPct val="30000"/>
              </a:spcBef>
            </a:pPr>
            <a:r>
              <a:rPr lang="en-GB" dirty="0"/>
              <a:t>Note how easy it is to model the situation with multiple hairdressers..</a:t>
            </a:r>
          </a:p>
        </p:txBody>
      </p:sp>
      <p:sp>
        <p:nvSpPr>
          <p:cNvPr id="32" name="Slide Number Placeholder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32</a:t>
            </a:fld>
            <a:endParaRPr lang="en-GB"/>
          </a:p>
        </p:txBody>
      </p:sp>
      <p:sp>
        <p:nvSpPr>
          <p:cNvPr id="33" name="Footer Placeholder 3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>
          <a:xfrm>
            <a:off x="795338" y="357166"/>
            <a:ext cx="8158190" cy="1000131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Example - High-Level Petri Nets</a:t>
            </a:r>
          </a:p>
        </p:txBody>
      </p:sp>
      <p:sp>
        <p:nvSpPr>
          <p:cNvPr id="35" name="Rectangle 25"/>
          <p:cNvSpPr>
            <a:spLocks noChangeArrowheads="1"/>
          </p:cNvSpPr>
          <p:nvPr/>
        </p:nvSpPr>
        <p:spPr bwMode="auto">
          <a:xfrm>
            <a:off x="7011737" y="5302238"/>
            <a:ext cx="1009892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 dirty="0"/>
              <a:t>finished</a:t>
            </a:r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795338" y="500043"/>
            <a:ext cx="8301066" cy="857256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The Extension with Colour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523844" y="1571612"/>
            <a:ext cx="8715436" cy="1143008"/>
          </a:xfrm>
          <a:noFill/>
          <a:ln/>
        </p:spPr>
        <p:txBody>
          <a:bodyPr>
            <a:noAutofit/>
          </a:bodyPr>
          <a:lstStyle/>
          <a:p>
            <a:pPr>
              <a:buFontTx/>
              <a:buNone/>
            </a:pPr>
            <a:r>
              <a:rPr lang="en-GB" sz="2400" dirty="0"/>
              <a:t>A token often represents an object having all kinds of attributes.</a:t>
            </a:r>
          </a:p>
          <a:p>
            <a:pPr>
              <a:buFontTx/>
              <a:buNone/>
            </a:pPr>
            <a:r>
              <a:rPr lang="en-GB" sz="2400" dirty="0"/>
              <a:t>Therefore, each token has a </a:t>
            </a:r>
            <a:r>
              <a:rPr lang="en-GB" sz="2400" b="1" dirty="0"/>
              <a:t>value</a:t>
            </a:r>
            <a:r>
              <a:rPr lang="en-GB" sz="2400" dirty="0"/>
              <a:t> (colour) with refers to specific features of the object modelled by the token</a:t>
            </a:r>
            <a:r>
              <a:rPr lang="en-GB" sz="1600" dirty="0"/>
              <a:t>.</a:t>
            </a:r>
          </a:p>
        </p:txBody>
      </p:sp>
      <p:grpSp>
        <p:nvGrpSpPr>
          <p:cNvPr id="47130" name="Group 26"/>
          <p:cNvGrpSpPr>
            <a:grpSpLocks/>
          </p:cNvGrpSpPr>
          <p:nvPr/>
        </p:nvGrpSpPr>
        <p:grpSpPr bwMode="auto">
          <a:xfrm>
            <a:off x="2055795" y="3538544"/>
            <a:ext cx="5641975" cy="2195512"/>
            <a:chOff x="902" y="1977"/>
            <a:chExt cx="3554" cy="1383"/>
          </a:xfrm>
        </p:grpSpPr>
        <p:sp>
          <p:nvSpPr>
            <p:cNvPr id="47108" name="Rectangle 4"/>
            <p:cNvSpPr>
              <a:spLocks noChangeArrowheads="1"/>
            </p:cNvSpPr>
            <p:nvPr/>
          </p:nvSpPr>
          <p:spPr bwMode="auto">
            <a:xfrm>
              <a:off x="1784" y="2720"/>
              <a:ext cx="368" cy="36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7109" name="Oval 5"/>
            <p:cNvSpPr>
              <a:spLocks noChangeArrowheads="1"/>
            </p:cNvSpPr>
            <p:nvPr/>
          </p:nvSpPr>
          <p:spPr bwMode="auto">
            <a:xfrm>
              <a:off x="1016" y="2720"/>
              <a:ext cx="368" cy="3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7110" name="Line 6"/>
            <p:cNvSpPr>
              <a:spLocks noChangeShapeType="1"/>
            </p:cNvSpPr>
            <p:nvPr/>
          </p:nvSpPr>
          <p:spPr bwMode="auto">
            <a:xfrm>
              <a:off x="1392" y="2904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47111" name="Oval 7"/>
            <p:cNvSpPr>
              <a:spLocks noChangeArrowheads="1"/>
            </p:cNvSpPr>
            <p:nvPr/>
          </p:nvSpPr>
          <p:spPr bwMode="auto">
            <a:xfrm>
              <a:off x="1108" y="2812"/>
              <a:ext cx="88" cy="88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7112" name="Rectangle 8"/>
            <p:cNvSpPr>
              <a:spLocks noChangeArrowheads="1"/>
            </p:cNvSpPr>
            <p:nvPr/>
          </p:nvSpPr>
          <p:spPr bwMode="auto">
            <a:xfrm>
              <a:off x="1766" y="2793"/>
              <a:ext cx="3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/>
                <a:t>start</a:t>
              </a:r>
            </a:p>
          </p:txBody>
        </p:sp>
        <p:sp>
          <p:nvSpPr>
            <p:cNvPr id="47113" name="Rectangle 9"/>
            <p:cNvSpPr>
              <a:spLocks noChangeArrowheads="1"/>
            </p:cNvSpPr>
            <p:nvPr/>
          </p:nvSpPr>
          <p:spPr bwMode="auto">
            <a:xfrm>
              <a:off x="902" y="3129"/>
              <a:ext cx="5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/>
                <a:t>waiting</a:t>
              </a:r>
            </a:p>
          </p:txBody>
        </p:sp>
        <p:sp>
          <p:nvSpPr>
            <p:cNvPr id="47114" name="Rectangle 10"/>
            <p:cNvSpPr>
              <a:spLocks noChangeArrowheads="1"/>
            </p:cNvSpPr>
            <p:nvPr/>
          </p:nvSpPr>
          <p:spPr bwMode="auto">
            <a:xfrm>
              <a:off x="3320" y="2720"/>
              <a:ext cx="416" cy="36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7115" name="Line 11"/>
            <p:cNvSpPr>
              <a:spLocks noChangeShapeType="1"/>
            </p:cNvSpPr>
            <p:nvPr/>
          </p:nvSpPr>
          <p:spPr bwMode="auto">
            <a:xfrm>
              <a:off x="2160" y="2904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47116" name="Line 12"/>
            <p:cNvSpPr>
              <a:spLocks noChangeShapeType="1"/>
            </p:cNvSpPr>
            <p:nvPr/>
          </p:nvSpPr>
          <p:spPr bwMode="auto">
            <a:xfrm>
              <a:off x="2928" y="2904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47117" name="Line 13"/>
            <p:cNvSpPr>
              <a:spLocks noChangeShapeType="1"/>
            </p:cNvSpPr>
            <p:nvPr/>
          </p:nvSpPr>
          <p:spPr bwMode="auto">
            <a:xfrm flipV="1">
              <a:off x="3744" y="2904"/>
              <a:ext cx="336" cy="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47118" name="Line 14"/>
            <p:cNvSpPr>
              <a:spLocks noChangeShapeType="1"/>
            </p:cNvSpPr>
            <p:nvPr/>
          </p:nvSpPr>
          <p:spPr bwMode="auto">
            <a:xfrm flipH="1">
              <a:off x="2160" y="2484"/>
              <a:ext cx="432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47119" name="Line 15"/>
            <p:cNvSpPr>
              <a:spLocks noChangeShapeType="1"/>
            </p:cNvSpPr>
            <p:nvPr/>
          </p:nvSpPr>
          <p:spPr bwMode="auto">
            <a:xfrm flipH="1" flipV="1">
              <a:off x="2880" y="2484"/>
              <a:ext cx="432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47120" name="Oval 16"/>
            <p:cNvSpPr>
              <a:spLocks noChangeArrowheads="1"/>
            </p:cNvSpPr>
            <p:nvPr/>
          </p:nvSpPr>
          <p:spPr bwMode="auto">
            <a:xfrm>
              <a:off x="2552" y="2720"/>
              <a:ext cx="368" cy="3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7121" name="Oval 17"/>
            <p:cNvSpPr>
              <a:spLocks noChangeArrowheads="1"/>
            </p:cNvSpPr>
            <p:nvPr/>
          </p:nvSpPr>
          <p:spPr bwMode="auto">
            <a:xfrm>
              <a:off x="4088" y="2720"/>
              <a:ext cx="368" cy="3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7122" name="Oval 18"/>
            <p:cNvSpPr>
              <a:spLocks noChangeArrowheads="1"/>
            </p:cNvSpPr>
            <p:nvPr/>
          </p:nvSpPr>
          <p:spPr bwMode="auto">
            <a:xfrm>
              <a:off x="2552" y="2192"/>
              <a:ext cx="368" cy="3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7123" name="Oval 19"/>
            <p:cNvSpPr>
              <a:spLocks noChangeArrowheads="1"/>
            </p:cNvSpPr>
            <p:nvPr/>
          </p:nvSpPr>
          <p:spPr bwMode="auto">
            <a:xfrm>
              <a:off x="1108" y="2956"/>
              <a:ext cx="88" cy="88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7124" name="Oval 20"/>
            <p:cNvSpPr>
              <a:spLocks noChangeArrowheads="1"/>
            </p:cNvSpPr>
            <p:nvPr/>
          </p:nvSpPr>
          <p:spPr bwMode="auto">
            <a:xfrm>
              <a:off x="1252" y="2908"/>
              <a:ext cx="88" cy="88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7125" name="Oval 21"/>
            <p:cNvSpPr>
              <a:spLocks noChangeArrowheads="1"/>
            </p:cNvSpPr>
            <p:nvPr/>
          </p:nvSpPr>
          <p:spPr bwMode="auto">
            <a:xfrm>
              <a:off x="2692" y="2332"/>
              <a:ext cx="88" cy="88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7126" name="Rectangle 22"/>
            <p:cNvSpPr>
              <a:spLocks noChangeArrowheads="1"/>
            </p:cNvSpPr>
            <p:nvPr/>
          </p:nvSpPr>
          <p:spPr bwMode="auto">
            <a:xfrm>
              <a:off x="3302" y="2793"/>
              <a:ext cx="48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/>
                <a:t>finish</a:t>
              </a:r>
            </a:p>
          </p:txBody>
        </p:sp>
        <p:sp>
          <p:nvSpPr>
            <p:cNvPr id="47127" name="Rectangle 23"/>
            <p:cNvSpPr>
              <a:spLocks noChangeArrowheads="1"/>
            </p:cNvSpPr>
            <p:nvPr/>
          </p:nvSpPr>
          <p:spPr bwMode="auto">
            <a:xfrm>
              <a:off x="2534" y="3129"/>
              <a:ext cx="41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/>
                <a:t>busy</a:t>
              </a:r>
            </a:p>
          </p:txBody>
        </p:sp>
        <p:sp>
          <p:nvSpPr>
            <p:cNvPr id="47128" name="Rectangle 24"/>
            <p:cNvSpPr>
              <a:spLocks noChangeArrowheads="1"/>
            </p:cNvSpPr>
            <p:nvPr/>
          </p:nvSpPr>
          <p:spPr bwMode="auto">
            <a:xfrm>
              <a:off x="2582" y="1977"/>
              <a:ext cx="36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/>
                <a:t>free</a:t>
              </a:r>
            </a:p>
          </p:txBody>
        </p:sp>
      </p:grpSp>
      <p:sp>
        <p:nvSpPr>
          <p:cNvPr id="47131" name="Rectangle 27"/>
          <p:cNvSpPr>
            <a:spLocks noChangeArrowheads="1"/>
          </p:cNvSpPr>
          <p:nvPr/>
        </p:nvSpPr>
        <p:spPr bwMode="auto">
          <a:xfrm>
            <a:off x="5935645" y="3417894"/>
            <a:ext cx="1557338" cy="928687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 dirty="0"/>
              <a:t>name: Harry</a:t>
            </a:r>
          </a:p>
          <a:p>
            <a:pPr algn="l" defTabSz="762000"/>
            <a:r>
              <a:rPr lang="en-GB" sz="2000" dirty="0"/>
              <a:t>age: 28</a:t>
            </a:r>
          </a:p>
          <a:p>
            <a:pPr algn="l" defTabSz="762000"/>
            <a:r>
              <a:rPr lang="en-GB" sz="2000" dirty="0"/>
              <a:t>experience: 2</a:t>
            </a:r>
          </a:p>
        </p:txBody>
      </p:sp>
      <p:sp>
        <p:nvSpPr>
          <p:cNvPr id="47132" name="Line 28"/>
          <p:cNvSpPr>
            <a:spLocks noChangeShapeType="1"/>
          </p:cNvSpPr>
          <p:nvPr/>
        </p:nvSpPr>
        <p:spPr bwMode="auto">
          <a:xfrm flipV="1">
            <a:off x="5119670" y="3981456"/>
            <a:ext cx="7620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7133" name="Rectangle 29"/>
          <p:cNvSpPr>
            <a:spLocks noChangeArrowheads="1"/>
          </p:cNvSpPr>
          <p:nvPr/>
        </p:nvSpPr>
        <p:spPr bwMode="auto">
          <a:xfrm>
            <a:off x="1820845" y="3341694"/>
            <a:ext cx="1487488" cy="928687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name: Sally</a:t>
            </a:r>
          </a:p>
          <a:p>
            <a:pPr algn="l" defTabSz="762000"/>
            <a:r>
              <a:rPr lang="en-GB" sz="2000"/>
              <a:t>age: 28</a:t>
            </a:r>
          </a:p>
          <a:p>
            <a:pPr algn="l" defTabSz="762000"/>
            <a:r>
              <a:rPr lang="en-GB" sz="2000"/>
              <a:t>hairtype: BL</a:t>
            </a:r>
          </a:p>
        </p:txBody>
      </p:sp>
      <p:sp>
        <p:nvSpPr>
          <p:cNvPr id="47134" name="Line 30"/>
          <p:cNvSpPr>
            <a:spLocks noChangeShapeType="1"/>
          </p:cNvSpPr>
          <p:nvPr/>
        </p:nvSpPr>
        <p:spPr bwMode="auto">
          <a:xfrm>
            <a:off x="2452670" y="4286256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33</a:t>
            </a:fld>
            <a:endParaRPr lang="en-GB"/>
          </a:p>
        </p:txBody>
      </p:sp>
      <p:sp>
        <p:nvSpPr>
          <p:cNvPr id="34" name="Footer Placeholder 3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09662" y="3143248"/>
            <a:ext cx="7143800" cy="285752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25"/>
          <p:cNvSpPr>
            <a:spLocks noChangeArrowheads="1"/>
          </p:cNvSpPr>
          <p:nvPr/>
        </p:nvSpPr>
        <p:spPr bwMode="auto">
          <a:xfrm>
            <a:off x="7077052" y="5465524"/>
            <a:ext cx="1009892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 dirty="0"/>
              <a:t>finished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31" grpId="0" animBg="1"/>
      <p:bldP spid="47132" grpId="0" animBg="1"/>
      <p:bldP spid="47133" grpId="0" animBg="1"/>
      <p:bldP spid="47134" grpId="0" animBg="1"/>
      <p:bldP spid="3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idx="1"/>
          </p:nvPr>
        </p:nvSpPr>
        <p:spPr>
          <a:xfrm>
            <a:off x="452406" y="1785926"/>
            <a:ext cx="8929750" cy="4357718"/>
          </a:xfrm>
          <a:noFill/>
          <a:ln/>
        </p:spPr>
        <p:txBody>
          <a:bodyPr>
            <a:noAutofit/>
          </a:bodyPr>
          <a:lstStyle/>
          <a:p>
            <a:r>
              <a:rPr lang="en-GB" sz="2800" dirty="0"/>
              <a:t>Each transition has an (in)formal specification which specifies:</a:t>
            </a:r>
          </a:p>
          <a:p>
            <a:pPr lvl="1"/>
            <a:r>
              <a:rPr lang="en-GB" sz="2200" dirty="0"/>
              <a:t>the number of tokens to be produced,</a:t>
            </a:r>
          </a:p>
          <a:p>
            <a:pPr lvl="1"/>
            <a:r>
              <a:rPr lang="en-GB" sz="2200" dirty="0"/>
              <a:t>the values of these tokens,</a:t>
            </a:r>
          </a:p>
          <a:p>
            <a:pPr lvl="1"/>
            <a:r>
              <a:rPr lang="en-GB" sz="2200" dirty="0"/>
              <a:t>and (optionally) a precondition.</a:t>
            </a:r>
            <a:endParaRPr lang="en-GB" sz="2800" dirty="0"/>
          </a:p>
          <a:p>
            <a:r>
              <a:rPr lang="en-GB" sz="2800" dirty="0"/>
              <a:t>The complexity is divided over the network and the values of tokens.</a:t>
            </a:r>
          </a:p>
          <a:p>
            <a:r>
              <a:rPr lang="en-GB" sz="2800" dirty="0"/>
              <a:t>This results in a compact, manageable and natural process description.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34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795338" y="500043"/>
            <a:ext cx="8301066" cy="857256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The Extension with Colour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795338" y="285729"/>
            <a:ext cx="8301066" cy="1071570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Examples</a:t>
            </a:r>
          </a:p>
        </p:txBody>
      </p:sp>
      <p:sp>
        <p:nvSpPr>
          <p:cNvPr id="51203" name="Rectangle 3"/>
          <p:cNvSpPr>
            <a:spLocks noChangeArrowheads="1"/>
          </p:cNvSpPr>
          <p:nvPr/>
        </p:nvSpPr>
        <p:spPr bwMode="auto">
          <a:xfrm>
            <a:off x="2679700" y="2127250"/>
            <a:ext cx="584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1204" name="Oval 4"/>
          <p:cNvSpPr>
            <a:spLocks noChangeArrowheads="1"/>
          </p:cNvSpPr>
          <p:nvPr/>
        </p:nvSpPr>
        <p:spPr bwMode="auto">
          <a:xfrm>
            <a:off x="1308100" y="258445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1205" name="Line 5"/>
          <p:cNvSpPr>
            <a:spLocks noChangeShapeType="1"/>
          </p:cNvSpPr>
          <p:nvPr/>
        </p:nvSpPr>
        <p:spPr bwMode="auto">
          <a:xfrm>
            <a:off x="1905000" y="2057400"/>
            <a:ext cx="762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1206" name="Oval 6"/>
          <p:cNvSpPr>
            <a:spLocks noChangeArrowheads="1"/>
          </p:cNvSpPr>
          <p:nvPr/>
        </p:nvSpPr>
        <p:spPr bwMode="auto">
          <a:xfrm>
            <a:off x="1530350" y="280670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1207" name="Rectangle 7"/>
          <p:cNvSpPr>
            <a:spLocks noChangeArrowheads="1"/>
          </p:cNvSpPr>
          <p:nvPr/>
        </p:nvSpPr>
        <p:spPr bwMode="auto">
          <a:xfrm>
            <a:off x="3108325" y="1633538"/>
            <a:ext cx="10207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c := a+b</a:t>
            </a:r>
          </a:p>
        </p:txBody>
      </p:sp>
      <p:sp>
        <p:nvSpPr>
          <p:cNvPr id="51208" name="Line 8"/>
          <p:cNvSpPr>
            <a:spLocks noChangeShapeType="1"/>
          </p:cNvSpPr>
          <p:nvPr/>
        </p:nvSpPr>
        <p:spPr bwMode="auto">
          <a:xfrm flipV="1">
            <a:off x="1905000" y="2590800"/>
            <a:ext cx="7620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1209" name="Line 9"/>
          <p:cNvSpPr>
            <a:spLocks noChangeShapeType="1"/>
          </p:cNvSpPr>
          <p:nvPr/>
        </p:nvSpPr>
        <p:spPr bwMode="auto">
          <a:xfrm>
            <a:off x="3276600" y="2419350"/>
            <a:ext cx="685800" cy="19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1210" name="Oval 10"/>
          <p:cNvSpPr>
            <a:spLocks noChangeArrowheads="1"/>
          </p:cNvSpPr>
          <p:nvPr/>
        </p:nvSpPr>
        <p:spPr bwMode="auto">
          <a:xfrm>
            <a:off x="1308100" y="167005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1211" name="Oval 11"/>
          <p:cNvSpPr>
            <a:spLocks noChangeArrowheads="1"/>
          </p:cNvSpPr>
          <p:nvPr/>
        </p:nvSpPr>
        <p:spPr bwMode="auto">
          <a:xfrm>
            <a:off x="3975100" y="212725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1212" name="Oval 12"/>
          <p:cNvSpPr>
            <a:spLocks noChangeArrowheads="1"/>
          </p:cNvSpPr>
          <p:nvPr/>
        </p:nvSpPr>
        <p:spPr bwMode="auto">
          <a:xfrm>
            <a:off x="1530350" y="189230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1213" name="Rectangle 13"/>
          <p:cNvSpPr>
            <a:spLocks noChangeArrowheads="1"/>
          </p:cNvSpPr>
          <p:nvPr/>
        </p:nvSpPr>
        <p:spPr bwMode="auto">
          <a:xfrm>
            <a:off x="974725" y="1785938"/>
            <a:ext cx="2968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a</a:t>
            </a:r>
          </a:p>
        </p:txBody>
      </p:sp>
      <p:sp>
        <p:nvSpPr>
          <p:cNvPr id="51214" name="Rectangle 14"/>
          <p:cNvSpPr>
            <a:spLocks noChangeArrowheads="1"/>
          </p:cNvSpPr>
          <p:nvPr/>
        </p:nvSpPr>
        <p:spPr bwMode="auto">
          <a:xfrm>
            <a:off x="974725" y="27003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b</a:t>
            </a:r>
          </a:p>
        </p:txBody>
      </p:sp>
      <p:sp>
        <p:nvSpPr>
          <p:cNvPr id="51215" name="Rectangle 15"/>
          <p:cNvSpPr>
            <a:spLocks noChangeArrowheads="1"/>
          </p:cNvSpPr>
          <p:nvPr/>
        </p:nvSpPr>
        <p:spPr bwMode="auto">
          <a:xfrm>
            <a:off x="4098925" y="2776538"/>
            <a:ext cx="2968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c</a:t>
            </a:r>
          </a:p>
        </p:txBody>
      </p:sp>
      <p:sp>
        <p:nvSpPr>
          <p:cNvPr id="51216" name="Rectangle 16"/>
          <p:cNvSpPr>
            <a:spLocks noChangeArrowheads="1"/>
          </p:cNvSpPr>
          <p:nvPr/>
        </p:nvSpPr>
        <p:spPr bwMode="auto">
          <a:xfrm>
            <a:off x="2803525" y="2243138"/>
            <a:ext cx="3270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+</a:t>
            </a:r>
          </a:p>
        </p:txBody>
      </p:sp>
      <p:sp>
        <p:nvSpPr>
          <p:cNvPr id="51217" name="Rectangle 17"/>
          <p:cNvSpPr>
            <a:spLocks noChangeArrowheads="1"/>
          </p:cNvSpPr>
          <p:nvPr/>
        </p:nvSpPr>
        <p:spPr bwMode="auto">
          <a:xfrm>
            <a:off x="6642100" y="2127250"/>
            <a:ext cx="584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1218" name="Rectangle 18"/>
          <p:cNvSpPr>
            <a:spLocks noChangeArrowheads="1"/>
          </p:cNvSpPr>
          <p:nvPr/>
        </p:nvSpPr>
        <p:spPr bwMode="auto">
          <a:xfrm>
            <a:off x="7070725" y="1633538"/>
            <a:ext cx="8493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b := -a</a:t>
            </a:r>
          </a:p>
        </p:txBody>
      </p:sp>
      <p:sp>
        <p:nvSpPr>
          <p:cNvPr id="51219" name="Line 19"/>
          <p:cNvSpPr>
            <a:spLocks noChangeShapeType="1"/>
          </p:cNvSpPr>
          <p:nvPr/>
        </p:nvSpPr>
        <p:spPr bwMode="auto">
          <a:xfrm>
            <a:off x="7239000" y="2419350"/>
            <a:ext cx="685800" cy="19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1220" name="Oval 20"/>
          <p:cNvSpPr>
            <a:spLocks noChangeArrowheads="1"/>
          </p:cNvSpPr>
          <p:nvPr/>
        </p:nvSpPr>
        <p:spPr bwMode="auto">
          <a:xfrm>
            <a:off x="5346700" y="212725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1221" name="Oval 21"/>
          <p:cNvSpPr>
            <a:spLocks noChangeArrowheads="1"/>
          </p:cNvSpPr>
          <p:nvPr/>
        </p:nvSpPr>
        <p:spPr bwMode="auto">
          <a:xfrm>
            <a:off x="7937500" y="212725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1222" name="Oval 22"/>
          <p:cNvSpPr>
            <a:spLocks noChangeArrowheads="1"/>
          </p:cNvSpPr>
          <p:nvPr/>
        </p:nvSpPr>
        <p:spPr bwMode="auto">
          <a:xfrm>
            <a:off x="5568950" y="234950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1223" name="Rectangle 23"/>
          <p:cNvSpPr>
            <a:spLocks noChangeArrowheads="1"/>
          </p:cNvSpPr>
          <p:nvPr/>
        </p:nvSpPr>
        <p:spPr bwMode="auto">
          <a:xfrm>
            <a:off x="8670925" y="22431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b</a:t>
            </a:r>
          </a:p>
        </p:txBody>
      </p:sp>
      <p:sp>
        <p:nvSpPr>
          <p:cNvPr id="51224" name="Rectangle 24"/>
          <p:cNvSpPr>
            <a:spLocks noChangeArrowheads="1"/>
          </p:cNvSpPr>
          <p:nvPr/>
        </p:nvSpPr>
        <p:spPr bwMode="auto">
          <a:xfrm>
            <a:off x="6667512" y="2214554"/>
            <a:ext cx="556243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 dirty="0" err="1"/>
              <a:t>neg</a:t>
            </a:r>
            <a:endParaRPr lang="en-GB" sz="2000" dirty="0"/>
          </a:p>
        </p:txBody>
      </p:sp>
      <p:sp>
        <p:nvSpPr>
          <p:cNvPr id="51225" name="Line 25"/>
          <p:cNvSpPr>
            <a:spLocks noChangeShapeType="1"/>
          </p:cNvSpPr>
          <p:nvPr/>
        </p:nvSpPr>
        <p:spPr bwMode="auto">
          <a:xfrm>
            <a:off x="5943600" y="2419350"/>
            <a:ext cx="685800" cy="19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1226" name="Rectangle 26"/>
          <p:cNvSpPr>
            <a:spLocks noChangeArrowheads="1"/>
          </p:cNvSpPr>
          <p:nvPr/>
        </p:nvSpPr>
        <p:spPr bwMode="auto">
          <a:xfrm>
            <a:off x="5013325" y="2243138"/>
            <a:ext cx="2968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a</a:t>
            </a:r>
          </a:p>
        </p:txBody>
      </p:sp>
      <p:sp>
        <p:nvSpPr>
          <p:cNvPr id="51227" name="Rectangle 27"/>
          <p:cNvSpPr>
            <a:spLocks noChangeArrowheads="1"/>
          </p:cNvSpPr>
          <p:nvPr/>
        </p:nvSpPr>
        <p:spPr bwMode="auto">
          <a:xfrm>
            <a:off x="2451100" y="4260850"/>
            <a:ext cx="644525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1228" name="Oval 28"/>
          <p:cNvSpPr>
            <a:spLocks noChangeArrowheads="1"/>
          </p:cNvSpPr>
          <p:nvPr/>
        </p:nvSpPr>
        <p:spPr bwMode="auto">
          <a:xfrm>
            <a:off x="3883025" y="471805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1229" name="Line 29"/>
          <p:cNvSpPr>
            <a:spLocks noChangeShapeType="1"/>
          </p:cNvSpPr>
          <p:nvPr/>
        </p:nvSpPr>
        <p:spPr bwMode="auto">
          <a:xfrm>
            <a:off x="3108325" y="4724400"/>
            <a:ext cx="762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1230" name="Rectangle 30"/>
          <p:cNvSpPr>
            <a:spLocks noChangeArrowheads="1"/>
          </p:cNvSpPr>
          <p:nvPr/>
        </p:nvSpPr>
        <p:spPr bwMode="auto">
          <a:xfrm flipH="1">
            <a:off x="1747838" y="4986338"/>
            <a:ext cx="1201737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if a&gt; 0</a:t>
            </a:r>
          </a:p>
          <a:p>
            <a:pPr algn="l" defTabSz="762000"/>
            <a:r>
              <a:rPr lang="en-GB" sz="2000"/>
              <a:t>then b:= a</a:t>
            </a:r>
          </a:p>
          <a:p>
            <a:pPr algn="l" defTabSz="762000"/>
            <a:r>
              <a:rPr lang="en-GB" sz="2000"/>
              <a:t>else c:=a</a:t>
            </a:r>
          </a:p>
          <a:p>
            <a:pPr algn="l" defTabSz="762000"/>
            <a:r>
              <a:rPr lang="en-GB" sz="2000"/>
              <a:t>fi</a:t>
            </a:r>
          </a:p>
        </p:txBody>
      </p:sp>
      <p:sp>
        <p:nvSpPr>
          <p:cNvPr id="51231" name="Line 31"/>
          <p:cNvSpPr>
            <a:spLocks noChangeShapeType="1"/>
          </p:cNvSpPr>
          <p:nvPr/>
        </p:nvSpPr>
        <p:spPr bwMode="auto">
          <a:xfrm flipV="1">
            <a:off x="3108325" y="4191000"/>
            <a:ext cx="7620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1232" name="Line 32"/>
          <p:cNvSpPr>
            <a:spLocks noChangeShapeType="1"/>
          </p:cNvSpPr>
          <p:nvPr/>
        </p:nvSpPr>
        <p:spPr bwMode="auto">
          <a:xfrm>
            <a:off x="1812925" y="4552950"/>
            <a:ext cx="639745" cy="1905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1233" name="Oval 33"/>
          <p:cNvSpPr>
            <a:spLocks noChangeArrowheads="1"/>
          </p:cNvSpPr>
          <p:nvPr/>
        </p:nvSpPr>
        <p:spPr bwMode="auto">
          <a:xfrm>
            <a:off x="3883025" y="380365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1234" name="Oval 34"/>
          <p:cNvSpPr>
            <a:spLocks noChangeArrowheads="1"/>
          </p:cNvSpPr>
          <p:nvPr/>
        </p:nvSpPr>
        <p:spPr bwMode="auto">
          <a:xfrm>
            <a:off x="1216025" y="426085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1235" name="Oval 35"/>
          <p:cNvSpPr>
            <a:spLocks noChangeArrowheads="1"/>
          </p:cNvSpPr>
          <p:nvPr/>
        </p:nvSpPr>
        <p:spPr bwMode="auto">
          <a:xfrm>
            <a:off x="1438275" y="448310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1236" name="Rectangle 36"/>
          <p:cNvSpPr>
            <a:spLocks noChangeArrowheads="1"/>
          </p:cNvSpPr>
          <p:nvPr/>
        </p:nvSpPr>
        <p:spPr bwMode="auto">
          <a:xfrm flipH="1">
            <a:off x="1247775" y="3843338"/>
            <a:ext cx="2968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a</a:t>
            </a:r>
          </a:p>
        </p:txBody>
      </p:sp>
      <p:sp>
        <p:nvSpPr>
          <p:cNvPr id="51237" name="Rectangle 37"/>
          <p:cNvSpPr>
            <a:spLocks noChangeArrowheads="1"/>
          </p:cNvSpPr>
          <p:nvPr/>
        </p:nvSpPr>
        <p:spPr bwMode="auto">
          <a:xfrm flipH="1">
            <a:off x="4425950" y="39195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b</a:t>
            </a:r>
          </a:p>
        </p:txBody>
      </p:sp>
      <p:sp>
        <p:nvSpPr>
          <p:cNvPr id="51238" name="Rectangle 38"/>
          <p:cNvSpPr>
            <a:spLocks noChangeArrowheads="1"/>
          </p:cNvSpPr>
          <p:nvPr/>
        </p:nvSpPr>
        <p:spPr bwMode="auto">
          <a:xfrm flipH="1">
            <a:off x="4448175" y="4833938"/>
            <a:ext cx="2968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c</a:t>
            </a:r>
          </a:p>
        </p:txBody>
      </p:sp>
      <p:sp>
        <p:nvSpPr>
          <p:cNvPr id="51239" name="Rectangle 39"/>
          <p:cNvSpPr>
            <a:spLocks noChangeArrowheads="1"/>
          </p:cNvSpPr>
          <p:nvPr/>
        </p:nvSpPr>
        <p:spPr bwMode="auto">
          <a:xfrm flipH="1">
            <a:off x="2452670" y="4357694"/>
            <a:ext cx="711733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1800" dirty="0"/>
              <a:t>select</a:t>
            </a:r>
          </a:p>
        </p:txBody>
      </p:sp>
      <p:sp>
        <p:nvSpPr>
          <p:cNvPr id="51240" name="Rectangle 40"/>
          <p:cNvSpPr>
            <a:spLocks noChangeArrowheads="1"/>
          </p:cNvSpPr>
          <p:nvPr/>
        </p:nvSpPr>
        <p:spPr bwMode="auto">
          <a:xfrm>
            <a:off x="6794500" y="4032250"/>
            <a:ext cx="584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1241" name="Rectangle 41"/>
          <p:cNvSpPr>
            <a:spLocks noChangeArrowheads="1"/>
          </p:cNvSpPr>
          <p:nvPr/>
        </p:nvSpPr>
        <p:spPr bwMode="auto">
          <a:xfrm>
            <a:off x="6689725" y="3614738"/>
            <a:ext cx="17351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a &gt;=0 | b := </a:t>
            </a:r>
            <a:r>
              <a:rPr lang="en-GB" sz="2000">
                <a:latin typeface="Symbol" pitchFamily="18" charset="2"/>
              </a:rPr>
              <a:t>Ö</a:t>
            </a:r>
            <a:r>
              <a:rPr lang="en-GB" sz="2000"/>
              <a:t> a</a:t>
            </a:r>
          </a:p>
        </p:txBody>
      </p:sp>
      <p:sp>
        <p:nvSpPr>
          <p:cNvPr id="51242" name="Line 42"/>
          <p:cNvSpPr>
            <a:spLocks noChangeShapeType="1"/>
          </p:cNvSpPr>
          <p:nvPr/>
        </p:nvSpPr>
        <p:spPr bwMode="auto">
          <a:xfrm>
            <a:off x="7391400" y="4324350"/>
            <a:ext cx="685800" cy="19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1243" name="Oval 43"/>
          <p:cNvSpPr>
            <a:spLocks noChangeArrowheads="1"/>
          </p:cNvSpPr>
          <p:nvPr/>
        </p:nvSpPr>
        <p:spPr bwMode="auto">
          <a:xfrm>
            <a:off x="5499100" y="403225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1244" name="Oval 44"/>
          <p:cNvSpPr>
            <a:spLocks noChangeArrowheads="1"/>
          </p:cNvSpPr>
          <p:nvPr/>
        </p:nvSpPr>
        <p:spPr bwMode="auto">
          <a:xfrm>
            <a:off x="8089900" y="4032250"/>
            <a:ext cx="584200" cy="584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1245" name="Oval 45"/>
          <p:cNvSpPr>
            <a:spLocks noChangeArrowheads="1"/>
          </p:cNvSpPr>
          <p:nvPr/>
        </p:nvSpPr>
        <p:spPr bwMode="auto">
          <a:xfrm>
            <a:off x="5721350" y="4254500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1246" name="Rectangle 46"/>
          <p:cNvSpPr>
            <a:spLocks noChangeArrowheads="1"/>
          </p:cNvSpPr>
          <p:nvPr/>
        </p:nvSpPr>
        <p:spPr bwMode="auto">
          <a:xfrm>
            <a:off x="8823325" y="41481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b</a:t>
            </a:r>
          </a:p>
        </p:txBody>
      </p:sp>
      <p:sp>
        <p:nvSpPr>
          <p:cNvPr id="51247" name="Rectangle 47"/>
          <p:cNvSpPr>
            <a:spLocks noChangeArrowheads="1"/>
          </p:cNvSpPr>
          <p:nvPr/>
        </p:nvSpPr>
        <p:spPr bwMode="auto">
          <a:xfrm>
            <a:off x="6810388" y="4143380"/>
            <a:ext cx="565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 dirty="0" err="1"/>
              <a:t>sqrt</a:t>
            </a:r>
            <a:endParaRPr lang="en-GB" sz="2000" dirty="0"/>
          </a:p>
        </p:txBody>
      </p:sp>
      <p:sp>
        <p:nvSpPr>
          <p:cNvPr id="51248" name="Line 48"/>
          <p:cNvSpPr>
            <a:spLocks noChangeShapeType="1"/>
          </p:cNvSpPr>
          <p:nvPr/>
        </p:nvSpPr>
        <p:spPr bwMode="auto">
          <a:xfrm>
            <a:off x="6096000" y="4324350"/>
            <a:ext cx="685800" cy="19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1249" name="Rectangle 49"/>
          <p:cNvSpPr>
            <a:spLocks noChangeArrowheads="1"/>
          </p:cNvSpPr>
          <p:nvPr/>
        </p:nvSpPr>
        <p:spPr bwMode="auto">
          <a:xfrm>
            <a:off x="5165725" y="4148138"/>
            <a:ext cx="2968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/>
              <a:t>a</a:t>
            </a:r>
          </a:p>
        </p:txBody>
      </p:sp>
      <p:sp>
        <p:nvSpPr>
          <p:cNvPr id="51250" name="Rectangle 50"/>
          <p:cNvSpPr>
            <a:spLocks noChangeArrowheads="1"/>
          </p:cNvSpPr>
          <p:nvPr/>
        </p:nvSpPr>
        <p:spPr bwMode="auto">
          <a:xfrm>
            <a:off x="4833938" y="5688013"/>
            <a:ext cx="4602162" cy="661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>
              <a:lnSpc>
                <a:spcPct val="85000"/>
              </a:lnSpc>
            </a:pPr>
            <a:r>
              <a:rPr lang="en-GB"/>
              <a:t>Exercise:</a:t>
            </a:r>
          </a:p>
          <a:p>
            <a:pPr algn="l" defTabSz="762000">
              <a:lnSpc>
                <a:spcPct val="85000"/>
              </a:lnSpc>
            </a:pPr>
            <a:r>
              <a:rPr lang="en-GB" sz="2000"/>
              <a:t>calculate </a:t>
            </a:r>
            <a:r>
              <a:rPr lang="en-GB" sz="2000">
                <a:latin typeface="Symbol" pitchFamily="18" charset="2"/>
              </a:rPr>
              <a:t>Ö </a:t>
            </a:r>
            <a:r>
              <a:rPr lang="en-GB" sz="2000"/>
              <a:t>|a+b| using these buiding blocks</a:t>
            </a:r>
          </a:p>
        </p:txBody>
      </p:sp>
      <p:sp>
        <p:nvSpPr>
          <p:cNvPr id="53" name="Slide Number Placeholder 5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35</a:t>
            </a:fld>
            <a:endParaRPr lang="en-GB"/>
          </a:p>
        </p:txBody>
      </p:sp>
      <p:sp>
        <p:nvSpPr>
          <p:cNvPr id="54" name="Footer Placeholder 5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58" y="357166"/>
            <a:ext cx="8501122" cy="1000131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The Extension with Time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337457" y="1623771"/>
            <a:ext cx="9274628" cy="1826999"/>
          </a:xfrm>
          <a:noFill/>
          <a:ln/>
        </p:spPr>
        <p:txBody>
          <a:bodyPr>
            <a:noAutofit/>
          </a:bodyPr>
          <a:lstStyle/>
          <a:p>
            <a:pPr>
              <a:buFontTx/>
              <a:buNone/>
            </a:pPr>
            <a:r>
              <a:rPr lang="en-GB" sz="2800" dirty="0"/>
              <a:t>To analyse performance, we must model durations, delays, etc.</a:t>
            </a:r>
          </a:p>
          <a:p>
            <a:pPr>
              <a:buFontTx/>
              <a:buNone/>
            </a:pPr>
            <a:r>
              <a:rPr lang="en-GB" sz="2800" dirty="0"/>
              <a:t>A </a:t>
            </a:r>
            <a:r>
              <a:rPr lang="en-GB" sz="2800" u="sng" dirty="0"/>
              <a:t>timed Petri net </a:t>
            </a:r>
            <a:r>
              <a:rPr lang="en-GB" sz="2800" dirty="0"/>
              <a:t>associates a pair </a:t>
            </a:r>
            <a:r>
              <a:rPr lang="en-GB" sz="2800" dirty="0" err="1"/>
              <a:t>t</a:t>
            </a:r>
            <a:r>
              <a:rPr lang="en-GB" sz="2000" dirty="0" err="1"/>
              <a:t>min</a:t>
            </a:r>
            <a:r>
              <a:rPr lang="en-GB" sz="2800" dirty="0"/>
              <a:t> and </a:t>
            </a:r>
            <a:r>
              <a:rPr lang="en-GB" sz="2800" dirty="0" err="1"/>
              <a:t>t</a:t>
            </a:r>
            <a:r>
              <a:rPr lang="en-GB" sz="2000" dirty="0" err="1"/>
              <a:t>max</a:t>
            </a:r>
            <a:r>
              <a:rPr lang="en-GB" sz="2800" dirty="0"/>
              <a:t> with each transition (there are other possible definitions for timed Petri net, but we shall only consider this one).</a:t>
            </a:r>
          </a:p>
        </p:txBody>
      </p:sp>
      <p:grpSp>
        <p:nvGrpSpPr>
          <p:cNvPr id="53286" name="Group 38"/>
          <p:cNvGrpSpPr>
            <a:grpSpLocks/>
          </p:cNvGrpSpPr>
          <p:nvPr/>
        </p:nvGrpSpPr>
        <p:grpSpPr bwMode="auto">
          <a:xfrm>
            <a:off x="2124052" y="3691154"/>
            <a:ext cx="5641975" cy="2411412"/>
            <a:chOff x="998" y="1689"/>
            <a:chExt cx="3554" cy="1519"/>
          </a:xfrm>
        </p:grpSpPr>
        <p:grpSp>
          <p:nvGrpSpPr>
            <p:cNvPr id="53274" name="Group 26"/>
            <p:cNvGrpSpPr>
              <a:grpSpLocks/>
            </p:cNvGrpSpPr>
            <p:nvPr/>
          </p:nvGrpSpPr>
          <p:grpSpPr bwMode="auto">
            <a:xfrm>
              <a:off x="998" y="1689"/>
              <a:ext cx="3554" cy="1383"/>
              <a:chOff x="998" y="1689"/>
              <a:chExt cx="3554" cy="1383"/>
            </a:xfrm>
          </p:grpSpPr>
          <p:sp>
            <p:nvSpPr>
              <p:cNvPr id="53252" name="Rectangle 4"/>
              <p:cNvSpPr>
                <a:spLocks noChangeArrowheads="1"/>
              </p:cNvSpPr>
              <p:nvPr/>
            </p:nvSpPr>
            <p:spPr bwMode="auto">
              <a:xfrm>
                <a:off x="1880" y="2432"/>
                <a:ext cx="368" cy="368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3253" name="Oval 5"/>
              <p:cNvSpPr>
                <a:spLocks noChangeArrowheads="1"/>
              </p:cNvSpPr>
              <p:nvPr/>
            </p:nvSpPr>
            <p:spPr bwMode="auto">
              <a:xfrm>
                <a:off x="1112" y="2432"/>
                <a:ext cx="368" cy="36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3254" name="Line 6"/>
              <p:cNvSpPr>
                <a:spLocks noChangeShapeType="1"/>
              </p:cNvSpPr>
              <p:nvPr/>
            </p:nvSpPr>
            <p:spPr bwMode="auto">
              <a:xfrm>
                <a:off x="1488" y="2616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55" name="Oval 7"/>
              <p:cNvSpPr>
                <a:spLocks noChangeArrowheads="1"/>
              </p:cNvSpPr>
              <p:nvPr/>
            </p:nvSpPr>
            <p:spPr bwMode="auto">
              <a:xfrm>
                <a:off x="1204" y="2524"/>
                <a:ext cx="88" cy="88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3256" name="Rectangle 8"/>
              <p:cNvSpPr>
                <a:spLocks noChangeArrowheads="1"/>
              </p:cNvSpPr>
              <p:nvPr/>
            </p:nvSpPr>
            <p:spPr bwMode="auto">
              <a:xfrm>
                <a:off x="1862" y="2505"/>
                <a:ext cx="391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l" defTabSz="762000"/>
                <a:r>
                  <a:rPr lang="en-GB" sz="2000"/>
                  <a:t>start</a:t>
                </a:r>
              </a:p>
            </p:txBody>
          </p:sp>
          <p:sp>
            <p:nvSpPr>
              <p:cNvPr id="53257" name="Rectangle 9"/>
              <p:cNvSpPr>
                <a:spLocks noChangeArrowheads="1"/>
              </p:cNvSpPr>
              <p:nvPr/>
            </p:nvSpPr>
            <p:spPr bwMode="auto">
              <a:xfrm>
                <a:off x="998" y="2841"/>
                <a:ext cx="59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l" defTabSz="762000"/>
                <a:r>
                  <a:rPr lang="en-GB" sz="2000"/>
                  <a:t>waiting</a:t>
                </a:r>
              </a:p>
            </p:txBody>
          </p:sp>
          <p:sp>
            <p:nvSpPr>
              <p:cNvPr id="53258" name="Rectangle 10"/>
              <p:cNvSpPr>
                <a:spLocks noChangeArrowheads="1"/>
              </p:cNvSpPr>
              <p:nvPr/>
            </p:nvSpPr>
            <p:spPr bwMode="auto">
              <a:xfrm>
                <a:off x="3416" y="2432"/>
                <a:ext cx="416" cy="368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3259" name="Line 11"/>
              <p:cNvSpPr>
                <a:spLocks noChangeShapeType="1"/>
              </p:cNvSpPr>
              <p:nvPr/>
            </p:nvSpPr>
            <p:spPr bwMode="auto">
              <a:xfrm>
                <a:off x="2256" y="2616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60" name="Line 12"/>
              <p:cNvSpPr>
                <a:spLocks noChangeShapeType="1"/>
              </p:cNvSpPr>
              <p:nvPr/>
            </p:nvSpPr>
            <p:spPr bwMode="auto">
              <a:xfrm>
                <a:off x="3024" y="2616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61" name="Line 13"/>
              <p:cNvSpPr>
                <a:spLocks noChangeShapeType="1"/>
              </p:cNvSpPr>
              <p:nvPr/>
            </p:nvSpPr>
            <p:spPr bwMode="auto">
              <a:xfrm flipV="1">
                <a:off x="3840" y="2616"/>
                <a:ext cx="336" cy="1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62" name="Line 14"/>
              <p:cNvSpPr>
                <a:spLocks noChangeShapeType="1"/>
              </p:cNvSpPr>
              <p:nvPr/>
            </p:nvSpPr>
            <p:spPr bwMode="auto">
              <a:xfrm flipH="1">
                <a:off x="2256" y="2196"/>
                <a:ext cx="432" cy="28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63" name="Line 15"/>
              <p:cNvSpPr>
                <a:spLocks noChangeShapeType="1"/>
              </p:cNvSpPr>
              <p:nvPr/>
            </p:nvSpPr>
            <p:spPr bwMode="auto">
              <a:xfrm flipH="1" flipV="1">
                <a:off x="2976" y="2196"/>
                <a:ext cx="432" cy="28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64" name="Oval 16"/>
              <p:cNvSpPr>
                <a:spLocks noChangeArrowheads="1"/>
              </p:cNvSpPr>
              <p:nvPr/>
            </p:nvSpPr>
            <p:spPr bwMode="auto">
              <a:xfrm>
                <a:off x="2648" y="2432"/>
                <a:ext cx="368" cy="36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3265" name="Oval 17"/>
              <p:cNvSpPr>
                <a:spLocks noChangeArrowheads="1"/>
              </p:cNvSpPr>
              <p:nvPr/>
            </p:nvSpPr>
            <p:spPr bwMode="auto">
              <a:xfrm>
                <a:off x="4184" y="2432"/>
                <a:ext cx="368" cy="36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3266" name="Oval 18"/>
              <p:cNvSpPr>
                <a:spLocks noChangeArrowheads="1"/>
              </p:cNvSpPr>
              <p:nvPr/>
            </p:nvSpPr>
            <p:spPr bwMode="auto">
              <a:xfrm>
                <a:off x="2648" y="1904"/>
                <a:ext cx="368" cy="36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3267" name="Oval 19"/>
              <p:cNvSpPr>
                <a:spLocks noChangeArrowheads="1"/>
              </p:cNvSpPr>
              <p:nvPr/>
            </p:nvSpPr>
            <p:spPr bwMode="auto">
              <a:xfrm>
                <a:off x="1204" y="2668"/>
                <a:ext cx="88" cy="88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3268" name="Oval 20"/>
              <p:cNvSpPr>
                <a:spLocks noChangeArrowheads="1"/>
              </p:cNvSpPr>
              <p:nvPr/>
            </p:nvSpPr>
            <p:spPr bwMode="auto">
              <a:xfrm>
                <a:off x="1348" y="2620"/>
                <a:ext cx="88" cy="88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3269" name="Oval 21"/>
              <p:cNvSpPr>
                <a:spLocks noChangeArrowheads="1"/>
              </p:cNvSpPr>
              <p:nvPr/>
            </p:nvSpPr>
            <p:spPr bwMode="auto">
              <a:xfrm>
                <a:off x="2754" y="2078"/>
                <a:ext cx="88" cy="88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3270" name="Rectangle 22"/>
              <p:cNvSpPr>
                <a:spLocks noChangeArrowheads="1"/>
              </p:cNvSpPr>
              <p:nvPr/>
            </p:nvSpPr>
            <p:spPr bwMode="auto">
              <a:xfrm>
                <a:off x="3398" y="2505"/>
                <a:ext cx="48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l" defTabSz="762000"/>
                <a:r>
                  <a:rPr lang="en-GB" sz="2000"/>
                  <a:t>finish</a:t>
                </a:r>
              </a:p>
            </p:txBody>
          </p:sp>
          <p:sp>
            <p:nvSpPr>
              <p:cNvPr id="53271" name="Rectangle 23"/>
              <p:cNvSpPr>
                <a:spLocks noChangeArrowheads="1"/>
              </p:cNvSpPr>
              <p:nvPr/>
            </p:nvSpPr>
            <p:spPr bwMode="auto">
              <a:xfrm>
                <a:off x="2630" y="2841"/>
                <a:ext cx="418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l" defTabSz="762000"/>
                <a:r>
                  <a:rPr lang="en-GB" sz="2000"/>
                  <a:t>busy</a:t>
                </a:r>
              </a:p>
            </p:txBody>
          </p:sp>
          <p:sp>
            <p:nvSpPr>
              <p:cNvPr id="53272" name="Rectangle 24"/>
              <p:cNvSpPr>
                <a:spLocks noChangeArrowheads="1"/>
              </p:cNvSpPr>
              <p:nvPr/>
            </p:nvSpPr>
            <p:spPr bwMode="auto">
              <a:xfrm>
                <a:off x="2678" y="1689"/>
                <a:ext cx="3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l" defTabSz="762000"/>
                <a:r>
                  <a:rPr lang="en-GB" sz="2000"/>
                  <a:t>free</a:t>
                </a:r>
              </a:p>
            </p:txBody>
          </p:sp>
        </p:grpSp>
        <p:sp>
          <p:nvSpPr>
            <p:cNvPr id="53283" name="Rectangle 35"/>
            <p:cNvSpPr>
              <a:spLocks noChangeArrowheads="1"/>
            </p:cNvSpPr>
            <p:nvPr/>
          </p:nvSpPr>
          <p:spPr bwMode="auto">
            <a:xfrm>
              <a:off x="1821" y="2800"/>
              <a:ext cx="696" cy="4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 dirty="0" err="1">
                  <a:latin typeface="+mn-lt"/>
                </a:rPr>
                <a:t>Tmin</a:t>
              </a:r>
              <a:r>
                <a:rPr lang="en-GB" sz="2000" dirty="0">
                  <a:latin typeface="+mn-lt"/>
                </a:rPr>
                <a:t> = 0</a:t>
              </a:r>
            </a:p>
            <a:p>
              <a:pPr algn="l" defTabSz="762000"/>
              <a:r>
                <a:rPr lang="en-GB" sz="2000" dirty="0" err="1">
                  <a:latin typeface="+mn-lt"/>
                </a:rPr>
                <a:t>Tmax</a:t>
              </a:r>
              <a:r>
                <a:rPr lang="en-GB" sz="2000" dirty="0">
                  <a:latin typeface="+mn-lt"/>
                </a:rPr>
                <a:t> = 3</a:t>
              </a:r>
            </a:p>
          </p:txBody>
        </p:sp>
      </p:grpSp>
      <p:sp>
        <p:nvSpPr>
          <p:cNvPr id="41" name="Slide Number Placeholder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36</a:t>
            </a:fld>
            <a:endParaRPr lang="en-GB"/>
          </a:p>
        </p:txBody>
      </p:sp>
      <p:sp>
        <p:nvSpPr>
          <p:cNvPr id="42" name="Footer Placeholder 4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COMP201 - Software Engineering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52538" y="3548278"/>
            <a:ext cx="6786610" cy="2643206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35"/>
          <p:cNvSpPr>
            <a:spLocks noChangeArrowheads="1"/>
          </p:cNvSpPr>
          <p:nvPr/>
        </p:nvSpPr>
        <p:spPr bwMode="auto">
          <a:xfrm>
            <a:off x="5683680" y="5476410"/>
            <a:ext cx="1235275" cy="646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 dirty="0" err="1">
                <a:latin typeface="+mn-lt"/>
              </a:rPr>
              <a:t>Tmin</a:t>
            </a:r>
            <a:r>
              <a:rPr lang="en-GB" sz="2000" dirty="0">
                <a:latin typeface="+mn-lt"/>
              </a:rPr>
              <a:t> = 5</a:t>
            </a:r>
          </a:p>
          <a:p>
            <a:pPr algn="l" defTabSz="762000"/>
            <a:r>
              <a:rPr lang="en-GB" sz="2000" dirty="0" err="1">
                <a:latin typeface="+mn-lt"/>
              </a:rPr>
              <a:t>Tmax</a:t>
            </a:r>
            <a:r>
              <a:rPr lang="en-GB" sz="2000" dirty="0">
                <a:latin typeface="+mn-lt"/>
              </a:rPr>
              <a:t> = 10</a:t>
            </a:r>
          </a:p>
        </p:txBody>
      </p:sp>
      <p:sp>
        <p:nvSpPr>
          <p:cNvPr id="46" name="Oval 21"/>
          <p:cNvSpPr>
            <a:spLocks noChangeArrowheads="1"/>
          </p:cNvSpPr>
          <p:nvPr/>
        </p:nvSpPr>
        <p:spPr bwMode="auto">
          <a:xfrm>
            <a:off x="5041878" y="4145861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5" name="Rectangle 25"/>
          <p:cNvSpPr>
            <a:spLocks noChangeArrowheads="1"/>
          </p:cNvSpPr>
          <p:nvPr/>
        </p:nvSpPr>
        <p:spPr bwMode="auto">
          <a:xfrm>
            <a:off x="7077052" y="5519954"/>
            <a:ext cx="1009892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 dirty="0"/>
              <a:t>finished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58" y="357166"/>
            <a:ext cx="8501122" cy="1000131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The Extension with Time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337457" y="1623771"/>
            <a:ext cx="9274628" cy="1826999"/>
          </a:xfrm>
          <a:noFill/>
          <a:ln/>
        </p:spPr>
        <p:txBody>
          <a:bodyPr>
            <a:noAutofit/>
          </a:bodyPr>
          <a:lstStyle/>
          <a:p>
            <a:pPr>
              <a:buFontTx/>
              <a:buNone/>
            </a:pPr>
            <a:r>
              <a:rPr lang="en-GB" sz="2800" dirty="0"/>
              <a:t>The values </a:t>
            </a:r>
            <a:r>
              <a:rPr lang="en-GB" sz="2800" dirty="0" err="1"/>
              <a:t>t</a:t>
            </a:r>
            <a:r>
              <a:rPr lang="en-GB" sz="2000" dirty="0" err="1"/>
              <a:t>min</a:t>
            </a:r>
            <a:r>
              <a:rPr lang="en-GB" sz="2800" dirty="0"/>
              <a:t> and </a:t>
            </a:r>
            <a:r>
              <a:rPr lang="en-GB" sz="2800" dirty="0" err="1"/>
              <a:t>t</a:t>
            </a:r>
            <a:r>
              <a:rPr lang="en-GB" sz="2000" dirty="0" err="1"/>
              <a:t>max</a:t>
            </a:r>
            <a:r>
              <a:rPr lang="en-GB" sz="2800" dirty="0"/>
              <a:t>, tell us the minimum and maximum time that a transition will take to fire </a:t>
            </a:r>
            <a:r>
              <a:rPr lang="en-GB" sz="2800" u="sng" dirty="0"/>
              <a:t>once enabled</a:t>
            </a:r>
            <a:r>
              <a:rPr lang="en-GB" sz="2800" dirty="0"/>
              <a:t>.</a:t>
            </a:r>
          </a:p>
          <a:p>
            <a:pPr>
              <a:buFontTx/>
              <a:buNone/>
            </a:pPr>
            <a:r>
              <a:rPr lang="en-GB" sz="2800" dirty="0"/>
              <a:t>This allows us to model performance properties of the system, although the analysis of such systems may be more difficult.</a:t>
            </a:r>
          </a:p>
        </p:txBody>
      </p: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2124052" y="3691154"/>
            <a:ext cx="5641975" cy="2411412"/>
            <a:chOff x="998" y="1689"/>
            <a:chExt cx="3554" cy="1519"/>
          </a:xfrm>
        </p:grpSpPr>
        <p:grpSp>
          <p:nvGrpSpPr>
            <p:cNvPr id="3" name="Group 26"/>
            <p:cNvGrpSpPr>
              <a:grpSpLocks/>
            </p:cNvGrpSpPr>
            <p:nvPr/>
          </p:nvGrpSpPr>
          <p:grpSpPr bwMode="auto">
            <a:xfrm>
              <a:off x="998" y="1689"/>
              <a:ext cx="3554" cy="1383"/>
              <a:chOff x="998" y="1689"/>
              <a:chExt cx="3554" cy="1383"/>
            </a:xfrm>
          </p:grpSpPr>
          <p:sp>
            <p:nvSpPr>
              <p:cNvPr id="53252" name="Rectangle 4"/>
              <p:cNvSpPr>
                <a:spLocks noChangeArrowheads="1"/>
              </p:cNvSpPr>
              <p:nvPr/>
            </p:nvSpPr>
            <p:spPr bwMode="auto">
              <a:xfrm>
                <a:off x="1880" y="2432"/>
                <a:ext cx="368" cy="368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3253" name="Oval 5"/>
              <p:cNvSpPr>
                <a:spLocks noChangeArrowheads="1"/>
              </p:cNvSpPr>
              <p:nvPr/>
            </p:nvSpPr>
            <p:spPr bwMode="auto">
              <a:xfrm>
                <a:off x="1112" y="2432"/>
                <a:ext cx="368" cy="36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3254" name="Line 6"/>
              <p:cNvSpPr>
                <a:spLocks noChangeShapeType="1"/>
              </p:cNvSpPr>
              <p:nvPr/>
            </p:nvSpPr>
            <p:spPr bwMode="auto">
              <a:xfrm>
                <a:off x="1488" y="2616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55" name="Oval 7"/>
              <p:cNvSpPr>
                <a:spLocks noChangeArrowheads="1"/>
              </p:cNvSpPr>
              <p:nvPr/>
            </p:nvSpPr>
            <p:spPr bwMode="auto">
              <a:xfrm>
                <a:off x="1204" y="2524"/>
                <a:ext cx="88" cy="88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3256" name="Rectangle 8"/>
              <p:cNvSpPr>
                <a:spLocks noChangeArrowheads="1"/>
              </p:cNvSpPr>
              <p:nvPr/>
            </p:nvSpPr>
            <p:spPr bwMode="auto">
              <a:xfrm>
                <a:off x="1862" y="2505"/>
                <a:ext cx="391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l" defTabSz="762000"/>
                <a:r>
                  <a:rPr lang="en-GB" sz="2000"/>
                  <a:t>start</a:t>
                </a:r>
              </a:p>
            </p:txBody>
          </p:sp>
          <p:sp>
            <p:nvSpPr>
              <p:cNvPr id="53257" name="Rectangle 9"/>
              <p:cNvSpPr>
                <a:spLocks noChangeArrowheads="1"/>
              </p:cNvSpPr>
              <p:nvPr/>
            </p:nvSpPr>
            <p:spPr bwMode="auto">
              <a:xfrm>
                <a:off x="998" y="2841"/>
                <a:ext cx="59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l" defTabSz="762000"/>
                <a:r>
                  <a:rPr lang="en-GB" sz="2000"/>
                  <a:t>waiting</a:t>
                </a:r>
              </a:p>
            </p:txBody>
          </p:sp>
          <p:sp>
            <p:nvSpPr>
              <p:cNvPr id="53258" name="Rectangle 10"/>
              <p:cNvSpPr>
                <a:spLocks noChangeArrowheads="1"/>
              </p:cNvSpPr>
              <p:nvPr/>
            </p:nvSpPr>
            <p:spPr bwMode="auto">
              <a:xfrm>
                <a:off x="3416" y="2432"/>
                <a:ext cx="416" cy="368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3259" name="Line 11"/>
              <p:cNvSpPr>
                <a:spLocks noChangeShapeType="1"/>
              </p:cNvSpPr>
              <p:nvPr/>
            </p:nvSpPr>
            <p:spPr bwMode="auto">
              <a:xfrm>
                <a:off x="2256" y="2616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60" name="Line 12"/>
              <p:cNvSpPr>
                <a:spLocks noChangeShapeType="1"/>
              </p:cNvSpPr>
              <p:nvPr/>
            </p:nvSpPr>
            <p:spPr bwMode="auto">
              <a:xfrm>
                <a:off x="3024" y="2616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61" name="Line 13"/>
              <p:cNvSpPr>
                <a:spLocks noChangeShapeType="1"/>
              </p:cNvSpPr>
              <p:nvPr/>
            </p:nvSpPr>
            <p:spPr bwMode="auto">
              <a:xfrm flipV="1">
                <a:off x="3840" y="2616"/>
                <a:ext cx="336" cy="1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62" name="Line 14"/>
              <p:cNvSpPr>
                <a:spLocks noChangeShapeType="1"/>
              </p:cNvSpPr>
              <p:nvPr/>
            </p:nvSpPr>
            <p:spPr bwMode="auto">
              <a:xfrm flipH="1">
                <a:off x="2256" y="2196"/>
                <a:ext cx="432" cy="28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63" name="Line 15"/>
              <p:cNvSpPr>
                <a:spLocks noChangeShapeType="1"/>
              </p:cNvSpPr>
              <p:nvPr/>
            </p:nvSpPr>
            <p:spPr bwMode="auto">
              <a:xfrm flipH="1" flipV="1">
                <a:off x="2976" y="2196"/>
                <a:ext cx="432" cy="28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64" name="Oval 16"/>
              <p:cNvSpPr>
                <a:spLocks noChangeArrowheads="1"/>
              </p:cNvSpPr>
              <p:nvPr/>
            </p:nvSpPr>
            <p:spPr bwMode="auto">
              <a:xfrm>
                <a:off x="2648" y="2432"/>
                <a:ext cx="368" cy="36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3265" name="Oval 17"/>
              <p:cNvSpPr>
                <a:spLocks noChangeArrowheads="1"/>
              </p:cNvSpPr>
              <p:nvPr/>
            </p:nvSpPr>
            <p:spPr bwMode="auto">
              <a:xfrm>
                <a:off x="4184" y="2432"/>
                <a:ext cx="368" cy="36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3266" name="Oval 18"/>
              <p:cNvSpPr>
                <a:spLocks noChangeArrowheads="1"/>
              </p:cNvSpPr>
              <p:nvPr/>
            </p:nvSpPr>
            <p:spPr bwMode="auto">
              <a:xfrm>
                <a:off x="2648" y="1904"/>
                <a:ext cx="368" cy="36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3267" name="Oval 19"/>
              <p:cNvSpPr>
                <a:spLocks noChangeArrowheads="1"/>
              </p:cNvSpPr>
              <p:nvPr/>
            </p:nvSpPr>
            <p:spPr bwMode="auto">
              <a:xfrm>
                <a:off x="1204" y="2668"/>
                <a:ext cx="88" cy="88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3268" name="Oval 20"/>
              <p:cNvSpPr>
                <a:spLocks noChangeArrowheads="1"/>
              </p:cNvSpPr>
              <p:nvPr/>
            </p:nvSpPr>
            <p:spPr bwMode="auto">
              <a:xfrm>
                <a:off x="1348" y="2620"/>
                <a:ext cx="88" cy="88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3269" name="Oval 21"/>
              <p:cNvSpPr>
                <a:spLocks noChangeArrowheads="1"/>
              </p:cNvSpPr>
              <p:nvPr/>
            </p:nvSpPr>
            <p:spPr bwMode="auto">
              <a:xfrm>
                <a:off x="2754" y="2078"/>
                <a:ext cx="88" cy="88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3270" name="Rectangle 22"/>
              <p:cNvSpPr>
                <a:spLocks noChangeArrowheads="1"/>
              </p:cNvSpPr>
              <p:nvPr/>
            </p:nvSpPr>
            <p:spPr bwMode="auto">
              <a:xfrm>
                <a:off x="3398" y="2505"/>
                <a:ext cx="48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l" defTabSz="762000"/>
                <a:r>
                  <a:rPr lang="en-GB" sz="2000"/>
                  <a:t>finish</a:t>
                </a:r>
              </a:p>
            </p:txBody>
          </p:sp>
          <p:sp>
            <p:nvSpPr>
              <p:cNvPr id="53271" name="Rectangle 23"/>
              <p:cNvSpPr>
                <a:spLocks noChangeArrowheads="1"/>
              </p:cNvSpPr>
              <p:nvPr/>
            </p:nvSpPr>
            <p:spPr bwMode="auto">
              <a:xfrm>
                <a:off x="2630" y="2841"/>
                <a:ext cx="418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l" defTabSz="762000"/>
                <a:r>
                  <a:rPr lang="en-GB" sz="2000"/>
                  <a:t>busy</a:t>
                </a:r>
              </a:p>
            </p:txBody>
          </p:sp>
          <p:sp>
            <p:nvSpPr>
              <p:cNvPr id="53272" name="Rectangle 24"/>
              <p:cNvSpPr>
                <a:spLocks noChangeArrowheads="1"/>
              </p:cNvSpPr>
              <p:nvPr/>
            </p:nvSpPr>
            <p:spPr bwMode="auto">
              <a:xfrm>
                <a:off x="2678" y="1689"/>
                <a:ext cx="3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l" defTabSz="762000"/>
                <a:r>
                  <a:rPr lang="en-GB" sz="2000"/>
                  <a:t>free</a:t>
                </a:r>
              </a:p>
            </p:txBody>
          </p:sp>
        </p:grpSp>
        <p:sp>
          <p:nvSpPr>
            <p:cNvPr id="53283" name="Rectangle 35"/>
            <p:cNvSpPr>
              <a:spLocks noChangeArrowheads="1"/>
            </p:cNvSpPr>
            <p:nvPr/>
          </p:nvSpPr>
          <p:spPr bwMode="auto">
            <a:xfrm>
              <a:off x="1821" y="2800"/>
              <a:ext cx="696" cy="4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 dirty="0" err="1">
                  <a:latin typeface="+mn-lt"/>
                </a:rPr>
                <a:t>Tmin</a:t>
              </a:r>
              <a:r>
                <a:rPr lang="en-GB" sz="2000" dirty="0">
                  <a:latin typeface="+mn-lt"/>
                </a:rPr>
                <a:t> = 0</a:t>
              </a:r>
            </a:p>
            <a:p>
              <a:pPr algn="l" defTabSz="762000"/>
              <a:r>
                <a:rPr lang="en-GB" sz="2000" dirty="0" err="1">
                  <a:latin typeface="+mn-lt"/>
                </a:rPr>
                <a:t>Tmax</a:t>
              </a:r>
              <a:r>
                <a:rPr lang="en-GB" sz="2000" dirty="0">
                  <a:latin typeface="+mn-lt"/>
                </a:rPr>
                <a:t> = 3</a:t>
              </a:r>
            </a:p>
          </p:txBody>
        </p:sp>
      </p:grpSp>
      <p:sp>
        <p:nvSpPr>
          <p:cNvPr id="41" name="Slide Number Placeholder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37</a:t>
            </a:fld>
            <a:endParaRPr lang="en-GB"/>
          </a:p>
        </p:txBody>
      </p:sp>
      <p:sp>
        <p:nvSpPr>
          <p:cNvPr id="42" name="Footer Placeholder 4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COMP201 - Software Engineering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52538" y="3548278"/>
            <a:ext cx="6786610" cy="2643206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35"/>
          <p:cNvSpPr>
            <a:spLocks noChangeArrowheads="1"/>
          </p:cNvSpPr>
          <p:nvPr/>
        </p:nvSpPr>
        <p:spPr bwMode="auto">
          <a:xfrm>
            <a:off x="5683687" y="5476410"/>
            <a:ext cx="1235275" cy="646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 dirty="0" err="1">
                <a:latin typeface="+mn-lt"/>
              </a:rPr>
              <a:t>Tmin</a:t>
            </a:r>
            <a:r>
              <a:rPr lang="en-GB" sz="2000" dirty="0">
                <a:latin typeface="+mn-lt"/>
              </a:rPr>
              <a:t> = 5</a:t>
            </a:r>
          </a:p>
          <a:p>
            <a:pPr algn="l" defTabSz="762000"/>
            <a:r>
              <a:rPr lang="en-GB" sz="2000" dirty="0" err="1">
                <a:latin typeface="+mn-lt"/>
              </a:rPr>
              <a:t>Tmax</a:t>
            </a:r>
            <a:r>
              <a:rPr lang="en-GB" sz="2000" dirty="0">
                <a:latin typeface="+mn-lt"/>
              </a:rPr>
              <a:t> = 10</a:t>
            </a:r>
          </a:p>
        </p:txBody>
      </p:sp>
      <p:sp>
        <p:nvSpPr>
          <p:cNvPr id="34" name="Oval 21"/>
          <p:cNvSpPr>
            <a:spLocks noChangeArrowheads="1"/>
          </p:cNvSpPr>
          <p:nvPr/>
        </p:nvSpPr>
        <p:spPr bwMode="auto">
          <a:xfrm>
            <a:off x="5041878" y="4145861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6" name="Rectangle 25"/>
          <p:cNvSpPr>
            <a:spLocks noChangeArrowheads="1"/>
          </p:cNvSpPr>
          <p:nvPr/>
        </p:nvSpPr>
        <p:spPr bwMode="auto">
          <a:xfrm>
            <a:off x="7077052" y="5519954"/>
            <a:ext cx="1009892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 dirty="0"/>
              <a:t>finished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58" y="357166"/>
            <a:ext cx="8501122" cy="1000131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The Extension with Time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217714" y="1623771"/>
            <a:ext cx="9459686" cy="1739915"/>
          </a:xfrm>
          <a:noFill/>
          <a:ln/>
        </p:spPr>
        <p:txBody>
          <a:bodyPr>
            <a:noAutofit/>
          </a:bodyPr>
          <a:lstStyle/>
          <a:p>
            <a:pPr>
              <a:buFontTx/>
              <a:buNone/>
            </a:pPr>
            <a:r>
              <a:rPr lang="en-GB" sz="2800" b="1" dirty="0">
                <a:solidFill>
                  <a:schemeClr val="accent3"/>
                </a:solidFill>
              </a:rPr>
              <a:t>Question</a:t>
            </a:r>
            <a:r>
              <a:rPr lang="en-GB" sz="2800" dirty="0"/>
              <a:t>: What is the minimum/maximum time for all three people to have their hair cut in this system? </a:t>
            </a:r>
          </a:p>
          <a:p>
            <a:pPr>
              <a:buFontTx/>
              <a:buNone/>
            </a:pPr>
            <a:r>
              <a:rPr lang="en-GB" sz="2800" b="1" dirty="0">
                <a:solidFill>
                  <a:schemeClr val="accent3"/>
                </a:solidFill>
              </a:rPr>
              <a:t>(Harder) Question</a:t>
            </a:r>
            <a:r>
              <a:rPr lang="en-GB" sz="2800" dirty="0"/>
              <a:t>: What about with n clients and m hairdressers? Is there a general formula for the required time?</a:t>
            </a:r>
          </a:p>
        </p:txBody>
      </p: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2124052" y="3734698"/>
            <a:ext cx="5962651" cy="2411412"/>
            <a:chOff x="998" y="1689"/>
            <a:chExt cx="3756" cy="1519"/>
          </a:xfrm>
        </p:grpSpPr>
        <p:grpSp>
          <p:nvGrpSpPr>
            <p:cNvPr id="3" name="Group 26"/>
            <p:cNvGrpSpPr>
              <a:grpSpLocks/>
            </p:cNvGrpSpPr>
            <p:nvPr/>
          </p:nvGrpSpPr>
          <p:grpSpPr bwMode="auto">
            <a:xfrm>
              <a:off x="998" y="1689"/>
              <a:ext cx="3756" cy="1385"/>
              <a:chOff x="998" y="1689"/>
              <a:chExt cx="3756" cy="1385"/>
            </a:xfrm>
          </p:grpSpPr>
          <p:sp>
            <p:nvSpPr>
              <p:cNvPr id="53252" name="Rectangle 4"/>
              <p:cNvSpPr>
                <a:spLocks noChangeArrowheads="1"/>
              </p:cNvSpPr>
              <p:nvPr/>
            </p:nvSpPr>
            <p:spPr bwMode="auto">
              <a:xfrm>
                <a:off x="1880" y="2432"/>
                <a:ext cx="368" cy="368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3253" name="Oval 5"/>
              <p:cNvSpPr>
                <a:spLocks noChangeArrowheads="1"/>
              </p:cNvSpPr>
              <p:nvPr/>
            </p:nvSpPr>
            <p:spPr bwMode="auto">
              <a:xfrm>
                <a:off x="1112" y="2432"/>
                <a:ext cx="368" cy="36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3254" name="Line 6"/>
              <p:cNvSpPr>
                <a:spLocks noChangeShapeType="1"/>
              </p:cNvSpPr>
              <p:nvPr/>
            </p:nvSpPr>
            <p:spPr bwMode="auto">
              <a:xfrm>
                <a:off x="1488" y="2616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55" name="Oval 7"/>
              <p:cNvSpPr>
                <a:spLocks noChangeArrowheads="1"/>
              </p:cNvSpPr>
              <p:nvPr/>
            </p:nvSpPr>
            <p:spPr bwMode="auto">
              <a:xfrm>
                <a:off x="1204" y="2524"/>
                <a:ext cx="88" cy="88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3256" name="Rectangle 8"/>
              <p:cNvSpPr>
                <a:spLocks noChangeArrowheads="1"/>
              </p:cNvSpPr>
              <p:nvPr/>
            </p:nvSpPr>
            <p:spPr bwMode="auto">
              <a:xfrm>
                <a:off x="1862" y="2505"/>
                <a:ext cx="391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l" defTabSz="762000"/>
                <a:r>
                  <a:rPr lang="en-GB" sz="2000"/>
                  <a:t>start</a:t>
                </a:r>
              </a:p>
            </p:txBody>
          </p:sp>
          <p:sp>
            <p:nvSpPr>
              <p:cNvPr id="53257" name="Rectangle 9"/>
              <p:cNvSpPr>
                <a:spLocks noChangeArrowheads="1"/>
              </p:cNvSpPr>
              <p:nvPr/>
            </p:nvSpPr>
            <p:spPr bwMode="auto">
              <a:xfrm>
                <a:off x="998" y="2841"/>
                <a:ext cx="59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l" defTabSz="762000"/>
                <a:r>
                  <a:rPr lang="en-GB" sz="2000"/>
                  <a:t>waiting</a:t>
                </a:r>
              </a:p>
            </p:txBody>
          </p:sp>
          <p:sp>
            <p:nvSpPr>
              <p:cNvPr id="53258" name="Rectangle 10"/>
              <p:cNvSpPr>
                <a:spLocks noChangeArrowheads="1"/>
              </p:cNvSpPr>
              <p:nvPr/>
            </p:nvSpPr>
            <p:spPr bwMode="auto">
              <a:xfrm>
                <a:off x="3416" y="2432"/>
                <a:ext cx="416" cy="368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3259" name="Line 11"/>
              <p:cNvSpPr>
                <a:spLocks noChangeShapeType="1"/>
              </p:cNvSpPr>
              <p:nvPr/>
            </p:nvSpPr>
            <p:spPr bwMode="auto">
              <a:xfrm>
                <a:off x="2256" y="2616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60" name="Line 12"/>
              <p:cNvSpPr>
                <a:spLocks noChangeShapeType="1"/>
              </p:cNvSpPr>
              <p:nvPr/>
            </p:nvSpPr>
            <p:spPr bwMode="auto">
              <a:xfrm>
                <a:off x="3024" y="2616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61" name="Line 13"/>
              <p:cNvSpPr>
                <a:spLocks noChangeShapeType="1"/>
              </p:cNvSpPr>
              <p:nvPr/>
            </p:nvSpPr>
            <p:spPr bwMode="auto">
              <a:xfrm flipV="1">
                <a:off x="3840" y="2616"/>
                <a:ext cx="336" cy="1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62" name="Line 14"/>
              <p:cNvSpPr>
                <a:spLocks noChangeShapeType="1"/>
              </p:cNvSpPr>
              <p:nvPr/>
            </p:nvSpPr>
            <p:spPr bwMode="auto">
              <a:xfrm flipH="1">
                <a:off x="2256" y="2196"/>
                <a:ext cx="432" cy="28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63" name="Line 15"/>
              <p:cNvSpPr>
                <a:spLocks noChangeShapeType="1"/>
              </p:cNvSpPr>
              <p:nvPr/>
            </p:nvSpPr>
            <p:spPr bwMode="auto">
              <a:xfrm flipH="1" flipV="1">
                <a:off x="2976" y="2196"/>
                <a:ext cx="432" cy="28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264" name="Oval 16"/>
              <p:cNvSpPr>
                <a:spLocks noChangeArrowheads="1"/>
              </p:cNvSpPr>
              <p:nvPr/>
            </p:nvSpPr>
            <p:spPr bwMode="auto">
              <a:xfrm>
                <a:off x="2648" y="2432"/>
                <a:ext cx="368" cy="36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3265" name="Oval 17"/>
              <p:cNvSpPr>
                <a:spLocks noChangeArrowheads="1"/>
              </p:cNvSpPr>
              <p:nvPr/>
            </p:nvSpPr>
            <p:spPr bwMode="auto">
              <a:xfrm>
                <a:off x="4184" y="2432"/>
                <a:ext cx="368" cy="36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3266" name="Oval 18"/>
              <p:cNvSpPr>
                <a:spLocks noChangeArrowheads="1"/>
              </p:cNvSpPr>
              <p:nvPr/>
            </p:nvSpPr>
            <p:spPr bwMode="auto">
              <a:xfrm>
                <a:off x="2648" y="1904"/>
                <a:ext cx="368" cy="36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3267" name="Oval 19"/>
              <p:cNvSpPr>
                <a:spLocks noChangeArrowheads="1"/>
              </p:cNvSpPr>
              <p:nvPr/>
            </p:nvSpPr>
            <p:spPr bwMode="auto">
              <a:xfrm>
                <a:off x="1204" y="2668"/>
                <a:ext cx="88" cy="88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3268" name="Oval 20"/>
              <p:cNvSpPr>
                <a:spLocks noChangeArrowheads="1"/>
              </p:cNvSpPr>
              <p:nvPr/>
            </p:nvSpPr>
            <p:spPr bwMode="auto">
              <a:xfrm>
                <a:off x="1348" y="2620"/>
                <a:ext cx="88" cy="88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3269" name="Oval 21"/>
              <p:cNvSpPr>
                <a:spLocks noChangeArrowheads="1"/>
              </p:cNvSpPr>
              <p:nvPr/>
            </p:nvSpPr>
            <p:spPr bwMode="auto">
              <a:xfrm>
                <a:off x="2754" y="2078"/>
                <a:ext cx="88" cy="88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3270" name="Rectangle 22"/>
              <p:cNvSpPr>
                <a:spLocks noChangeArrowheads="1"/>
              </p:cNvSpPr>
              <p:nvPr/>
            </p:nvSpPr>
            <p:spPr bwMode="auto">
              <a:xfrm>
                <a:off x="3398" y="2505"/>
                <a:ext cx="48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l" defTabSz="762000"/>
                <a:r>
                  <a:rPr lang="en-GB" sz="2000"/>
                  <a:t>finish</a:t>
                </a:r>
              </a:p>
            </p:txBody>
          </p:sp>
          <p:sp>
            <p:nvSpPr>
              <p:cNvPr id="53271" name="Rectangle 23"/>
              <p:cNvSpPr>
                <a:spLocks noChangeArrowheads="1"/>
              </p:cNvSpPr>
              <p:nvPr/>
            </p:nvSpPr>
            <p:spPr bwMode="auto">
              <a:xfrm>
                <a:off x="2630" y="2841"/>
                <a:ext cx="418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l" defTabSz="762000"/>
                <a:r>
                  <a:rPr lang="en-GB" sz="2000"/>
                  <a:t>busy</a:t>
                </a:r>
              </a:p>
            </p:txBody>
          </p:sp>
          <p:sp>
            <p:nvSpPr>
              <p:cNvPr id="53272" name="Rectangle 24"/>
              <p:cNvSpPr>
                <a:spLocks noChangeArrowheads="1"/>
              </p:cNvSpPr>
              <p:nvPr/>
            </p:nvSpPr>
            <p:spPr bwMode="auto">
              <a:xfrm>
                <a:off x="2678" y="1689"/>
                <a:ext cx="36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l" defTabSz="762000"/>
                <a:r>
                  <a:rPr lang="en-GB" sz="2000"/>
                  <a:t>free</a:t>
                </a:r>
              </a:p>
            </p:txBody>
          </p:sp>
          <p:sp>
            <p:nvSpPr>
              <p:cNvPr id="53273" name="Rectangle 25"/>
              <p:cNvSpPr>
                <a:spLocks noChangeArrowheads="1"/>
              </p:cNvSpPr>
              <p:nvPr/>
            </p:nvSpPr>
            <p:spPr bwMode="auto">
              <a:xfrm>
                <a:off x="4118" y="2841"/>
                <a:ext cx="636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l" defTabSz="762000"/>
                <a:r>
                  <a:rPr lang="en-GB" sz="2000" dirty="0"/>
                  <a:t>finished</a:t>
                </a:r>
              </a:p>
            </p:txBody>
          </p:sp>
        </p:grpSp>
        <p:sp>
          <p:nvSpPr>
            <p:cNvPr id="53283" name="Rectangle 35"/>
            <p:cNvSpPr>
              <a:spLocks noChangeArrowheads="1"/>
            </p:cNvSpPr>
            <p:nvPr/>
          </p:nvSpPr>
          <p:spPr bwMode="auto">
            <a:xfrm>
              <a:off x="1821" y="2800"/>
              <a:ext cx="696" cy="4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2000" dirty="0" err="1">
                  <a:latin typeface="+mn-lt"/>
                </a:rPr>
                <a:t>Tmin</a:t>
              </a:r>
              <a:r>
                <a:rPr lang="en-GB" sz="2000" dirty="0">
                  <a:latin typeface="+mn-lt"/>
                </a:rPr>
                <a:t> = 0</a:t>
              </a:r>
            </a:p>
            <a:p>
              <a:pPr algn="l" defTabSz="762000"/>
              <a:r>
                <a:rPr lang="en-GB" sz="2000" dirty="0" err="1">
                  <a:latin typeface="+mn-lt"/>
                </a:rPr>
                <a:t>Tmax</a:t>
              </a:r>
              <a:r>
                <a:rPr lang="en-GB" sz="2000" dirty="0">
                  <a:latin typeface="+mn-lt"/>
                </a:rPr>
                <a:t> = 3</a:t>
              </a:r>
            </a:p>
          </p:txBody>
        </p:sp>
      </p:grpSp>
      <p:sp>
        <p:nvSpPr>
          <p:cNvPr id="41" name="Slide Number Placeholder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38</a:t>
            </a:fld>
            <a:endParaRPr lang="en-GB"/>
          </a:p>
        </p:txBody>
      </p:sp>
      <p:sp>
        <p:nvSpPr>
          <p:cNvPr id="42" name="Footer Placeholder 4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COMP201 - Software Engineering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52538" y="3591822"/>
            <a:ext cx="6786610" cy="2643206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35"/>
          <p:cNvSpPr>
            <a:spLocks noChangeArrowheads="1"/>
          </p:cNvSpPr>
          <p:nvPr/>
        </p:nvSpPr>
        <p:spPr bwMode="auto">
          <a:xfrm>
            <a:off x="5683689" y="5487297"/>
            <a:ext cx="1235275" cy="646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2000" dirty="0" err="1">
                <a:latin typeface="+mn-lt"/>
              </a:rPr>
              <a:t>Tmin</a:t>
            </a:r>
            <a:r>
              <a:rPr lang="en-GB" sz="2000" dirty="0">
                <a:latin typeface="+mn-lt"/>
              </a:rPr>
              <a:t> = 5</a:t>
            </a:r>
          </a:p>
          <a:p>
            <a:pPr algn="l" defTabSz="762000"/>
            <a:r>
              <a:rPr lang="en-GB" sz="2000" dirty="0" err="1">
                <a:latin typeface="+mn-lt"/>
              </a:rPr>
              <a:t>Tmax</a:t>
            </a:r>
            <a:r>
              <a:rPr lang="en-GB" sz="2000" dirty="0">
                <a:latin typeface="+mn-lt"/>
              </a:rPr>
              <a:t> = 10</a:t>
            </a:r>
          </a:p>
        </p:txBody>
      </p:sp>
      <p:sp>
        <p:nvSpPr>
          <p:cNvPr id="34" name="Oval 21"/>
          <p:cNvSpPr>
            <a:spLocks noChangeArrowheads="1"/>
          </p:cNvSpPr>
          <p:nvPr/>
        </p:nvSpPr>
        <p:spPr bwMode="auto">
          <a:xfrm>
            <a:off x="5041878" y="4189405"/>
            <a:ext cx="139700" cy="1397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984" y="431938"/>
            <a:ext cx="8997950" cy="1143000"/>
          </a:xfrm>
        </p:spPr>
        <p:txBody>
          <a:bodyPr/>
          <a:lstStyle/>
          <a:p>
            <a:pPr algn="ctr"/>
            <a:r>
              <a:rPr lang="en-GB" dirty="0"/>
              <a:t>Exercise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39</a:t>
            </a:fld>
            <a:endParaRPr lang="en-GB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795338" y="283462"/>
            <a:ext cx="8372504" cy="1000132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The Extension with Hierarchy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326572" y="1964631"/>
            <a:ext cx="9223828" cy="3086339"/>
          </a:xfrm>
          <a:noFill/>
          <a:ln/>
        </p:spPr>
        <p:txBody>
          <a:bodyPr>
            <a:noAutofit/>
          </a:bodyPr>
          <a:lstStyle/>
          <a:p>
            <a:r>
              <a:rPr lang="en-GB" sz="2800" dirty="0"/>
              <a:t>A hierarchy is a mechanism to structure complex Petri nets comparable to Data Flow Diagrams.</a:t>
            </a:r>
          </a:p>
          <a:p>
            <a:r>
              <a:rPr lang="en-GB" sz="2800" dirty="0"/>
              <a:t>A </a:t>
            </a:r>
            <a:r>
              <a:rPr lang="en-GB" sz="2800" b="1" dirty="0">
                <a:solidFill>
                  <a:schemeClr val="accent3"/>
                </a:solidFill>
              </a:rPr>
              <a:t>subnet</a:t>
            </a:r>
            <a:r>
              <a:rPr lang="en-GB" sz="2800" dirty="0"/>
              <a:t> is a net composed out of places, transitions and other subnets.</a:t>
            </a:r>
          </a:p>
          <a:p>
            <a:r>
              <a:rPr lang="en-GB" sz="2800" dirty="0"/>
              <a:t>This allows us to model a system at different levels of abstraction and can reduce the complexity of the model.</a:t>
            </a:r>
          </a:p>
          <a:p>
            <a:r>
              <a:rPr lang="en-GB" sz="2800" dirty="0"/>
              <a:t>We shall see an example of this on the next slide..</a:t>
            </a:r>
          </a:p>
        </p:txBody>
      </p:sp>
      <p:sp>
        <p:nvSpPr>
          <p:cNvPr id="52" name="Slide Number Placeholder 5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40</a:t>
            </a:fld>
            <a:endParaRPr lang="en-GB"/>
          </a:p>
        </p:txBody>
      </p:sp>
      <p:sp>
        <p:nvSpPr>
          <p:cNvPr id="53" name="Footer Placeholder 5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795338" y="283462"/>
            <a:ext cx="8372504" cy="1000132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The Extension with Hierarchy</a:t>
            </a:r>
          </a:p>
        </p:txBody>
      </p:sp>
      <p:sp>
        <p:nvSpPr>
          <p:cNvPr id="55300" name="Oval 4"/>
          <p:cNvSpPr>
            <a:spLocks noChangeArrowheads="1"/>
          </p:cNvSpPr>
          <p:nvPr/>
        </p:nvSpPr>
        <p:spPr bwMode="auto">
          <a:xfrm>
            <a:off x="2677426" y="3063118"/>
            <a:ext cx="390596" cy="387439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5301" name="Oval 5"/>
          <p:cNvSpPr>
            <a:spLocks noChangeArrowheads="1"/>
          </p:cNvSpPr>
          <p:nvPr/>
        </p:nvSpPr>
        <p:spPr bwMode="auto">
          <a:xfrm>
            <a:off x="2837764" y="3338782"/>
            <a:ext cx="90836" cy="8955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5302" name="Rectangle 6"/>
          <p:cNvSpPr>
            <a:spLocks noChangeArrowheads="1"/>
          </p:cNvSpPr>
          <p:nvPr/>
        </p:nvSpPr>
        <p:spPr bwMode="auto">
          <a:xfrm>
            <a:off x="2374214" y="3622344"/>
            <a:ext cx="908362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algn="l" defTabSz="762000"/>
            <a:r>
              <a:rPr lang="en-GB" sz="1600"/>
              <a:t>waiting</a:t>
            </a:r>
          </a:p>
        </p:txBody>
      </p:sp>
      <p:sp>
        <p:nvSpPr>
          <p:cNvPr id="55303" name="Oval 7"/>
          <p:cNvSpPr>
            <a:spLocks noChangeArrowheads="1"/>
          </p:cNvSpPr>
          <p:nvPr/>
        </p:nvSpPr>
        <p:spPr bwMode="auto">
          <a:xfrm>
            <a:off x="6227075" y="3063118"/>
            <a:ext cx="392413" cy="387439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5304" name="Oval 8"/>
          <p:cNvSpPr>
            <a:spLocks noChangeArrowheads="1"/>
          </p:cNvSpPr>
          <p:nvPr/>
        </p:nvSpPr>
        <p:spPr bwMode="auto">
          <a:xfrm>
            <a:off x="2823476" y="3200670"/>
            <a:ext cx="90836" cy="89549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5305" name="Rectangle 9"/>
          <p:cNvSpPr>
            <a:spLocks noChangeArrowheads="1"/>
          </p:cNvSpPr>
          <p:nvPr/>
        </p:nvSpPr>
        <p:spPr bwMode="auto">
          <a:xfrm>
            <a:off x="6274701" y="3622344"/>
            <a:ext cx="726690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algn="l" defTabSz="762000"/>
            <a:r>
              <a:rPr lang="en-GB" sz="1600"/>
              <a:t>ready</a:t>
            </a:r>
          </a:p>
        </p:txBody>
      </p:sp>
      <p:sp>
        <p:nvSpPr>
          <p:cNvPr id="55306" name="Line 10"/>
          <p:cNvSpPr>
            <a:spLocks noChangeShapeType="1"/>
          </p:cNvSpPr>
          <p:nvPr/>
        </p:nvSpPr>
        <p:spPr bwMode="auto">
          <a:xfrm flipV="1">
            <a:off x="3064776" y="3265714"/>
            <a:ext cx="1300396" cy="228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5307" name="Line 11"/>
          <p:cNvSpPr>
            <a:spLocks noChangeShapeType="1"/>
          </p:cNvSpPr>
          <p:nvPr/>
        </p:nvSpPr>
        <p:spPr bwMode="auto">
          <a:xfrm flipV="1">
            <a:off x="4893576" y="3265714"/>
            <a:ext cx="1322167" cy="228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5308" name="Line 12"/>
          <p:cNvSpPr>
            <a:spLocks noChangeShapeType="1"/>
          </p:cNvSpPr>
          <p:nvPr/>
        </p:nvSpPr>
        <p:spPr bwMode="auto">
          <a:xfrm flipV="1">
            <a:off x="2988576" y="2590799"/>
            <a:ext cx="1376595" cy="52479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5309" name="Line 13"/>
          <p:cNvSpPr>
            <a:spLocks noChangeShapeType="1"/>
          </p:cNvSpPr>
          <p:nvPr/>
        </p:nvSpPr>
        <p:spPr bwMode="auto">
          <a:xfrm>
            <a:off x="4893576" y="2577740"/>
            <a:ext cx="1398367" cy="52469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5310" name="Line 14"/>
          <p:cNvSpPr>
            <a:spLocks noChangeShapeType="1"/>
          </p:cNvSpPr>
          <p:nvPr/>
        </p:nvSpPr>
        <p:spPr bwMode="auto">
          <a:xfrm>
            <a:off x="3037114" y="3363686"/>
            <a:ext cx="1338943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5311" name="Line 15"/>
          <p:cNvSpPr>
            <a:spLocks noChangeShapeType="1"/>
          </p:cNvSpPr>
          <p:nvPr/>
        </p:nvSpPr>
        <p:spPr bwMode="auto">
          <a:xfrm flipV="1">
            <a:off x="4893576" y="3407228"/>
            <a:ext cx="1409254" cy="54656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</p:spPr>
        <p:txBody>
          <a:bodyPr/>
          <a:lstStyle/>
          <a:p>
            <a:endParaRPr lang="en-GB"/>
          </a:p>
        </p:txBody>
      </p:sp>
      <p:grpSp>
        <p:nvGrpSpPr>
          <p:cNvPr id="55314" name="Group 18"/>
          <p:cNvGrpSpPr>
            <a:grpSpLocks/>
          </p:cNvGrpSpPr>
          <p:nvPr/>
        </p:nvGrpSpPr>
        <p:grpSpPr bwMode="auto">
          <a:xfrm>
            <a:off x="4372876" y="2289480"/>
            <a:ext cx="581352" cy="584814"/>
            <a:chOff x="2072" y="1496"/>
            <a:chExt cx="320" cy="320"/>
          </a:xfrm>
        </p:grpSpPr>
        <p:sp>
          <p:nvSpPr>
            <p:cNvPr id="55312" name="Rectangle 16"/>
            <p:cNvSpPr>
              <a:spLocks noChangeArrowheads="1"/>
            </p:cNvSpPr>
            <p:nvPr/>
          </p:nvSpPr>
          <p:spPr bwMode="auto">
            <a:xfrm>
              <a:off x="2072" y="1496"/>
              <a:ext cx="320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5313" name="Rectangle 17"/>
            <p:cNvSpPr>
              <a:spLocks noChangeArrowheads="1"/>
            </p:cNvSpPr>
            <p:nvPr/>
          </p:nvSpPr>
          <p:spPr bwMode="auto">
            <a:xfrm>
              <a:off x="2120" y="1544"/>
              <a:ext cx="224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55317" name="Group 21"/>
          <p:cNvGrpSpPr>
            <a:grpSpLocks/>
          </p:cNvGrpSpPr>
          <p:nvPr/>
        </p:nvGrpSpPr>
        <p:grpSpPr bwMode="auto">
          <a:xfrm>
            <a:off x="4372876" y="2899080"/>
            <a:ext cx="581352" cy="584814"/>
            <a:chOff x="2072" y="1880"/>
            <a:chExt cx="320" cy="320"/>
          </a:xfrm>
        </p:grpSpPr>
        <p:sp>
          <p:nvSpPr>
            <p:cNvPr id="55315" name="Rectangle 19"/>
            <p:cNvSpPr>
              <a:spLocks noChangeArrowheads="1"/>
            </p:cNvSpPr>
            <p:nvPr/>
          </p:nvSpPr>
          <p:spPr bwMode="auto">
            <a:xfrm>
              <a:off x="2072" y="1880"/>
              <a:ext cx="320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5316" name="Rectangle 20"/>
            <p:cNvSpPr>
              <a:spLocks noChangeArrowheads="1"/>
            </p:cNvSpPr>
            <p:nvPr/>
          </p:nvSpPr>
          <p:spPr bwMode="auto">
            <a:xfrm>
              <a:off x="2120" y="1928"/>
              <a:ext cx="224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55320" name="Group 24"/>
          <p:cNvGrpSpPr>
            <a:grpSpLocks/>
          </p:cNvGrpSpPr>
          <p:nvPr/>
        </p:nvGrpSpPr>
        <p:grpSpPr bwMode="auto">
          <a:xfrm>
            <a:off x="4372876" y="3584880"/>
            <a:ext cx="581352" cy="584814"/>
            <a:chOff x="2072" y="2312"/>
            <a:chExt cx="320" cy="320"/>
          </a:xfrm>
        </p:grpSpPr>
        <p:sp>
          <p:nvSpPr>
            <p:cNvPr id="55318" name="Rectangle 22"/>
            <p:cNvSpPr>
              <a:spLocks noChangeArrowheads="1"/>
            </p:cNvSpPr>
            <p:nvPr/>
          </p:nvSpPr>
          <p:spPr bwMode="auto">
            <a:xfrm>
              <a:off x="2072" y="2312"/>
              <a:ext cx="320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5319" name="Rectangle 23"/>
            <p:cNvSpPr>
              <a:spLocks noChangeArrowheads="1"/>
            </p:cNvSpPr>
            <p:nvPr/>
          </p:nvSpPr>
          <p:spPr bwMode="auto">
            <a:xfrm>
              <a:off x="2120" y="2360"/>
              <a:ext cx="224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5321" name="Rectangle 25"/>
          <p:cNvSpPr>
            <a:spLocks noChangeArrowheads="1"/>
          </p:cNvSpPr>
          <p:nvPr/>
        </p:nvSpPr>
        <p:spPr bwMode="auto">
          <a:xfrm>
            <a:off x="4420500" y="2399969"/>
            <a:ext cx="443281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algn="l" defTabSz="762000"/>
            <a:r>
              <a:rPr lang="en-GB" sz="1600"/>
              <a:t>h1</a:t>
            </a:r>
          </a:p>
        </p:txBody>
      </p:sp>
      <p:sp>
        <p:nvSpPr>
          <p:cNvPr id="55322" name="Rectangle 26"/>
          <p:cNvSpPr>
            <a:spLocks noChangeArrowheads="1"/>
          </p:cNvSpPr>
          <p:nvPr/>
        </p:nvSpPr>
        <p:spPr bwMode="auto">
          <a:xfrm>
            <a:off x="4420500" y="3009569"/>
            <a:ext cx="443281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algn="l" defTabSz="762000"/>
            <a:r>
              <a:rPr lang="en-GB" sz="1600"/>
              <a:t>h2</a:t>
            </a:r>
          </a:p>
        </p:txBody>
      </p:sp>
      <p:sp>
        <p:nvSpPr>
          <p:cNvPr id="55323" name="Rectangle 27"/>
          <p:cNvSpPr>
            <a:spLocks noChangeArrowheads="1"/>
          </p:cNvSpPr>
          <p:nvPr/>
        </p:nvSpPr>
        <p:spPr bwMode="auto">
          <a:xfrm>
            <a:off x="4420500" y="3695369"/>
            <a:ext cx="443281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algn="l" defTabSz="762000"/>
            <a:r>
              <a:rPr lang="en-GB" sz="1600"/>
              <a:t>h3</a:t>
            </a:r>
          </a:p>
        </p:txBody>
      </p:sp>
      <p:grpSp>
        <p:nvGrpSpPr>
          <p:cNvPr id="55341" name="Group 45"/>
          <p:cNvGrpSpPr>
            <a:grpSpLocks/>
          </p:cNvGrpSpPr>
          <p:nvPr/>
        </p:nvGrpSpPr>
        <p:grpSpPr bwMode="auto">
          <a:xfrm>
            <a:off x="3521975" y="4411940"/>
            <a:ext cx="3226503" cy="1745304"/>
            <a:chOff x="1536" y="2929"/>
            <a:chExt cx="1776" cy="955"/>
          </a:xfrm>
        </p:grpSpPr>
        <p:grpSp>
          <p:nvGrpSpPr>
            <p:cNvPr id="55338" name="Group 42"/>
            <p:cNvGrpSpPr>
              <a:grpSpLocks/>
            </p:cNvGrpSpPr>
            <p:nvPr/>
          </p:nvGrpSpPr>
          <p:grpSpPr bwMode="auto">
            <a:xfrm>
              <a:off x="1536" y="3109"/>
              <a:ext cx="1776" cy="702"/>
              <a:chOff x="1536" y="3109"/>
              <a:chExt cx="1776" cy="702"/>
            </a:xfrm>
          </p:grpSpPr>
          <p:sp>
            <p:nvSpPr>
              <p:cNvPr id="55324" name="Rectangle 28"/>
              <p:cNvSpPr>
                <a:spLocks noChangeArrowheads="1"/>
              </p:cNvSpPr>
              <p:nvPr/>
            </p:nvSpPr>
            <p:spPr bwMode="auto">
              <a:xfrm>
                <a:off x="1851" y="3423"/>
                <a:ext cx="215" cy="21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5325" name="Line 29"/>
              <p:cNvSpPr>
                <a:spLocks noChangeShapeType="1"/>
              </p:cNvSpPr>
              <p:nvPr/>
            </p:nvSpPr>
            <p:spPr bwMode="auto">
              <a:xfrm>
                <a:off x="1536" y="3520"/>
                <a:ext cx="30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5326" name="Rectangle 30"/>
              <p:cNvSpPr>
                <a:spLocks noChangeArrowheads="1"/>
              </p:cNvSpPr>
              <p:nvPr/>
            </p:nvSpPr>
            <p:spPr bwMode="auto">
              <a:xfrm>
                <a:off x="1814" y="3614"/>
                <a:ext cx="336" cy="1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l" defTabSz="762000"/>
                <a:r>
                  <a:rPr lang="en-GB" sz="1600"/>
                  <a:t>start</a:t>
                </a:r>
              </a:p>
            </p:txBody>
          </p:sp>
          <p:sp>
            <p:nvSpPr>
              <p:cNvPr id="55327" name="Rectangle 31"/>
              <p:cNvSpPr>
                <a:spLocks noChangeArrowheads="1"/>
              </p:cNvSpPr>
              <p:nvPr/>
            </p:nvSpPr>
            <p:spPr bwMode="auto">
              <a:xfrm>
                <a:off x="2778" y="3423"/>
                <a:ext cx="243" cy="21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5328" name="Line 32"/>
              <p:cNvSpPr>
                <a:spLocks noChangeShapeType="1"/>
              </p:cNvSpPr>
              <p:nvPr/>
            </p:nvSpPr>
            <p:spPr bwMode="auto">
              <a:xfrm>
                <a:off x="2074" y="3529"/>
                <a:ext cx="23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5329" name="Line 33"/>
              <p:cNvSpPr>
                <a:spLocks noChangeShapeType="1"/>
              </p:cNvSpPr>
              <p:nvPr/>
            </p:nvSpPr>
            <p:spPr bwMode="auto">
              <a:xfrm>
                <a:off x="2537" y="3529"/>
                <a:ext cx="23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5330" name="Line 34"/>
              <p:cNvSpPr>
                <a:spLocks noChangeShapeType="1"/>
              </p:cNvSpPr>
              <p:nvPr/>
            </p:nvSpPr>
            <p:spPr bwMode="auto">
              <a:xfrm>
                <a:off x="3024" y="3520"/>
                <a:ext cx="2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5331" name="Line 35"/>
              <p:cNvSpPr>
                <a:spLocks noChangeShapeType="1"/>
              </p:cNvSpPr>
              <p:nvPr/>
            </p:nvSpPr>
            <p:spPr bwMode="auto">
              <a:xfrm flipH="1">
                <a:off x="2074" y="3279"/>
                <a:ext cx="261" cy="17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5332" name="Line 36"/>
              <p:cNvSpPr>
                <a:spLocks noChangeShapeType="1"/>
              </p:cNvSpPr>
              <p:nvPr/>
            </p:nvSpPr>
            <p:spPr bwMode="auto">
              <a:xfrm flipH="1" flipV="1">
                <a:off x="2509" y="3279"/>
                <a:ext cx="261" cy="17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5333" name="Oval 37"/>
              <p:cNvSpPr>
                <a:spLocks noChangeArrowheads="1"/>
              </p:cNvSpPr>
              <p:nvPr/>
            </p:nvSpPr>
            <p:spPr bwMode="auto">
              <a:xfrm>
                <a:off x="2314" y="3423"/>
                <a:ext cx="215" cy="21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5334" name="Oval 38"/>
              <p:cNvSpPr>
                <a:spLocks noChangeArrowheads="1"/>
              </p:cNvSpPr>
              <p:nvPr/>
            </p:nvSpPr>
            <p:spPr bwMode="auto">
              <a:xfrm>
                <a:off x="2314" y="3109"/>
                <a:ext cx="215" cy="21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5335" name="Oval 39"/>
              <p:cNvSpPr>
                <a:spLocks noChangeArrowheads="1"/>
              </p:cNvSpPr>
              <p:nvPr/>
            </p:nvSpPr>
            <p:spPr bwMode="auto">
              <a:xfrm>
                <a:off x="2398" y="3191"/>
                <a:ext cx="49" cy="49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5336" name="Rectangle 40"/>
              <p:cNvSpPr>
                <a:spLocks noChangeArrowheads="1"/>
              </p:cNvSpPr>
              <p:nvPr/>
            </p:nvSpPr>
            <p:spPr bwMode="auto">
              <a:xfrm>
                <a:off x="2741" y="3614"/>
                <a:ext cx="408" cy="1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l" defTabSz="762000"/>
                <a:r>
                  <a:rPr lang="en-GB" sz="1600"/>
                  <a:t>finish</a:t>
                </a:r>
              </a:p>
            </p:txBody>
          </p:sp>
          <p:sp>
            <p:nvSpPr>
              <p:cNvPr id="55337" name="Rectangle 41"/>
              <p:cNvSpPr>
                <a:spLocks noChangeArrowheads="1"/>
              </p:cNvSpPr>
              <p:nvPr/>
            </p:nvSpPr>
            <p:spPr bwMode="auto">
              <a:xfrm>
                <a:off x="2229" y="3614"/>
                <a:ext cx="358" cy="1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l" defTabSz="762000"/>
                <a:r>
                  <a:rPr lang="en-GB" sz="1600"/>
                  <a:t>busy</a:t>
                </a:r>
              </a:p>
            </p:txBody>
          </p:sp>
        </p:grpSp>
        <p:sp>
          <p:nvSpPr>
            <p:cNvPr id="55339" name="Rectangle 43"/>
            <p:cNvSpPr>
              <a:spLocks noChangeArrowheads="1"/>
            </p:cNvSpPr>
            <p:nvPr/>
          </p:nvSpPr>
          <p:spPr bwMode="auto">
            <a:xfrm>
              <a:off x="2258" y="2929"/>
              <a:ext cx="315" cy="1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1600"/>
                <a:t>free</a:t>
              </a:r>
            </a:p>
          </p:txBody>
        </p:sp>
        <p:sp>
          <p:nvSpPr>
            <p:cNvPr id="55340" name="Rectangle 44"/>
            <p:cNvSpPr>
              <a:spLocks noChangeArrowheads="1"/>
            </p:cNvSpPr>
            <p:nvPr/>
          </p:nvSpPr>
          <p:spPr bwMode="auto">
            <a:xfrm>
              <a:off x="1540" y="2932"/>
              <a:ext cx="1768" cy="95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5342" name="Line 46"/>
          <p:cNvSpPr>
            <a:spLocks noChangeShapeType="1"/>
          </p:cNvSpPr>
          <p:nvPr/>
        </p:nvSpPr>
        <p:spPr bwMode="auto">
          <a:xfrm flipH="1">
            <a:off x="3521975" y="4169228"/>
            <a:ext cx="854082" cy="199436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5343" name="Line 47"/>
          <p:cNvSpPr>
            <a:spLocks noChangeShapeType="1"/>
          </p:cNvSpPr>
          <p:nvPr/>
        </p:nvSpPr>
        <p:spPr bwMode="auto">
          <a:xfrm flipH="1">
            <a:off x="3548743" y="3592286"/>
            <a:ext cx="827314" cy="84908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5344" name="Line 48"/>
          <p:cNvSpPr>
            <a:spLocks noChangeShapeType="1"/>
          </p:cNvSpPr>
          <p:nvPr/>
        </p:nvSpPr>
        <p:spPr bwMode="auto">
          <a:xfrm>
            <a:off x="4974771" y="4136570"/>
            <a:ext cx="1785258" cy="2013859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5345" name="Line 49"/>
          <p:cNvSpPr>
            <a:spLocks noChangeShapeType="1"/>
          </p:cNvSpPr>
          <p:nvPr/>
        </p:nvSpPr>
        <p:spPr bwMode="auto">
          <a:xfrm>
            <a:off x="4942113" y="3592286"/>
            <a:ext cx="1785257" cy="84908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2" name="Slide Number Placeholder 5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41</a:t>
            </a:fld>
            <a:endParaRPr lang="en-GB"/>
          </a:p>
        </p:txBody>
      </p:sp>
      <p:sp>
        <p:nvSpPr>
          <p:cNvPr id="53" name="Footer Placeholder 5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307530" y="1596574"/>
            <a:ext cx="5559216" cy="4687682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/>
          <p:cNvSpPr txBox="1"/>
          <p:nvPr/>
        </p:nvSpPr>
        <p:spPr>
          <a:xfrm>
            <a:off x="7990115" y="4136571"/>
            <a:ext cx="1556657" cy="92333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1">
                <a:shade val="50000"/>
                <a:satMod val="103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dirty="0"/>
              <a:t>Here we expand subnet h3..</a:t>
            </a:r>
          </a:p>
        </p:txBody>
      </p:sp>
      <p:cxnSp>
        <p:nvCxnSpPr>
          <p:cNvPr id="57" name="Straight Arrow Connector 56"/>
          <p:cNvCxnSpPr>
            <a:stCxn id="55" idx="1"/>
          </p:cNvCxnSpPr>
          <p:nvPr/>
        </p:nvCxnSpPr>
        <p:spPr>
          <a:xfrm rot="10800000" flipV="1">
            <a:off x="6727371" y="4598236"/>
            <a:ext cx="1262744" cy="4200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795338" y="500043"/>
            <a:ext cx="8586818" cy="785817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Exercise: Remove Hierarchy</a:t>
            </a:r>
            <a:endParaRPr lang="en-GB" sz="2000" dirty="0"/>
          </a:p>
        </p:txBody>
      </p:sp>
      <p:sp>
        <p:nvSpPr>
          <p:cNvPr id="57347" name="Oval 3"/>
          <p:cNvSpPr>
            <a:spLocks noChangeArrowheads="1"/>
          </p:cNvSpPr>
          <p:nvPr/>
        </p:nvSpPr>
        <p:spPr bwMode="auto">
          <a:xfrm>
            <a:off x="1517650" y="2208213"/>
            <a:ext cx="341313" cy="33655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7348" name="Oval 4"/>
          <p:cNvSpPr>
            <a:spLocks noChangeArrowheads="1"/>
          </p:cNvSpPr>
          <p:nvPr/>
        </p:nvSpPr>
        <p:spPr bwMode="auto">
          <a:xfrm>
            <a:off x="1677988" y="2444750"/>
            <a:ext cx="79375" cy="7778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7349" name="Rectangle 5"/>
          <p:cNvSpPr>
            <a:spLocks noChangeArrowheads="1"/>
          </p:cNvSpPr>
          <p:nvPr/>
        </p:nvSpPr>
        <p:spPr bwMode="auto">
          <a:xfrm>
            <a:off x="1214438" y="2763838"/>
            <a:ext cx="793750" cy="312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1600"/>
              <a:t>waiting</a:t>
            </a:r>
          </a:p>
        </p:txBody>
      </p:sp>
      <p:sp>
        <p:nvSpPr>
          <p:cNvPr id="57350" name="Oval 6"/>
          <p:cNvSpPr>
            <a:spLocks noChangeArrowheads="1"/>
          </p:cNvSpPr>
          <p:nvPr/>
        </p:nvSpPr>
        <p:spPr bwMode="auto">
          <a:xfrm>
            <a:off x="5067300" y="2208213"/>
            <a:ext cx="342900" cy="33655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7351" name="Oval 7"/>
          <p:cNvSpPr>
            <a:spLocks noChangeArrowheads="1"/>
          </p:cNvSpPr>
          <p:nvPr/>
        </p:nvSpPr>
        <p:spPr bwMode="auto">
          <a:xfrm>
            <a:off x="1663700" y="2306638"/>
            <a:ext cx="79375" cy="77787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7352" name="Rectangle 8"/>
          <p:cNvSpPr>
            <a:spLocks noChangeArrowheads="1"/>
          </p:cNvSpPr>
          <p:nvPr/>
        </p:nvSpPr>
        <p:spPr bwMode="auto">
          <a:xfrm>
            <a:off x="5114925" y="2763838"/>
            <a:ext cx="635000" cy="312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1600"/>
              <a:t>ready</a:t>
            </a:r>
          </a:p>
        </p:txBody>
      </p:sp>
      <p:sp>
        <p:nvSpPr>
          <p:cNvPr id="57353" name="Line 9"/>
          <p:cNvSpPr>
            <a:spLocks noChangeShapeType="1"/>
          </p:cNvSpPr>
          <p:nvPr/>
        </p:nvSpPr>
        <p:spPr bwMode="auto">
          <a:xfrm>
            <a:off x="1905000" y="2362200"/>
            <a:ext cx="1295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7354" name="Line 10"/>
          <p:cNvSpPr>
            <a:spLocks noChangeShapeType="1"/>
          </p:cNvSpPr>
          <p:nvPr/>
        </p:nvSpPr>
        <p:spPr bwMode="auto">
          <a:xfrm>
            <a:off x="3733800" y="2362200"/>
            <a:ext cx="1371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7355" name="Line 11"/>
          <p:cNvSpPr>
            <a:spLocks noChangeShapeType="1"/>
          </p:cNvSpPr>
          <p:nvPr/>
        </p:nvSpPr>
        <p:spPr bwMode="auto">
          <a:xfrm flipV="1">
            <a:off x="1828800" y="1752600"/>
            <a:ext cx="13716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7356" name="Line 12"/>
          <p:cNvSpPr>
            <a:spLocks noChangeShapeType="1"/>
          </p:cNvSpPr>
          <p:nvPr/>
        </p:nvSpPr>
        <p:spPr bwMode="auto">
          <a:xfrm>
            <a:off x="3733800" y="1752600"/>
            <a:ext cx="13716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7357" name="Line 13"/>
          <p:cNvSpPr>
            <a:spLocks noChangeShapeType="1"/>
          </p:cNvSpPr>
          <p:nvPr/>
        </p:nvSpPr>
        <p:spPr bwMode="auto">
          <a:xfrm>
            <a:off x="1828800" y="2514600"/>
            <a:ext cx="13716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7358" name="Line 14"/>
          <p:cNvSpPr>
            <a:spLocks noChangeShapeType="1"/>
          </p:cNvSpPr>
          <p:nvPr/>
        </p:nvSpPr>
        <p:spPr bwMode="auto">
          <a:xfrm flipV="1">
            <a:off x="3733800" y="2514600"/>
            <a:ext cx="14478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grpSp>
        <p:nvGrpSpPr>
          <p:cNvPr id="57361" name="Group 17"/>
          <p:cNvGrpSpPr>
            <a:grpSpLocks/>
          </p:cNvGrpSpPr>
          <p:nvPr/>
        </p:nvGrpSpPr>
        <p:grpSpPr bwMode="auto">
          <a:xfrm>
            <a:off x="3213100" y="1460500"/>
            <a:ext cx="508000" cy="508000"/>
            <a:chOff x="2024" y="920"/>
            <a:chExt cx="320" cy="320"/>
          </a:xfrm>
        </p:grpSpPr>
        <p:sp>
          <p:nvSpPr>
            <p:cNvPr id="57359" name="Rectangle 15"/>
            <p:cNvSpPr>
              <a:spLocks noChangeArrowheads="1"/>
            </p:cNvSpPr>
            <p:nvPr/>
          </p:nvSpPr>
          <p:spPr bwMode="auto">
            <a:xfrm>
              <a:off x="2024" y="920"/>
              <a:ext cx="320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7360" name="Rectangle 16"/>
            <p:cNvSpPr>
              <a:spLocks noChangeArrowheads="1"/>
            </p:cNvSpPr>
            <p:nvPr/>
          </p:nvSpPr>
          <p:spPr bwMode="auto">
            <a:xfrm>
              <a:off x="2072" y="968"/>
              <a:ext cx="224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57364" name="Group 20"/>
          <p:cNvGrpSpPr>
            <a:grpSpLocks/>
          </p:cNvGrpSpPr>
          <p:nvPr/>
        </p:nvGrpSpPr>
        <p:grpSpPr bwMode="auto">
          <a:xfrm>
            <a:off x="3213100" y="2070100"/>
            <a:ext cx="508000" cy="508000"/>
            <a:chOff x="2024" y="1304"/>
            <a:chExt cx="320" cy="320"/>
          </a:xfrm>
        </p:grpSpPr>
        <p:sp>
          <p:nvSpPr>
            <p:cNvPr id="57362" name="Rectangle 18"/>
            <p:cNvSpPr>
              <a:spLocks noChangeArrowheads="1"/>
            </p:cNvSpPr>
            <p:nvPr/>
          </p:nvSpPr>
          <p:spPr bwMode="auto">
            <a:xfrm>
              <a:off x="2024" y="1304"/>
              <a:ext cx="320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7363" name="Rectangle 19"/>
            <p:cNvSpPr>
              <a:spLocks noChangeArrowheads="1"/>
            </p:cNvSpPr>
            <p:nvPr/>
          </p:nvSpPr>
          <p:spPr bwMode="auto">
            <a:xfrm>
              <a:off x="2072" y="1352"/>
              <a:ext cx="224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57367" name="Group 23"/>
          <p:cNvGrpSpPr>
            <a:grpSpLocks/>
          </p:cNvGrpSpPr>
          <p:nvPr/>
        </p:nvGrpSpPr>
        <p:grpSpPr bwMode="auto">
          <a:xfrm>
            <a:off x="3213100" y="2755900"/>
            <a:ext cx="508000" cy="508000"/>
            <a:chOff x="2024" y="1736"/>
            <a:chExt cx="320" cy="320"/>
          </a:xfrm>
        </p:grpSpPr>
        <p:sp>
          <p:nvSpPr>
            <p:cNvPr id="57365" name="Rectangle 21"/>
            <p:cNvSpPr>
              <a:spLocks noChangeArrowheads="1"/>
            </p:cNvSpPr>
            <p:nvPr/>
          </p:nvSpPr>
          <p:spPr bwMode="auto">
            <a:xfrm>
              <a:off x="2024" y="1736"/>
              <a:ext cx="320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7366" name="Rectangle 22"/>
            <p:cNvSpPr>
              <a:spLocks noChangeArrowheads="1"/>
            </p:cNvSpPr>
            <p:nvPr/>
          </p:nvSpPr>
          <p:spPr bwMode="auto">
            <a:xfrm>
              <a:off x="2072" y="1784"/>
              <a:ext cx="224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7368" name="Rectangle 24"/>
          <p:cNvSpPr>
            <a:spLocks noChangeArrowheads="1"/>
          </p:cNvSpPr>
          <p:nvPr/>
        </p:nvSpPr>
        <p:spPr bwMode="auto">
          <a:xfrm>
            <a:off x="3260725" y="1541463"/>
            <a:ext cx="387350" cy="312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1600"/>
              <a:t>h1</a:t>
            </a:r>
          </a:p>
        </p:txBody>
      </p:sp>
      <p:sp>
        <p:nvSpPr>
          <p:cNvPr id="57369" name="Rectangle 25"/>
          <p:cNvSpPr>
            <a:spLocks noChangeArrowheads="1"/>
          </p:cNvSpPr>
          <p:nvPr/>
        </p:nvSpPr>
        <p:spPr bwMode="auto">
          <a:xfrm>
            <a:off x="3260725" y="2151063"/>
            <a:ext cx="387350" cy="312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1600"/>
              <a:t>h2</a:t>
            </a:r>
          </a:p>
        </p:txBody>
      </p:sp>
      <p:sp>
        <p:nvSpPr>
          <p:cNvPr id="57370" name="Rectangle 26"/>
          <p:cNvSpPr>
            <a:spLocks noChangeArrowheads="1"/>
          </p:cNvSpPr>
          <p:nvPr/>
        </p:nvSpPr>
        <p:spPr bwMode="auto">
          <a:xfrm>
            <a:off x="3260725" y="2836863"/>
            <a:ext cx="387350" cy="312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1600"/>
              <a:t>h3</a:t>
            </a:r>
          </a:p>
        </p:txBody>
      </p:sp>
      <p:grpSp>
        <p:nvGrpSpPr>
          <p:cNvPr id="57388" name="Group 44"/>
          <p:cNvGrpSpPr>
            <a:grpSpLocks/>
          </p:cNvGrpSpPr>
          <p:nvPr/>
        </p:nvGrpSpPr>
        <p:grpSpPr bwMode="auto">
          <a:xfrm>
            <a:off x="2362200" y="3735388"/>
            <a:ext cx="2819400" cy="1516062"/>
            <a:chOff x="1488" y="2353"/>
            <a:chExt cx="1776" cy="955"/>
          </a:xfrm>
        </p:grpSpPr>
        <p:grpSp>
          <p:nvGrpSpPr>
            <p:cNvPr id="57385" name="Group 41"/>
            <p:cNvGrpSpPr>
              <a:grpSpLocks/>
            </p:cNvGrpSpPr>
            <p:nvPr/>
          </p:nvGrpSpPr>
          <p:grpSpPr bwMode="auto">
            <a:xfrm>
              <a:off x="1488" y="2533"/>
              <a:ext cx="1776" cy="702"/>
              <a:chOff x="1488" y="2533"/>
              <a:chExt cx="1776" cy="702"/>
            </a:xfrm>
          </p:grpSpPr>
          <p:sp>
            <p:nvSpPr>
              <p:cNvPr id="57371" name="Rectangle 27"/>
              <p:cNvSpPr>
                <a:spLocks noChangeArrowheads="1"/>
              </p:cNvSpPr>
              <p:nvPr/>
            </p:nvSpPr>
            <p:spPr bwMode="auto">
              <a:xfrm>
                <a:off x="1803" y="2847"/>
                <a:ext cx="215" cy="21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7372" name="Line 28"/>
              <p:cNvSpPr>
                <a:spLocks noChangeShapeType="1"/>
              </p:cNvSpPr>
              <p:nvPr/>
            </p:nvSpPr>
            <p:spPr bwMode="auto">
              <a:xfrm>
                <a:off x="1488" y="2944"/>
                <a:ext cx="30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7373" name="Rectangle 29"/>
              <p:cNvSpPr>
                <a:spLocks noChangeArrowheads="1"/>
              </p:cNvSpPr>
              <p:nvPr/>
            </p:nvSpPr>
            <p:spPr bwMode="auto">
              <a:xfrm>
                <a:off x="1766" y="3038"/>
                <a:ext cx="336" cy="1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l" defTabSz="762000"/>
                <a:r>
                  <a:rPr lang="en-GB" sz="1600"/>
                  <a:t>start</a:t>
                </a:r>
              </a:p>
            </p:txBody>
          </p:sp>
          <p:sp>
            <p:nvSpPr>
              <p:cNvPr id="57374" name="Rectangle 30"/>
              <p:cNvSpPr>
                <a:spLocks noChangeArrowheads="1"/>
              </p:cNvSpPr>
              <p:nvPr/>
            </p:nvSpPr>
            <p:spPr bwMode="auto">
              <a:xfrm>
                <a:off x="2730" y="2847"/>
                <a:ext cx="243" cy="21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7375" name="Line 31"/>
              <p:cNvSpPr>
                <a:spLocks noChangeShapeType="1"/>
              </p:cNvSpPr>
              <p:nvPr/>
            </p:nvSpPr>
            <p:spPr bwMode="auto">
              <a:xfrm>
                <a:off x="2026" y="2953"/>
                <a:ext cx="23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7376" name="Line 32"/>
              <p:cNvSpPr>
                <a:spLocks noChangeShapeType="1"/>
              </p:cNvSpPr>
              <p:nvPr/>
            </p:nvSpPr>
            <p:spPr bwMode="auto">
              <a:xfrm>
                <a:off x="2489" y="2953"/>
                <a:ext cx="23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7377" name="Line 33"/>
              <p:cNvSpPr>
                <a:spLocks noChangeShapeType="1"/>
              </p:cNvSpPr>
              <p:nvPr/>
            </p:nvSpPr>
            <p:spPr bwMode="auto">
              <a:xfrm>
                <a:off x="2976" y="2944"/>
                <a:ext cx="2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7378" name="Line 34"/>
              <p:cNvSpPr>
                <a:spLocks noChangeShapeType="1"/>
              </p:cNvSpPr>
              <p:nvPr/>
            </p:nvSpPr>
            <p:spPr bwMode="auto">
              <a:xfrm flipH="1">
                <a:off x="2026" y="2703"/>
                <a:ext cx="261" cy="17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7379" name="Line 35"/>
              <p:cNvSpPr>
                <a:spLocks noChangeShapeType="1"/>
              </p:cNvSpPr>
              <p:nvPr/>
            </p:nvSpPr>
            <p:spPr bwMode="auto">
              <a:xfrm flipH="1" flipV="1">
                <a:off x="2461" y="2703"/>
                <a:ext cx="261" cy="17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7380" name="Oval 36"/>
              <p:cNvSpPr>
                <a:spLocks noChangeArrowheads="1"/>
              </p:cNvSpPr>
              <p:nvPr/>
            </p:nvSpPr>
            <p:spPr bwMode="auto">
              <a:xfrm>
                <a:off x="2266" y="2847"/>
                <a:ext cx="215" cy="21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7381" name="Oval 37"/>
              <p:cNvSpPr>
                <a:spLocks noChangeArrowheads="1"/>
              </p:cNvSpPr>
              <p:nvPr/>
            </p:nvSpPr>
            <p:spPr bwMode="auto">
              <a:xfrm>
                <a:off x="2266" y="2533"/>
                <a:ext cx="215" cy="21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7382" name="Oval 38"/>
              <p:cNvSpPr>
                <a:spLocks noChangeArrowheads="1"/>
              </p:cNvSpPr>
              <p:nvPr/>
            </p:nvSpPr>
            <p:spPr bwMode="auto">
              <a:xfrm>
                <a:off x="2350" y="2615"/>
                <a:ext cx="49" cy="49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7383" name="Rectangle 39"/>
              <p:cNvSpPr>
                <a:spLocks noChangeArrowheads="1"/>
              </p:cNvSpPr>
              <p:nvPr/>
            </p:nvSpPr>
            <p:spPr bwMode="auto">
              <a:xfrm>
                <a:off x="2693" y="3038"/>
                <a:ext cx="408" cy="1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l" defTabSz="762000"/>
                <a:r>
                  <a:rPr lang="en-GB" sz="1600"/>
                  <a:t>finish</a:t>
                </a:r>
              </a:p>
            </p:txBody>
          </p:sp>
          <p:sp>
            <p:nvSpPr>
              <p:cNvPr id="57384" name="Rectangle 40"/>
              <p:cNvSpPr>
                <a:spLocks noChangeArrowheads="1"/>
              </p:cNvSpPr>
              <p:nvPr/>
            </p:nvSpPr>
            <p:spPr bwMode="auto">
              <a:xfrm>
                <a:off x="2181" y="3038"/>
                <a:ext cx="358" cy="1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l" defTabSz="762000"/>
                <a:r>
                  <a:rPr lang="en-GB" sz="1600"/>
                  <a:t>busy</a:t>
                </a:r>
              </a:p>
            </p:txBody>
          </p:sp>
        </p:grpSp>
        <p:sp>
          <p:nvSpPr>
            <p:cNvPr id="57386" name="Rectangle 42"/>
            <p:cNvSpPr>
              <a:spLocks noChangeArrowheads="1"/>
            </p:cNvSpPr>
            <p:nvPr/>
          </p:nvSpPr>
          <p:spPr bwMode="auto">
            <a:xfrm>
              <a:off x="2210" y="2353"/>
              <a:ext cx="315" cy="1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defTabSz="762000"/>
              <a:r>
                <a:rPr lang="en-GB" sz="1600"/>
                <a:t>free</a:t>
              </a:r>
            </a:p>
          </p:txBody>
        </p:sp>
        <p:sp>
          <p:nvSpPr>
            <p:cNvPr id="57387" name="Rectangle 43"/>
            <p:cNvSpPr>
              <a:spLocks noChangeArrowheads="1"/>
            </p:cNvSpPr>
            <p:nvPr/>
          </p:nvSpPr>
          <p:spPr bwMode="auto">
            <a:xfrm>
              <a:off x="1492" y="2356"/>
              <a:ext cx="1768" cy="95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7389" name="Line 45"/>
          <p:cNvSpPr>
            <a:spLocks noChangeShapeType="1"/>
          </p:cNvSpPr>
          <p:nvPr/>
        </p:nvSpPr>
        <p:spPr bwMode="auto">
          <a:xfrm flipH="1">
            <a:off x="2362200" y="3276600"/>
            <a:ext cx="838200" cy="1981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7390" name="Line 46"/>
          <p:cNvSpPr>
            <a:spLocks noChangeShapeType="1"/>
          </p:cNvSpPr>
          <p:nvPr/>
        </p:nvSpPr>
        <p:spPr bwMode="auto">
          <a:xfrm flipH="1">
            <a:off x="2362200" y="2743200"/>
            <a:ext cx="838200" cy="990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7391" name="Line 47"/>
          <p:cNvSpPr>
            <a:spLocks noChangeShapeType="1"/>
          </p:cNvSpPr>
          <p:nvPr/>
        </p:nvSpPr>
        <p:spPr bwMode="auto">
          <a:xfrm>
            <a:off x="3733800" y="3276600"/>
            <a:ext cx="1447800" cy="1981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7392" name="Line 48"/>
          <p:cNvSpPr>
            <a:spLocks noChangeShapeType="1"/>
          </p:cNvSpPr>
          <p:nvPr/>
        </p:nvSpPr>
        <p:spPr bwMode="auto">
          <a:xfrm>
            <a:off x="3733800" y="2743200"/>
            <a:ext cx="1447800" cy="990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7393" name="Line 49"/>
          <p:cNvSpPr>
            <a:spLocks noChangeShapeType="1"/>
          </p:cNvSpPr>
          <p:nvPr/>
        </p:nvSpPr>
        <p:spPr bwMode="auto">
          <a:xfrm flipH="1">
            <a:off x="2362200" y="2057400"/>
            <a:ext cx="838200" cy="1676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7394" name="Line 50"/>
          <p:cNvSpPr>
            <a:spLocks noChangeShapeType="1"/>
          </p:cNvSpPr>
          <p:nvPr/>
        </p:nvSpPr>
        <p:spPr bwMode="auto">
          <a:xfrm flipH="1">
            <a:off x="2362200" y="2590800"/>
            <a:ext cx="838200" cy="26670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7395" name="Line 51"/>
          <p:cNvSpPr>
            <a:spLocks noChangeShapeType="1"/>
          </p:cNvSpPr>
          <p:nvPr/>
        </p:nvSpPr>
        <p:spPr bwMode="auto">
          <a:xfrm>
            <a:off x="3733800" y="2590800"/>
            <a:ext cx="1447800" cy="26670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7396" name="Line 52"/>
          <p:cNvSpPr>
            <a:spLocks noChangeShapeType="1"/>
          </p:cNvSpPr>
          <p:nvPr/>
        </p:nvSpPr>
        <p:spPr bwMode="auto">
          <a:xfrm flipH="1" flipV="1">
            <a:off x="3733800" y="2057400"/>
            <a:ext cx="1447800" cy="1676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7397" name="Rectangle 53"/>
          <p:cNvSpPr>
            <a:spLocks noChangeArrowheads="1"/>
          </p:cNvSpPr>
          <p:nvPr/>
        </p:nvSpPr>
        <p:spPr bwMode="auto">
          <a:xfrm>
            <a:off x="5834063" y="5815013"/>
            <a:ext cx="341312" cy="3365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7398" name="Line 54"/>
          <p:cNvSpPr>
            <a:spLocks noChangeShapeType="1"/>
          </p:cNvSpPr>
          <p:nvPr/>
        </p:nvSpPr>
        <p:spPr bwMode="auto">
          <a:xfrm>
            <a:off x="5334000" y="6045200"/>
            <a:ext cx="4873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7399" name="Rectangle 55"/>
          <p:cNvSpPr>
            <a:spLocks noChangeArrowheads="1"/>
          </p:cNvSpPr>
          <p:nvPr/>
        </p:nvSpPr>
        <p:spPr bwMode="auto">
          <a:xfrm>
            <a:off x="5699125" y="6118225"/>
            <a:ext cx="635000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1600"/>
              <a:t>begin</a:t>
            </a:r>
          </a:p>
        </p:txBody>
      </p:sp>
      <p:sp>
        <p:nvSpPr>
          <p:cNvPr id="57400" name="Rectangle 56"/>
          <p:cNvSpPr>
            <a:spLocks noChangeArrowheads="1"/>
          </p:cNvSpPr>
          <p:nvPr/>
        </p:nvSpPr>
        <p:spPr bwMode="auto">
          <a:xfrm>
            <a:off x="7305675" y="5815013"/>
            <a:ext cx="385763" cy="3365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7401" name="Line 57"/>
          <p:cNvSpPr>
            <a:spLocks noChangeShapeType="1"/>
          </p:cNvSpPr>
          <p:nvPr/>
        </p:nvSpPr>
        <p:spPr bwMode="auto">
          <a:xfrm>
            <a:off x="6188075" y="5983288"/>
            <a:ext cx="368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7402" name="Line 58"/>
          <p:cNvSpPr>
            <a:spLocks noChangeShapeType="1"/>
          </p:cNvSpPr>
          <p:nvPr/>
        </p:nvSpPr>
        <p:spPr bwMode="auto">
          <a:xfrm>
            <a:off x="6923088" y="5983288"/>
            <a:ext cx="3698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7403" name="Line 59"/>
          <p:cNvSpPr>
            <a:spLocks noChangeShapeType="1"/>
          </p:cNvSpPr>
          <p:nvPr/>
        </p:nvSpPr>
        <p:spPr bwMode="auto">
          <a:xfrm>
            <a:off x="7696200" y="59690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7404" name="Oval 60"/>
          <p:cNvSpPr>
            <a:spLocks noChangeArrowheads="1"/>
          </p:cNvSpPr>
          <p:nvPr/>
        </p:nvSpPr>
        <p:spPr bwMode="auto">
          <a:xfrm>
            <a:off x="6569075" y="5815013"/>
            <a:ext cx="341313" cy="33655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7405" name="Rectangle 61"/>
          <p:cNvSpPr>
            <a:spLocks noChangeArrowheads="1"/>
          </p:cNvSpPr>
          <p:nvPr/>
        </p:nvSpPr>
        <p:spPr bwMode="auto">
          <a:xfrm>
            <a:off x="7246938" y="6118225"/>
            <a:ext cx="477837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1600"/>
              <a:t>end</a:t>
            </a:r>
          </a:p>
        </p:txBody>
      </p:sp>
      <p:sp>
        <p:nvSpPr>
          <p:cNvPr id="57406" name="Rectangle 62"/>
          <p:cNvSpPr>
            <a:spLocks noChangeArrowheads="1"/>
          </p:cNvSpPr>
          <p:nvPr/>
        </p:nvSpPr>
        <p:spPr bwMode="auto">
          <a:xfrm>
            <a:off x="6434138" y="6118225"/>
            <a:ext cx="838200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1600"/>
              <a:t>pending</a:t>
            </a:r>
          </a:p>
        </p:txBody>
      </p:sp>
      <p:sp>
        <p:nvSpPr>
          <p:cNvPr id="57407" name="Rectangle 63"/>
          <p:cNvSpPr>
            <a:spLocks noChangeArrowheads="1"/>
          </p:cNvSpPr>
          <p:nvPr/>
        </p:nvSpPr>
        <p:spPr bwMode="auto">
          <a:xfrm>
            <a:off x="5340350" y="5568950"/>
            <a:ext cx="2806700" cy="977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7408" name="Line 64"/>
          <p:cNvSpPr>
            <a:spLocks noChangeShapeType="1"/>
          </p:cNvSpPr>
          <p:nvPr/>
        </p:nvSpPr>
        <p:spPr bwMode="auto">
          <a:xfrm>
            <a:off x="4724400" y="4495800"/>
            <a:ext cx="3429000" cy="1066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7409" name="Line 65"/>
          <p:cNvSpPr>
            <a:spLocks noChangeShapeType="1"/>
          </p:cNvSpPr>
          <p:nvPr/>
        </p:nvSpPr>
        <p:spPr bwMode="auto">
          <a:xfrm>
            <a:off x="3733800" y="1981200"/>
            <a:ext cx="5181600" cy="2514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7410" name="Line 66"/>
          <p:cNvSpPr>
            <a:spLocks noChangeShapeType="1"/>
          </p:cNvSpPr>
          <p:nvPr/>
        </p:nvSpPr>
        <p:spPr bwMode="auto">
          <a:xfrm>
            <a:off x="4343400" y="4495800"/>
            <a:ext cx="990600" cy="1066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7411" name="Line 67"/>
          <p:cNvSpPr>
            <a:spLocks noChangeShapeType="1"/>
          </p:cNvSpPr>
          <p:nvPr/>
        </p:nvSpPr>
        <p:spPr bwMode="auto">
          <a:xfrm>
            <a:off x="4724400" y="4876800"/>
            <a:ext cx="3429000" cy="1676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7412" name="Line 68"/>
          <p:cNvSpPr>
            <a:spLocks noChangeShapeType="1"/>
          </p:cNvSpPr>
          <p:nvPr/>
        </p:nvSpPr>
        <p:spPr bwMode="auto">
          <a:xfrm>
            <a:off x="4343400" y="4876800"/>
            <a:ext cx="990600" cy="1676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7413" name="Rectangle 69"/>
          <p:cNvSpPr>
            <a:spLocks noChangeArrowheads="1"/>
          </p:cNvSpPr>
          <p:nvPr/>
        </p:nvSpPr>
        <p:spPr bwMode="auto">
          <a:xfrm>
            <a:off x="4432300" y="4584700"/>
            <a:ext cx="203200" cy="203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7414" name="Line 70"/>
          <p:cNvSpPr>
            <a:spLocks noChangeShapeType="1"/>
          </p:cNvSpPr>
          <p:nvPr/>
        </p:nvSpPr>
        <p:spPr bwMode="auto">
          <a:xfrm flipH="1" flipV="1">
            <a:off x="5334000" y="5715000"/>
            <a:ext cx="4572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7415" name="Rectangle 71"/>
          <p:cNvSpPr>
            <a:spLocks noChangeArrowheads="1"/>
          </p:cNvSpPr>
          <p:nvPr/>
        </p:nvSpPr>
        <p:spPr bwMode="auto">
          <a:xfrm>
            <a:off x="6596063" y="3757613"/>
            <a:ext cx="341312" cy="3365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7416" name="Line 72"/>
          <p:cNvSpPr>
            <a:spLocks noChangeShapeType="1"/>
          </p:cNvSpPr>
          <p:nvPr/>
        </p:nvSpPr>
        <p:spPr bwMode="auto">
          <a:xfrm>
            <a:off x="6096000" y="3911600"/>
            <a:ext cx="4873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7417" name="Rectangle 73"/>
          <p:cNvSpPr>
            <a:spLocks noChangeArrowheads="1"/>
          </p:cNvSpPr>
          <p:nvPr/>
        </p:nvSpPr>
        <p:spPr bwMode="auto">
          <a:xfrm>
            <a:off x="6461125" y="4060825"/>
            <a:ext cx="635000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1600"/>
              <a:t>begin</a:t>
            </a:r>
          </a:p>
        </p:txBody>
      </p:sp>
      <p:sp>
        <p:nvSpPr>
          <p:cNvPr id="57418" name="Rectangle 74"/>
          <p:cNvSpPr>
            <a:spLocks noChangeArrowheads="1"/>
          </p:cNvSpPr>
          <p:nvPr/>
        </p:nvSpPr>
        <p:spPr bwMode="auto">
          <a:xfrm>
            <a:off x="8067675" y="3757613"/>
            <a:ext cx="385763" cy="3365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7419" name="Line 75"/>
          <p:cNvSpPr>
            <a:spLocks noChangeShapeType="1"/>
          </p:cNvSpPr>
          <p:nvPr/>
        </p:nvSpPr>
        <p:spPr bwMode="auto">
          <a:xfrm>
            <a:off x="6950075" y="3925888"/>
            <a:ext cx="368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7420" name="Line 76"/>
          <p:cNvSpPr>
            <a:spLocks noChangeShapeType="1"/>
          </p:cNvSpPr>
          <p:nvPr/>
        </p:nvSpPr>
        <p:spPr bwMode="auto">
          <a:xfrm>
            <a:off x="7685088" y="3925888"/>
            <a:ext cx="3698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7421" name="Line 77"/>
          <p:cNvSpPr>
            <a:spLocks noChangeShapeType="1"/>
          </p:cNvSpPr>
          <p:nvPr/>
        </p:nvSpPr>
        <p:spPr bwMode="auto">
          <a:xfrm>
            <a:off x="8458200" y="39116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7422" name="Oval 78"/>
          <p:cNvSpPr>
            <a:spLocks noChangeArrowheads="1"/>
          </p:cNvSpPr>
          <p:nvPr/>
        </p:nvSpPr>
        <p:spPr bwMode="auto">
          <a:xfrm>
            <a:off x="7331075" y="3757613"/>
            <a:ext cx="341313" cy="33655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7423" name="Rectangle 79"/>
          <p:cNvSpPr>
            <a:spLocks noChangeArrowheads="1"/>
          </p:cNvSpPr>
          <p:nvPr/>
        </p:nvSpPr>
        <p:spPr bwMode="auto">
          <a:xfrm>
            <a:off x="8008938" y="4060825"/>
            <a:ext cx="477837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1600"/>
              <a:t>end</a:t>
            </a:r>
          </a:p>
        </p:txBody>
      </p:sp>
      <p:sp>
        <p:nvSpPr>
          <p:cNvPr id="57424" name="Rectangle 80"/>
          <p:cNvSpPr>
            <a:spLocks noChangeArrowheads="1"/>
          </p:cNvSpPr>
          <p:nvPr/>
        </p:nvSpPr>
        <p:spPr bwMode="auto">
          <a:xfrm>
            <a:off x="7196138" y="4060825"/>
            <a:ext cx="838200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n-GB" sz="1600"/>
              <a:t>pending</a:t>
            </a:r>
          </a:p>
        </p:txBody>
      </p:sp>
      <p:sp>
        <p:nvSpPr>
          <p:cNvPr id="57425" name="Rectangle 81"/>
          <p:cNvSpPr>
            <a:spLocks noChangeArrowheads="1"/>
          </p:cNvSpPr>
          <p:nvPr/>
        </p:nvSpPr>
        <p:spPr bwMode="auto">
          <a:xfrm>
            <a:off x="6102350" y="3511550"/>
            <a:ext cx="2806700" cy="977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7426" name="Line 82"/>
          <p:cNvSpPr>
            <a:spLocks noChangeShapeType="1"/>
          </p:cNvSpPr>
          <p:nvPr/>
        </p:nvSpPr>
        <p:spPr bwMode="auto">
          <a:xfrm>
            <a:off x="3200400" y="1447800"/>
            <a:ext cx="2895600" cy="2057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7427" name="Line 83"/>
          <p:cNvSpPr>
            <a:spLocks noChangeShapeType="1"/>
          </p:cNvSpPr>
          <p:nvPr/>
        </p:nvSpPr>
        <p:spPr bwMode="auto">
          <a:xfrm>
            <a:off x="3733800" y="1447800"/>
            <a:ext cx="5181600" cy="2057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7428" name="Line 84"/>
          <p:cNvSpPr>
            <a:spLocks noChangeShapeType="1"/>
          </p:cNvSpPr>
          <p:nvPr/>
        </p:nvSpPr>
        <p:spPr bwMode="auto">
          <a:xfrm>
            <a:off x="3200400" y="1981200"/>
            <a:ext cx="2895600" cy="2514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87" name="Slide Number Placeholder 8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42</a:t>
            </a:fld>
            <a:endParaRPr lang="en-GB"/>
          </a:p>
        </p:txBody>
      </p:sp>
      <p:sp>
        <p:nvSpPr>
          <p:cNvPr id="88" name="Footer Placeholder 8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Another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Recall the following example of an informal specification from a critical system </a:t>
            </a:r>
            <a:r>
              <a:rPr lang="en-GB" sz="1800" dirty="0"/>
              <a:t>[1]</a:t>
            </a:r>
            <a:r>
              <a:rPr lang="en-GB" dirty="0"/>
              <a:t> :</a:t>
            </a:r>
          </a:p>
          <a:p>
            <a:pPr lvl="1"/>
            <a:r>
              <a:rPr lang="en-GB" dirty="0"/>
              <a:t>The message must be </a:t>
            </a:r>
            <a:r>
              <a:rPr lang="en-GB" dirty="0" err="1"/>
              <a:t>triplicated</a:t>
            </a:r>
            <a:r>
              <a:rPr lang="en-GB" dirty="0"/>
              <a:t>. The three copies must be forwarded through three different physical channels. The receiver accepts the message on the basis of a two-out-of-three voting policy.</a:t>
            </a:r>
          </a:p>
          <a:p>
            <a:r>
              <a:rPr lang="en-GB" dirty="0">
                <a:solidFill>
                  <a:schemeClr val="accent3"/>
                </a:solidFill>
              </a:rPr>
              <a:t>Questions: </a:t>
            </a:r>
            <a:r>
              <a:rPr lang="en-GB" dirty="0"/>
              <a:t>Can you identify any ambiguities in this specification?</a:t>
            </a:r>
          </a:p>
          <a:p>
            <a:r>
              <a:rPr lang="en-GB" dirty="0"/>
              <a:t>How could we model this system with a Petri net?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43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654629" y="6322469"/>
            <a:ext cx="608511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/>
              <a:t>[1] - C. </a:t>
            </a:r>
            <a:r>
              <a:rPr lang="en-GB" sz="1600" dirty="0" err="1"/>
              <a:t>Ghezzi</a:t>
            </a:r>
            <a:r>
              <a:rPr lang="en-GB" sz="1600" dirty="0"/>
              <a:t>, M. </a:t>
            </a:r>
            <a:r>
              <a:rPr lang="en-GB" sz="1600" dirty="0" err="1"/>
              <a:t>Jazayeri</a:t>
            </a:r>
            <a:r>
              <a:rPr lang="en-GB" sz="1600" dirty="0"/>
              <a:t>, D. </a:t>
            </a:r>
            <a:r>
              <a:rPr lang="en-GB" sz="1600" dirty="0" err="1"/>
              <a:t>Mandrioli</a:t>
            </a:r>
            <a:r>
              <a:rPr lang="en-GB" sz="1600" dirty="0"/>
              <a:t>, “Fundamentals of Software Engineering”,  Prentice Hall, Second Edition, page 196 - 198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657" y="638772"/>
            <a:ext cx="8997043" cy="796086"/>
          </a:xfrm>
        </p:spPr>
        <p:txBody>
          <a:bodyPr/>
          <a:lstStyle/>
          <a:p>
            <a:r>
              <a:rPr lang="en-GB" dirty="0"/>
              <a:t>Message Triplication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44</a:t>
            </a:fld>
            <a:endParaRPr lang="en-GB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377877" y="1981204"/>
            <a:ext cx="390071" cy="42545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cxnSp>
        <p:nvCxnSpPr>
          <p:cNvPr id="8" name="Straight Arrow Connector 7"/>
          <p:cNvCxnSpPr>
            <a:endCxn id="6" idx="0"/>
          </p:cNvCxnSpPr>
          <p:nvPr/>
        </p:nvCxnSpPr>
        <p:spPr>
          <a:xfrm rot="16200000" flipH="1">
            <a:off x="4398288" y="1806578"/>
            <a:ext cx="348343" cy="908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3450777" y="2743205"/>
            <a:ext cx="2198914" cy="65314"/>
          </a:xfrm>
          <a:prstGeom prst="rect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cxnSp>
        <p:nvCxnSpPr>
          <p:cNvPr id="12" name="Straight Arrow Connector 11"/>
          <p:cNvCxnSpPr/>
          <p:nvPr/>
        </p:nvCxnSpPr>
        <p:spPr>
          <a:xfrm rot="5400000">
            <a:off x="4404185" y="2574476"/>
            <a:ext cx="336551" cy="907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4"/>
          <p:cNvSpPr>
            <a:spLocks noChangeArrowheads="1"/>
          </p:cNvSpPr>
          <p:nvPr/>
        </p:nvSpPr>
        <p:spPr bwMode="auto">
          <a:xfrm>
            <a:off x="4388763" y="3113318"/>
            <a:ext cx="390071" cy="42545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" name="Oval 4"/>
          <p:cNvSpPr>
            <a:spLocks noChangeArrowheads="1"/>
          </p:cNvSpPr>
          <p:nvPr/>
        </p:nvSpPr>
        <p:spPr bwMode="auto">
          <a:xfrm>
            <a:off x="5248734" y="3135090"/>
            <a:ext cx="390071" cy="42545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7" name="Oval 4"/>
          <p:cNvSpPr>
            <a:spLocks noChangeArrowheads="1"/>
          </p:cNvSpPr>
          <p:nvPr/>
        </p:nvSpPr>
        <p:spPr bwMode="auto">
          <a:xfrm>
            <a:off x="3517905" y="3124204"/>
            <a:ext cx="390071" cy="42545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cxnSp>
        <p:nvCxnSpPr>
          <p:cNvPr id="19" name="Straight Arrow Connector 18"/>
          <p:cNvCxnSpPr/>
          <p:nvPr/>
        </p:nvCxnSpPr>
        <p:spPr>
          <a:xfrm rot="5400000">
            <a:off x="3544213" y="2977248"/>
            <a:ext cx="336551" cy="907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rot="5400000">
            <a:off x="4415071" y="2966362"/>
            <a:ext cx="336551" cy="907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rot="5400000">
            <a:off x="5275042" y="2966361"/>
            <a:ext cx="336551" cy="907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5400000">
            <a:off x="3544213" y="3695705"/>
            <a:ext cx="336551" cy="907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5400000">
            <a:off x="4425956" y="3695704"/>
            <a:ext cx="336551" cy="907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6" idx="4"/>
          </p:cNvCxnSpPr>
          <p:nvPr/>
        </p:nvCxnSpPr>
        <p:spPr>
          <a:xfrm rot="16200000" flipH="1">
            <a:off x="5302253" y="3702056"/>
            <a:ext cx="303893" cy="20859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rot="5400000">
            <a:off x="3544209" y="4076711"/>
            <a:ext cx="336551" cy="907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rot="5400000">
            <a:off x="4425952" y="4076710"/>
            <a:ext cx="336551" cy="907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rot="5400000">
            <a:off x="5285923" y="4098482"/>
            <a:ext cx="336551" cy="907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4"/>
          <p:cNvSpPr>
            <a:spLocks noChangeArrowheads="1"/>
          </p:cNvSpPr>
          <p:nvPr/>
        </p:nvSpPr>
        <p:spPr bwMode="auto">
          <a:xfrm>
            <a:off x="4388763" y="4212775"/>
            <a:ext cx="390071" cy="42545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0" name="Oval 4"/>
          <p:cNvSpPr>
            <a:spLocks noChangeArrowheads="1"/>
          </p:cNvSpPr>
          <p:nvPr/>
        </p:nvSpPr>
        <p:spPr bwMode="auto">
          <a:xfrm>
            <a:off x="5248734" y="4234547"/>
            <a:ext cx="390071" cy="42545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1" name="Oval 4"/>
          <p:cNvSpPr>
            <a:spLocks noChangeArrowheads="1"/>
          </p:cNvSpPr>
          <p:nvPr/>
        </p:nvSpPr>
        <p:spPr bwMode="auto">
          <a:xfrm>
            <a:off x="3517905" y="4223661"/>
            <a:ext cx="390071" cy="42545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2" name="Rectangle 4"/>
          <p:cNvSpPr>
            <a:spLocks noChangeArrowheads="1"/>
          </p:cNvSpPr>
          <p:nvPr/>
        </p:nvSpPr>
        <p:spPr bwMode="auto">
          <a:xfrm>
            <a:off x="2547262" y="5072747"/>
            <a:ext cx="1099457" cy="76200"/>
          </a:xfrm>
          <a:prstGeom prst="rect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3" name="Rectangle 4"/>
          <p:cNvSpPr>
            <a:spLocks noChangeArrowheads="1"/>
          </p:cNvSpPr>
          <p:nvPr/>
        </p:nvSpPr>
        <p:spPr bwMode="auto">
          <a:xfrm>
            <a:off x="4027718" y="5072747"/>
            <a:ext cx="1099457" cy="76200"/>
          </a:xfrm>
          <a:prstGeom prst="rect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4" name="Rectangle 4"/>
          <p:cNvSpPr>
            <a:spLocks noChangeArrowheads="1"/>
          </p:cNvSpPr>
          <p:nvPr/>
        </p:nvSpPr>
        <p:spPr bwMode="auto">
          <a:xfrm>
            <a:off x="5519064" y="5072747"/>
            <a:ext cx="1099457" cy="76200"/>
          </a:xfrm>
          <a:prstGeom prst="rect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5" name="Oval 4"/>
          <p:cNvSpPr>
            <a:spLocks noChangeArrowheads="1"/>
          </p:cNvSpPr>
          <p:nvPr/>
        </p:nvSpPr>
        <p:spPr bwMode="auto">
          <a:xfrm>
            <a:off x="4377877" y="5725889"/>
            <a:ext cx="390071" cy="42545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cxnSp>
        <p:nvCxnSpPr>
          <p:cNvPr id="37" name="Straight Arrow Connector 36"/>
          <p:cNvCxnSpPr>
            <a:stCxn id="31" idx="4"/>
            <a:endCxn id="32" idx="0"/>
          </p:cNvCxnSpPr>
          <p:nvPr/>
        </p:nvCxnSpPr>
        <p:spPr>
          <a:xfrm rot="5400000">
            <a:off x="3193148" y="4552954"/>
            <a:ext cx="423636" cy="615950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1" idx="4"/>
          </p:cNvCxnSpPr>
          <p:nvPr/>
        </p:nvCxnSpPr>
        <p:spPr>
          <a:xfrm rot="16200000" flipH="1">
            <a:off x="3854455" y="4507597"/>
            <a:ext cx="390982" cy="674010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9" idx="4"/>
          </p:cNvCxnSpPr>
          <p:nvPr/>
        </p:nvCxnSpPr>
        <p:spPr>
          <a:xfrm rot="5400000">
            <a:off x="3800026" y="4256320"/>
            <a:ext cx="401868" cy="1165679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30" idx="4"/>
          </p:cNvCxnSpPr>
          <p:nvPr/>
        </p:nvCxnSpPr>
        <p:spPr>
          <a:xfrm rot="5400000">
            <a:off x="4932140" y="4539349"/>
            <a:ext cx="390982" cy="632279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29" idx="4"/>
          </p:cNvCxnSpPr>
          <p:nvPr/>
        </p:nvCxnSpPr>
        <p:spPr>
          <a:xfrm rot="16200000" flipH="1">
            <a:off x="5024669" y="4197354"/>
            <a:ext cx="401868" cy="1283609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30" idx="4"/>
          </p:cNvCxnSpPr>
          <p:nvPr/>
        </p:nvCxnSpPr>
        <p:spPr>
          <a:xfrm rot="16200000" flipH="1">
            <a:off x="5688696" y="4415070"/>
            <a:ext cx="390982" cy="880835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endCxn id="35" idx="1"/>
          </p:cNvCxnSpPr>
          <p:nvPr/>
        </p:nvCxnSpPr>
        <p:spPr>
          <a:xfrm>
            <a:off x="3157770" y="5149853"/>
            <a:ext cx="1277232" cy="638342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33" idx="2"/>
            <a:endCxn id="35" idx="0"/>
          </p:cNvCxnSpPr>
          <p:nvPr/>
        </p:nvCxnSpPr>
        <p:spPr>
          <a:xfrm rot="5400000">
            <a:off x="4286709" y="5435151"/>
            <a:ext cx="576942" cy="4534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endCxn id="35" idx="7"/>
          </p:cNvCxnSpPr>
          <p:nvPr/>
        </p:nvCxnSpPr>
        <p:spPr>
          <a:xfrm rot="10800000" flipV="1">
            <a:off x="4710823" y="5138967"/>
            <a:ext cx="1440518" cy="649227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037113" y="4234543"/>
            <a:ext cx="555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P1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46170" y="4223657"/>
            <a:ext cx="555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P2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17027" y="4234542"/>
            <a:ext cx="555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P3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1194" y="1709057"/>
            <a:ext cx="1997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Original Message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5998" y="5116286"/>
            <a:ext cx="104503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/>
              <a:t>Tvoting1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39341" y="5105401"/>
            <a:ext cx="104503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/>
              <a:t>Tvoting2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61313" y="5105401"/>
            <a:ext cx="104503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/>
              <a:t>Tvoting3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91440" y="3037114"/>
            <a:ext cx="1856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Message Copies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59684" y="2514600"/>
            <a:ext cx="1199367" cy="5909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 err="1"/>
              <a:t>Tmin</a:t>
            </a:r>
            <a:r>
              <a:rPr lang="en-GB" sz="1800" dirty="0"/>
              <a:t> = c1</a:t>
            </a:r>
          </a:p>
          <a:p>
            <a:r>
              <a:rPr lang="en-GB" sz="1800" dirty="0" err="1"/>
              <a:t>Tmax</a:t>
            </a:r>
            <a:r>
              <a:rPr lang="en-GB" sz="1800" dirty="0"/>
              <a:t> = k1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39940" y="3592286"/>
            <a:ext cx="1199367" cy="5909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 err="1"/>
              <a:t>Tmin</a:t>
            </a:r>
            <a:r>
              <a:rPr lang="en-GB" sz="1800" dirty="0"/>
              <a:t> = c2</a:t>
            </a:r>
          </a:p>
          <a:p>
            <a:r>
              <a:rPr lang="en-GB" sz="1800" dirty="0" err="1"/>
              <a:t>Tmax</a:t>
            </a:r>
            <a:r>
              <a:rPr lang="en-GB" sz="1800" dirty="0"/>
              <a:t> = k2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32810" y="5566701"/>
            <a:ext cx="2515247" cy="1089529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1">
                <a:shade val="50000"/>
                <a:satMod val="103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Tvoting1: P1 = P2</a:t>
            </a:r>
          </a:p>
          <a:p>
            <a:r>
              <a:rPr lang="en-GB" dirty="0"/>
              <a:t>Tvoting2: P1 = P3</a:t>
            </a:r>
          </a:p>
          <a:p>
            <a:r>
              <a:rPr lang="en-GB" dirty="0"/>
              <a:t>Tvoting3: P2 = P3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88826" y="4659086"/>
            <a:ext cx="1199367" cy="5909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 err="1"/>
              <a:t>Tmin</a:t>
            </a:r>
            <a:r>
              <a:rPr lang="en-GB" sz="1800" dirty="0"/>
              <a:t> = c3</a:t>
            </a:r>
          </a:p>
          <a:p>
            <a:r>
              <a:rPr lang="en-GB" sz="1800" dirty="0" err="1"/>
              <a:t>Tmax</a:t>
            </a:r>
            <a:r>
              <a:rPr lang="en-GB" sz="1800" dirty="0"/>
              <a:t> = k3</a:t>
            </a:r>
          </a:p>
        </p:txBody>
      </p:sp>
      <p:sp>
        <p:nvSpPr>
          <p:cNvPr id="59" name="Rectangle 4"/>
          <p:cNvSpPr>
            <a:spLocks noChangeArrowheads="1"/>
          </p:cNvSpPr>
          <p:nvPr/>
        </p:nvSpPr>
        <p:spPr bwMode="auto">
          <a:xfrm>
            <a:off x="4288975" y="3853547"/>
            <a:ext cx="653139" cy="76196"/>
          </a:xfrm>
          <a:prstGeom prst="rect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60" name="Rectangle 4"/>
          <p:cNvSpPr>
            <a:spLocks noChangeArrowheads="1"/>
          </p:cNvSpPr>
          <p:nvPr/>
        </p:nvSpPr>
        <p:spPr bwMode="auto">
          <a:xfrm>
            <a:off x="5170718" y="3864433"/>
            <a:ext cx="653139" cy="76196"/>
          </a:xfrm>
          <a:prstGeom prst="rect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62" name="Rectangle 4"/>
          <p:cNvSpPr>
            <a:spLocks noChangeArrowheads="1"/>
          </p:cNvSpPr>
          <p:nvPr/>
        </p:nvSpPr>
        <p:spPr bwMode="auto">
          <a:xfrm>
            <a:off x="3352803" y="3831776"/>
            <a:ext cx="653139" cy="76196"/>
          </a:xfrm>
          <a:prstGeom prst="rect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657" y="638772"/>
            <a:ext cx="8997043" cy="796086"/>
          </a:xfrm>
        </p:spPr>
        <p:txBody>
          <a:bodyPr/>
          <a:lstStyle/>
          <a:p>
            <a:r>
              <a:rPr lang="en-GB" dirty="0"/>
              <a:t>Message Triplication (2)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45</a:t>
            </a:fld>
            <a:endParaRPr lang="en-GB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377877" y="1981204"/>
            <a:ext cx="390071" cy="42545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cxnSp>
        <p:nvCxnSpPr>
          <p:cNvPr id="8" name="Straight Arrow Connector 7"/>
          <p:cNvCxnSpPr>
            <a:endCxn id="6" idx="0"/>
          </p:cNvCxnSpPr>
          <p:nvPr/>
        </p:nvCxnSpPr>
        <p:spPr>
          <a:xfrm rot="16200000" flipH="1">
            <a:off x="4398288" y="1806578"/>
            <a:ext cx="348343" cy="908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3450777" y="2743205"/>
            <a:ext cx="2198914" cy="65314"/>
          </a:xfrm>
          <a:prstGeom prst="rect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cxnSp>
        <p:nvCxnSpPr>
          <p:cNvPr id="12" name="Straight Arrow Connector 11"/>
          <p:cNvCxnSpPr/>
          <p:nvPr/>
        </p:nvCxnSpPr>
        <p:spPr>
          <a:xfrm rot="5400000">
            <a:off x="4404185" y="2574476"/>
            <a:ext cx="336551" cy="907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4"/>
          <p:cNvSpPr>
            <a:spLocks noChangeArrowheads="1"/>
          </p:cNvSpPr>
          <p:nvPr/>
        </p:nvSpPr>
        <p:spPr bwMode="auto">
          <a:xfrm>
            <a:off x="4388763" y="3113318"/>
            <a:ext cx="390071" cy="42545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6" name="Oval 4"/>
          <p:cNvSpPr>
            <a:spLocks noChangeArrowheads="1"/>
          </p:cNvSpPr>
          <p:nvPr/>
        </p:nvSpPr>
        <p:spPr bwMode="auto">
          <a:xfrm>
            <a:off x="5248734" y="3135090"/>
            <a:ext cx="390071" cy="42545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7" name="Oval 4"/>
          <p:cNvSpPr>
            <a:spLocks noChangeArrowheads="1"/>
          </p:cNvSpPr>
          <p:nvPr/>
        </p:nvSpPr>
        <p:spPr bwMode="auto">
          <a:xfrm>
            <a:off x="3517905" y="3124204"/>
            <a:ext cx="390071" cy="42545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cxnSp>
        <p:nvCxnSpPr>
          <p:cNvPr id="19" name="Straight Arrow Connector 18"/>
          <p:cNvCxnSpPr/>
          <p:nvPr/>
        </p:nvCxnSpPr>
        <p:spPr>
          <a:xfrm rot="5400000">
            <a:off x="3544213" y="2977248"/>
            <a:ext cx="336551" cy="907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rot="5400000">
            <a:off x="4415071" y="2966362"/>
            <a:ext cx="336551" cy="907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rot="5400000">
            <a:off x="5275042" y="2966361"/>
            <a:ext cx="336551" cy="907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5400000">
            <a:off x="3544213" y="3695705"/>
            <a:ext cx="336551" cy="907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5400000">
            <a:off x="4425956" y="3695704"/>
            <a:ext cx="336551" cy="907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6" idx="4"/>
          </p:cNvCxnSpPr>
          <p:nvPr/>
        </p:nvCxnSpPr>
        <p:spPr>
          <a:xfrm rot="16200000" flipH="1">
            <a:off x="5302253" y="3702056"/>
            <a:ext cx="303893" cy="20859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rot="5400000">
            <a:off x="3544209" y="4076711"/>
            <a:ext cx="336551" cy="907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rot="5400000">
            <a:off x="4425952" y="4076710"/>
            <a:ext cx="336551" cy="907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rot="5400000">
            <a:off x="5285923" y="4098482"/>
            <a:ext cx="336551" cy="907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4"/>
          <p:cNvSpPr>
            <a:spLocks noChangeArrowheads="1"/>
          </p:cNvSpPr>
          <p:nvPr/>
        </p:nvSpPr>
        <p:spPr bwMode="auto">
          <a:xfrm>
            <a:off x="4388763" y="4212775"/>
            <a:ext cx="390071" cy="42545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0" name="Oval 4"/>
          <p:cNvSpPr>
            <a:spLocks noChangeArrowheads="1"/>
          </p:cNvSpPr>
          <p:nvPr/>
        </p:nvSpPr>
        <p:spPr bwMode="auto">
          <a:xfrm>
            <a:off x="5248734" y="4234547"/>
            <a:ext cx="390071" cy="42545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1" name="Oval 4"/>
          <p:cNvSpPr>
            <a:spLocks noChangeArrowheads="1"/>
          </p:cNvSpPr>
          <p:nvPr/>
        </p:nvSpPr>
        <p:spPr bwMode="auto">
          <a:xfrm>
            <a:off x="3517905" y="4223661"/>
            <a:ext cx="390071" cy="42545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5" name="Oval 4"/>
          <p:cNvSpPr>
            <a:spLocks noChangeArrowheads="1"/>
          </p:cNvSpPr>
          <p:nvPr/>
        </p:nvSpPr>
        <p:spPr bwMode="auto">
          <a:xfrm>
            <a:off x="4377877" y="5725889"/>
            <a:ext cx="390071" cy="42545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cxnSp>
        <p:nvCxnSpPr>
          <p:cNvPr id="58" name="Straight Arrow Connector 57"/>
          <p:cNvCxnSpPr>
            <a:endCxn id="35" idx="0"/>
          </p:cNvCxnSpPr>
          <p:nvPr/>
        </p:nvCxnSpPr>
        <p:spPr>
          <a:xfrm rot="16200000" flipH="1">
            <a:off x="4262212" y="5415187"/>
            <a:ext cx="609603" cy="11799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037113" y="4234543"/>
            <a:ext cx="555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P1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46170" y="4223657"/>
            <a:ext cx="555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P2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17027" y="4234542"/>
            <a:ext cx="555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P3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1194" y="1709057"/>
            <a:ext cx="1997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Original Message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08512" y="5192486"/>
            <a:ext cx="104503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 err="1"/>
              <a:t>Tvoting</a:t>
            </a:r>
            <a:endParaRPr lang="en-GB" sz="1800" dirty="0"/>
          </a:p>
        </p:txBody>
      </p:sp>
      <p:sp>
        <p:nvSpPr>
          <p:cNvPr id="49" name="TextBox 48"/>
          <p:cNvSpPr txBox="1"/>
          <p:nvPr/>
        </p:nvSpPr>
        <p:spPr>
          <a:xfrm>
            <a:off x="5891440" y="3037114"/>
            <a:ext cx="1856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Message Copies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59684" y="2514600"/>
            <a:ext cx="1199367" cy="5909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 err="1"/>
              <a:t>Tmin</a:t>
            </a:r>
            <a:r>
              <a:rPr lang="en-GB" sz="1800" dirty="0"/>
              <a:t> = c1</a:t>
            </a:r>
          </a:p>
          <a:p>
            <a:r>
              <a:rPr lang="en-GB" sz="1800" dirty="0" err="1"/>
              <a:t>Tmax</a:t>
            </a:r>
            <a:r>
              <a:rPr lang="en-GB" sz="1800" dirty="0"/>
              <a:t> = k1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39940" y="3592286"/>
            <a:ext cx="1199367" cy="5909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 err="1"/>
              <a:t>Tmin</a:t>
            </a:r>
            <a:r>
              <a:rPr lang="en-GB" sz="1800" dirty="0"/>
              <a:t> = c2</a:t>
            </a:r>
          </a:p>
          <a:p>
            <a:r>
              <a:rPr lang="en-GB" sz="1800" dirty="0" err="1"/>
              <a:t>Tmax</a:t>
            </a:r>
            <a:r>
              <a:rPr lang="en-GB" sz="1800" dirty="0"/>
              <a:t> = k2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27172" y="5475513"/>
            <a:ext cx="4332514" cy="75713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1">
                <a:shade val="50000"/>
                <a:satMod val="103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 err="1"/>
              <a:t>Tvoting</a:t>
            </a:r>
            <a:r>
              <a:rPr lang="en-GB" dirty="0"/>
              <a:t>: (P1 = P2) or (P2 = P3) or (P1 = P3) else “ERROR”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13368" y="4724400"/>
            <a:ext cx="1199367" cy="5909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 err="1"/>
              <a:t>Tmin</a:t>
            </a:r>
            <a:r>
              <a:rPr lang="en-GB" sz="1800" dirty="0"/>
              <a:t> = c3</a:t>
            </a:r>
          </a:p>
          <a:p>
            <a:r>
              <a:rPr lang="en-GB" sz="1800" dirty="0" err="1"/>
              <a:t>Tmax</a:t>
            </a:r>
            <a:r>
              <a:rPr lang="en-GB" sz="1800" dirty="0"/>
              <a:t> = k3</a:t>
            </a:r>
          </a:p>
        </p:txBody>
      </p:sp>
      <p:sp>
        <p:nvSpPr>
          <p:cNvPr id="59" name="Rectangle 4"/>
          <p:cNvSpPr>
            <a:spLocks noChangeArrowheads="1"/>
          </p:cNvSpPr>
          <p:nvPr/>
        </p:nvSpPr>
        <p:spPr bwMode="auto">
          <a:xfrm>
            <a:off x="4288975" y="3853547"/>
            <a:ext cx="653139" cy="76196"/>
          </a:xfrm>
          <a:prstGeom prst="rect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60" name="Rectangle 4"/>
          <p:cNvSpPr>
            <a:spLocks noChangeArrowheads="1"/>
          </p:cNvSpPr>
          <p:nvPr/>
        </p:nvSpPr>
        <p:spPr bwMode="auto">
          <a:xfrm>
            <a:off x="5170718" y="3864433"/>
            <a:ext cx="653139" cy="76196"/>
          </a:xfrm>
          <a:prstGeom prst="rect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62" name="Rectangle 4"/>
          <p:cNvSpPr>
            <a:spLocks noChangeArrowheads="1"/>
          </p:cNvSpPr>
          <p:nvPr/>
        </p:nvSpPr>
        <p:spPr bwMode="auto">
          <a:xfrm>
            <a:off x="3352803" y="3831776"/>
            <a:ext cx="653139" cy="76196"/>
          </a:xfrm>
          <a:prstGeom prst="rect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7" name="Rectangle 4"/>
          <p:cNvSpPr>
            <a:spLocks noChangeArrowheads="1"/>
          </p:cNvSpPr>
          <p:nvPr/>
        </p:nvSpPr>
        <p:spPr bwMode="auto">
          <a:xfrm>
            <a:off x="3374571" y="5081457"/>
            <a:ext cx="2416629" cy="67486"/>
          </a:xfrm>
          <a:prstGeom prst="rect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cxnSp>
        <p:nvCxnSpPr>
          <p:cNvPr id="66" name="Straight Arrow Connector 65"/>
          <p:cNvCxnSpPr/>
          <p:nvPr/>
        </p:nvCxnSpPr>
        <p:spPr>
          <a:xfrm rot="5400000">
            <a:off x="3489785" y="4860476"/>
            <a:ext cx="445401" cy="911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 rot="5400000">
            <a:off x="4360642" y="4860476"/>
            <a:ext cx="445401" cy="911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rot="16200000" flipH="1">
            <a:off x="5258715" y="4877715"/>
            <a:ext cx="423626" cy="9972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Final Note on Petri Nets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719943"/>
            <a:ext cx="8915400" cy="4604657"/>
          </a:xfrm>
        </p:spPr>
        <p:txBody>
          <a:bodyPr/>
          <a:lstStyle/>
          <a:p>
            <a:r>
              <a:rPr lang="en-GB" dirty="0"/>
              <a:t>We can see from the previous example that the ambiguity (or impreciseness) in the informal specification for the message triplication protocol is clearly highlighted by the more formal Petri net model.</a:t>
            </a:r>
          </a:p>
          <a:p>
            <a:r>
              <a:rPr lang="en-GB" dirty="0"/>
              <a:t>We can also perform some analysis on the model itself, for example to see if certain “bad” states ever occur or if deadlock/</a:t>
            </a:r>
            <a:r>
              <a:rPr lang="en-GB" dirty="0" err="1"/>
              <a:t>livelock</a:t>
            </a:r>
            <a:r>
              <a:rPr lang="en-GB" dirty="0"/>
              <a:t> is possible in the model.</a:t>
            </a:r>
          </a:p>
          <a:p>
            <a:r>
              <a:rPr lang="en-GB" dirty="0"/>
              <a:t>Finally we can represent timing constraints (to encode even more constraints on the system) and use hierarchical models to show different levels of </a:t>
            </a:r>
            <a:r>
              <a:rPr lang="en-GB" dirty="0" err="1"/>
              <a:t>abstration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46</a:t>
            </a:fld>
            <a:endParaRPr lang="en-GB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Final Note on Petri Nets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611086"/>
            <a:ext cx="8915400" cy="5083627"/>
          </a:xfrm>
        </p:spPr>
        <p:txBody>
          <a:bodyPr>
            <a:normAutofit/>
          </a:bodyPr>
          <a:lstStyle/>
          <a:p>
            <a:r>
              <a:rPr lang="en-GB" dirty="0"/>
              <a:t>Imagine modelling the elevator system of a skyscraper which contains three elevators and twenty floors. </a:t>
            </a:r>
          </a:p>
          <a:p>
            <a:r>
              <a:rPr lang="en-GB" dirty="0"/>
              <a:t>What would be some of the advantages of using a Petri net model for this?</a:t>
            </a:r>
          </a:p>
          <a:p>
            <a:pPr lvl="1"/>
            <a:r>
              <a:rPr lang="en-GB" dirty="0"/>
              <a:t>We can ensure if someone at a floor pushes the lift button (up or down), the elevator will eventually come.</a:t>
            </a:r>
          </a:p>
          <a:p>
            <a:pPr lvl="1"/>
            <a:r>
              <a:rPr lang="en-GB" dirty="0"/>
              <a:t>We can attempt to model the timing constraints of the system (Timed Petri net).</a:t>
            </a:r>
          </a:p>
          <a:p>
            <a:pPr lvl="1"/>
            <a:r>
              <a:rPr lang="en-GB" dirty="0"/>
              <a:t>We can also use hierarchies to simplify the system.</a:t>
            </a:r>
          </a:p>
          <a:p>
            <a:pPr lvl="1"/>
            <a:r>
              <a:rPr lang="en-GB" dirty="0"/>
              <a:t>Finally we could try to optimize the model in some way if its performance is not optimal.</a:t>
            </a:r>
          </a:p>
          <a:p>
            <a:pPr lvl="1"/>
            <a:r>
              <a:rPr lang="en-GB" dirty="0"/>
              <a:t>Etc..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47</a:t>
            </a:fld>
            <a:endParaRPr lang="en-GB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Lecture 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676400"/>
            <a:ext cx="8915400" cy="4648200"/>
          </a:xfrm>
        </p:spPr>
        <p:txBody>
          <a:bodyPr>
            <a:normAutofit fontScale="92500" lnSpcReduction="10000"/>
          </a:bodyPr>
          <a:lstStyle/>
          <a:p>
            <a:r>
              <a:rPr lang="en-GB" sz="2800" dirty="0"/>
              <a:t>Petri nets have </a:t>
            </a:r>
            <a:r>
              <a:rPr lang="en-GB" sz="2800" dirty="0">
                <a:solidFill>
                  <a:schemeClr val="accent3"/>
                </a:solidFill>
              </a:rPr>
              <a:t>Arcs</a:t>
            </a:r>
            <a:r>
              <a:rPr lang="en-GB" sz="2800" dirty="0"/>
              <a:t>, </a:t>
            </a:r>
            <a:r>
              <a:rPr lang="en-GB" sz="2800" dirty="0">
                <a:solidFill>
                  <a:schemeClr val="accent3"/>
                </a:solidFill>
              </a:rPr>
              <a:t>Places</a:t>
            </a:r>
            <a:r>
              <a:rPr lang="en-GB" sz="2800" dirty="0"/>
              <a:t> and </a:t>
            </a:r>
            <a:r>
              <a:rPr lang="en-GB" sz="2800" dirty="0">
                <a:solidFill>
                  <a:schemeClr val="accent3"/>
                </a:solidFill>
              </a:rPr>
              <a:t>Transitions</a:t>
            </a:r>
            <a:r>
              <a:rPr lang="en-GB" sz="2800" dirty="0"/>
              <a:t>.</a:t>
            </a:r>
          </a:p>
          <a:p>
            <a:r>
              <a:rPr lang="en-GB" sz="2800" dirty="0"/>
              <a:t>Petri nets are </a:t>
            </a:r>
            <a:r>
              <a:rPr lang="en-GB" sz="2800" b="1" dirty="0"/>
              <a:t>non-deterministic</a:t>
            </a:r>
            <a:r>
              <a:rPr lang="en-GB" sz="2800" dirty="0"/>
              <a:t> and thus may be used to model discrete distributed systems.</a:t>
            </a:r>
          </a:p>
          <a:p>
            <a:r>
              <a:rPr lang="en-GB" sz="2800" dirty="0"/>
              <a:t>They have a well defined semantics and many variations and extensions of Petri nets exist.</a:t>
            </a:r>
          </a:p>
          <a:p>
            <a:r>
              <a:rPr lang="en-GB" sz="2800" dirty="0"/>
              <a:t>The </a:t>
            </a:r>
            <a:r>
              <a:rPr lang="en-GB" sz="2800" dirty="0">
                <a:solidFill>
                  <a:schemeClr val="accent1"/>
                </a:solidFill>
              </a:rPr>
              <a:t>state or marking</a:t>
            </a:r>
            <a:r>
              <a:rPr lang="en-GB" sz="2800" dirty="0"/>
              <a:t> of a net is an assignment of tokens to places.</a:t>
            </a:r>
          </a:p>
          <a:p>
            <a:r>
              <a:rPr lang="en-GB" sz="2800" dirty="0"/>
              <a:t>For those interested, the book “Fundamentals of Software Engineering” (Prentice Hall) by C. </a:t>
            </a:r>
            <a:r>
              <a:rPr lang="en-GB" sz="2800" dirty="0" err="1"/>
              <a:t>Ghezzi</a:t>
            </a:r>
            <a:r>
              <a:rPr lang="en-GB" sz="2800" dirty="0"/>
              <a:t>, M. </a:t>
            </a:r>
            <a:r>
              <a:rPr lang="en-GB" sz="2800" dirty="0" err="1"/>
              <a:t>Jazayeri</a:t>
            </a:r>
            <a:r>
              <a:rPr lang="en-GB" sz="2800" dirty="0"/>
              <a:t> and D. </a:t>
            </a:r>
            <a:r>
              <a:rPr lang="en-GB" sz="2800" dirty="0" err="1"/>
              <a:t>Mandrioli</a:t>
            </a:r>
            <a:r>
              <a:rPr lang="en-GB" sz="2800" dirty="0"/>
              <a:t> has an extensive example of using Petri nets for an elevator system.</a:t>
            </a:r>
          </a:p>
          <a:p>
            <a:endParaRPr lang="en-GB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0B5A-3BDD-4BFF-B22C-E8EB0A281B31}" type="slidenum">
              <a:rPr lang="en-GB" smtClean="0"/>
              <a:pPr/>
              <a:t>48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Custom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1F1F33"/>
      </a:accent1>
      <a:accent2>
        <a:srgbClr val="B54703"/>
      </a:accent2>
      <a:accent3>
        <a:srgbClr val="CE0202"/>
      </a:accent3>
      <a:accent4>
        <a:srgbClr val="C4652D"/>
      </a:accent4>
      <a:accent5>
        <a:srgbClr val="8B5D3D"/>
      </a:accent5>
      <a:accent6>
        <a:srgbClr val="3F6E8C"/>
      </a:accent6>
      <a:hlink>
        <a:srgbClr val="E0EFF1"/>
      </a:hlink>
      <a:folHlink>
        <a:srgbClr val="C2A87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908</TotalTime>
  <Pages>139</Pages>
  <Words>2774</Words>
  <Application>Microsoft Office PowerPoint</Application>
  <PresentationFormat>A4 Paper (210x297 mm)</PresentationFormat>
  <Paragraphs>593</Paragraphs>
  <Slides>48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Arial</vt:lpstr>
      <vt:lpstr>Calibri</vt:lpstr>
      <vt:lpstr>Courier New</vt:lpstr>
      <vt:lpstr>Symbol</vt:lpstr>
      <vt:lpstr>Times New Roman</vt:lpstr>
      <vt:lpstr>Wingdings 2</vt:lpstr>
      <vt:lpstr>Flow</vt:lpstr>
      <vt:lpstr>Software Engineering COMP 201</vt:lpstr>
      <vt:lpstr>High-Level Petri Nets</vt:lpstr>
      <vt:lpstr>Why do we need Petri Nets?</vt:lpstr>
      <vt:lpstr>The Classical Petri Net Model</vt:lpstr>
      <vt:lpstr>The Classical Petri Net Model</vt:lpstr>
      <vt:lpstr>PowerPoint Presentation</vt:lpstr>
      <vt:lpstr>Enabling Condition</vt:lpstr>
      <vt:lpstr>Firing</vt:lpstr>
      <vt:lpstr>An Example Petri Net</vt:lpstr>
      <vt:lpstr>Creating/Consuming Tokens</vt:lpstr>
      <vt:lpstr>Creating/Consuming Tokens</vt:lpstr>
      <vt:lpstr>Non-Determinism in Petri Nets</vt:lpstr>
      <vt:lpstr>Modelling</vt:lpstr>
      <vt:lpstr>Modelling a Traffic Light</vt:lpstr>
      <vt:lpstr>Modelling Two Traffic Lights</vt:lpstr>
      <vt:lpstr>Example: Traffic Light</vt:lpstr>
      <vt:lpstr>Two Traffic Lights</vt:lpstr>
      <vt:lpstr>Two Safe Traffic Lights</vt:lpstr>
      <vt:lpstr>Two Safe and Fair Traffic Lights</vt:lpstr>
      <vt:lpstr>Exercise</vt:lpstr>
      <vt:lpstr>Exercise</vt:lpstr>
      <vt:lpstr>Arcs in Petri Nets</vt:lpstr>
      <vt:lpstr>Some Definitions</vt:lpstr>
      <vt:lpstr>Some Definitions</vt:lpstr>
      <vt:lpstr>PowerPoint Presentation</vt:lpstr>
      <vt:lpstr>Exercise: Readers and Writers</vt:lpstr>
      <vt:lpstr>PowerPoint Presentation</vt:lpstr>
      <vt:lpstr>The Four Seasons</vt:lpstr>
      <vt:lpstr>The Four Seasons</vt:lpstr>
      <vt:lpstr>The Four Seasons</vt:lpstr>
      <vt:lpstr>High-Level Petri Nets</vt:lpstr>
      <vt:lpstr>Example - High-Level Petri Nets</vt:lpstr>
      <vt:lpstr>The Extension with Colour</vt:lpstr>
      <vt:lpstr>The Extension with Colour</vt:lpstr>
      <vt:lpstr>Examples</vt:lpstr>
      <vt:lpstr>The Extension with Time</vt:lpstr>
      <vt:lpstr>The Extension with Time</vt:lpstr>
      <vt:lpstr>The Extension with Time</vt:lpstr>
      <vt:lpstr>Exercise</vt:lpstr>
      <vt:lpstr>The Extension with Hierarchy</vt:lpstr>
      <vt:lpstr>The Extension with Hierarchy</vt:lpstr>
      <vt:lpstr>Exercise: Remove Hierarchy</vt:lpstr>
      <vt:lpstr>Another Example</vt:lpstr>
      <vt:lpstr>Message Triplication</vt:lpstr>
      <vt:lpstr>Message Triplication (2)</vt:lpstr>
      <vt:lpstr>A Final Note on Petri Nets</vt:lpstr>
      <vt:lpstr>A Final Note on Petri Nets</vt:lpstr>
      <vt:lpstr>Lecture Key Points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 modelling</dc:title>
  <dc:creator>Paul Bell</dc:creator>
  <cp:lastModifiedBy>JAGGERS Alex</cp:lastModifiedBy>
  <cp:revision>124</cp:revision>
  <cp:lastPrinted>1998-01-07T08:16:06Z</cp:lastPrinted>
  <dcterms:created xsi:type="dcterms:W3CDTF">1997-08-30T12:51:56Z</dcterms:created>
  <dcterms:modified xsi:type="dcterms:W3CDTF">2023-10-23T08:30:01Z</dcterms:modified>
</cp:coreProperties>
</file>