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326" r:id="rId2"/>
    <p:sldId id="335" r:id="rId3"/>
    <p:sldId id="320" r:id="rId4"/>
    <p:sldId id="327" r:id="rId5"/>
    <p:sldId id="321" r:id="rId6"/>
    <p:sldId id="322" r:id="rId7"/>
    <p:sldId id="323" r:id="rId8"/>
    <p:sldId id="333" r:id="rId9"/>
    <p:sldId id="324" r:id="rId10"/>
    <p:sldId id="325" r:id="rId11"/>
    <p:sldId id="334" r:id="rId12"/>
    <p:sldId id="312" r:id="rId13"/>
    <p:sldId id="313" r:id="rId14"/>
    <p:sldId id="314" r:id="rId15"/>
    <p:sldId id="315" r:id="rId16"/>
    <p:sldId id="316" r:id="rId17"/>
    <p:sldId id="337" r:id="rId18"/>
    <p:sldId id="317" r:id="rId19"/>
    <p:sldId id="336" r:id="rId20"/>
    <p:sldId id="329" r:id="rId21"/>
    <p:sldId id="266" r:id="rId22"/>
    <p:sldId id="268" r:id="rId23"/>
    <p:sldId id="295" r:id="rId24"/>
    <p:sldId id="330" r:id="rId25"/>
    <p:sldId id="269" r:id="rId26"/>
    <p:sldId id="270" r:id="rId27"/>
    <p:sldId id="309" r:id="rId28"/>
    <p:sldId id="332" r:id="rId29"/>
    <p:sldId id="328" r:id="rId30"/>
    <p:sldId id="331" r:id="rId31"/>
  </p:sldIdLst>
  <p:sldSz cx="9144000" cy="6858000" type="screen4x3"/>
  <p:notesSz cx="6629400" cy="97536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647B9A"/>
    <a:srgbClr val="333399"/>
    <a:srgbClr val="6C65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448" autoAdjust="0"/>
    <p:restoredTop sz="90929"/>
  </p:normalViewPr>
  <p:slideViewPr>
    <p:cSldViewPr>
      <p:cViewPr varScale="1">
        <p:scale>
          <a:sx n="90" d="100"/>
          <a:sy n="90" d="100"/>
        </p:scale>
        <p:origin x="653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98713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00100" y="46355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notes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28700" y="844550"/>
            <a:ext cx="4572000" cy="34290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12607829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754691" y="9264357"/>
            <a:ext cx="2873155" cy="487680"/>
          </a:xfrm>
          <a:prstGeom prst="rect">
            <a:avLst/>
          </a:prstGeom>
          <a:noFill/>
        </p:spPr>
        <p:txBody>
          <a:bodyPr lIns="89831" tIns="44915" rIns="89831" bIns="44915"/>
          <a:lstStyle/>
          <a:p>
            <a:fld id="{7670DF06-4775-4E82-8772-90B18856C86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7/21/2009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796086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r>
              <a:rPr lang="en-US"/>
              <a:t>7/21/2009</a:t>
            </a:r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r>
              <a:rPr kumimoji="0" lang="en-US">
                <a:solidFill>
                  <a:schemeClr val="tx2">
                    <a:shade val="90000"/>
                  </a:schemeClr>
                </a:solidFill>
              </a:rPr>
              <a:t>COMP201 - Software Engineering</a:t>
            </a:r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rtl="0" eaLnBrk="1" latinLnBrk="0" hangingPunct="1">
        <a:spcBef>
          <a:spcPct val="0"/>
        </a:spcBef>
        <a:buNone/>
        <a:defRPr kumimoji="0" sz="4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571480"/>
            <a:ext cx="7772400" cy="164307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Software Engineering</a:t>
            </a:r>
            <a:b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 201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10712" y="2373313"/>
            <a:ext cx="7924800" cy="3265487"/>
          </a:xfrm>
        </p:spPr>
        <p:txBody>
          <a:bodyPr>
            <a:normAutofit/>
          </a:bodyPr>
          <a:lstStyle/>
          <a:p>
            <a:r>
              <a:rPr lang="en-GB" sz="2000" dirty="0"/>
              <a:t>Lecturer: </a:t>
            </a:r>
            <a:r>
              <a:rPr lang="en-GB" sz="2000" b="1" dirty="0"/>
              <a:t>Sebastian </a:t>
            </a:r>
            <a:r>
              <a:rPr lang="en-GB" sz="2000" b="1" dirty="0" err="1"/>
              <a:t>Coope</a:t>
            </a:r>
            <a:endParaRPr lang="en-GB" sz="2000" b="1" dirty="0"/>
          </a:p>
          <a:p>
            <a:r>
              <a:rPr lang="en-GB" sz="2000" i="1" dirty="0"/>
              <a:t>Ashton Building, Room G.18</a:t>
            </a:r>
          </a:p>
          <a:p>
            <a:r>
              <a:rPr lang="en-GB" sz="2000" i="1" dirty="0"/>
              <a:t>E-mail: </a:t>
            </a:r>
            <a:r>
              <a:rPr lang="en-GB" sz="2000" b="1" i="1" dirty="0"/>
              <a:t>coopes@liverpool.ac.uk </a:t>
            </a:r>
          </a:p>
          <a:p>
            <a:endParaRPr lang="en-GB" sz="1800" b="1" i="1" dirty="0"/>
          </a:p>
          <a:p>
            <a:r>
              <a:rPr lang="en-GB" sz="2000" b="1" dirty="0"/>
              <a:t>COMP 201 web-page:</a:t>
            </a:r>
          </a:p>
          <a:p>
            <a:r>
              <a:rPr lang="en-GB" sz="2000" b="1" dirty="0"/>
              <a:t>http://www.csc.liv.ac.uk/~coopes/comp201</a:t>
            </a:r>
          </a:p>
          <a:p>
            <a:pPr eaLnBrk="1" hangingPunct="1"/>
            <a:endParaRPr lang="en-GB" sz="2800" u="sng" dirty="0"/>
          </a:p>
          <a:p>
            <a:pPr eaLnBrk="1" hangingPunct="1"/>
            <a:r>
              <a:rPr lang="en-GB" sz="2800" u="sng"/>
              <a:t>Lecture 10 </a:t>
            </a:r>
            <a:r>
              <a:rPr lang="en-GB" sz="2800" u="sng" dirty="0"/>
              <a:t>– System Models</a:t>
            </a:r>
          </a:p>
          <a:p>
            <a:pPr eaLnBrk="1" hangingPunct="1"/>
            <a:endParaRPr lang="en-GB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Today we shall consider several system models:</a:t>
            </a:r>
          </a:p>
          <a:p>
            <a:pPr lvl="1"/>
            <a:r>
              <a:rPr lang="en-GB" dirty="0"/>
              <a:t>Mealy machines</a:t>
            </a:r>
          </a:p>
          <a:p>
            <a:pPr lvl="1"/>
            <a:r>
              <a:rPr lang="en-GB" dirty="0"/>
              <a:t>Moore machines</a:t>
            </a:r>
          </a:p>
          <a:p>
            <a:pPr lvl="1"/>
            <a:r>
              <a:rPr lang="en-GB" dirty="0"/>
              <a:t>Petri Nets</a:t>
            </a:r>
          </a:p>
          <a:p>
            <a:pPr lvl="1"/>
            <a:r>
              <a:rPr lang="en-GB" dirty="0"/>
              <a:t>UML diagrams.</a:t>
            </a:r>
          </a:p>
          <a:p>
            <a:r>
              <a:rPr lang="en-GB" dirty="0"/>
              <a:t>Each of these can be used for specifying parts of the system and analysing properties.</a:t>
            </a:r>
          </a:p>
          <a:p>
            <a:r>
              <a:rPr lang="en-GB" dirty="0"/>
              <a:t>When you see a new model, ask yourself what type of properties that model could potentially represent.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8229600" cy="1104900"/>
          </a:xfrm>
        </p:spPr>
        <p:txBody>
          <a:bodyPr/>
          <a:lstStyle/>
          <a:p>
            <a:r>
              <a:rPr lang="en-GB" dirty="0"/>
              <a:t>Finite State Machines - </a:t>
            </a:r>
            <a:r>
              <a:rPr lang="en-GB" b="0" dirty="0"/>
              <a:t>Recap</a:t>
            </a:r>
          </a:p>
        </p:txBody>
      </p:sp>
      <p:sp>
        <p:nvSpPr>
          <p:cNvPr id="70659" name="Rectangle 1027"/>
          <p:cNvSpPr>
            <a:spLocks noGrp="1" noChangeArrowheads="1"/>
          </p:cNvSpPr>
          <p:nvPr>
            <p:ph idx="1"/>
          </p:nvPr>
        </p:nvSpPr>
        <p:spPr>
          <a:xfrm>
            <a:off x="142844" y="1643050"/>
            <a:ext cx="83820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400" dirty="0"/>
              <a:t> </a:t>
            </a:r>
            <a:r>
              <a:rPr lang="en-GB" sz="2800" dirty="0"/>
              <a:t>A </a:t>
            </a:r>
            <a:r>
              <a:rPr lang="en-GB" sz="2800" i="1" dirty="0"/>
              <a:t>model of computation</a:t>
            </a:r>
            <a:r>
              <a:rPr lang="en-GB" sz="2800" dirty="0"/>
              <a:t> consisting of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 set of </a:t>
            </a:r>
            <a:r>
              <a:rPr lang="en-GB" i="1" dirty="0">
                <a:solidFill>
                  <a:schemeClr val="accent3"/>
                </a:solidFill>
              </a:rPr>
              <a:t>states</a:t>
            </a:r>
            <a:r>
              <a:rPr lang="en-GB" dirty="0"/>
              <a:t>,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 </a:t>
            </a:r>
            <a:r>
              <a:rPr lang="en-GB" i="1" dirty="0">
                <a:solidFill>
                  <a:schemeClr val="accent3"/>
                </a:solidFill>
              </a:rPr>
              <a:t>start state</a:t>
            </a:r>
            <a:r>
              <a:rPr lang="en-GB" dirty="0"/>
              <a:t>,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an </a:t>
            </a:r>
            <a:r>
              <a:rPr lang="en-GB" dirty="0">
                <a:solidFill>
                  <a:schemeClr val="accent3"/>
                </a:solidFill>
              </a:rPr>
              <a:t>input </a:t>
            </a:r>
            <a:r>
              <a:rPr lang="en-GB" i="1" dirty="0">
                <a:solidFill>
                  <a:schemeClr val="accent3"/>
                </a:solidFill>
              </a:rPr>
              <a:t>alphabet</a:t>
            </a:r>
            <a:r>
              <a:rPr lang="en-GB" dirty="0"/>
              <a:t>, and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a </a:t>
            </a:r>
            <a:r>
              <a:rPr lang="en-GB" i="1" dirty="0">
                <a:solidFill>
                  <a:schemeClr val="accent3"/>
                </a:solidFill>
              </a:rPr>
              <a:t>transition function</a:t>
            </a:r>
            <a:r>
              <a:rPr lang="en-GB" dirty="0">
                <a:solidFill>
                  <a:schemeClr val="accent3"/>
                </a:solidFill>
              </a:rPr>
              <a:t> </a:t>
            </a:r>
            <a:r>
              <a:rPr lang="en-GB" dirty="0"/>
              <a:t>that maps input symbols </a:t>
            </a:r>
          </a:p>
          <a:p>
            <a:pPr lvl="1">
              <a:lnSpc>
                <a:spcPct val="90000"/>
              </a:lnSpc>
              <a:buNone/>
            </a:pPr>
            <a:r>
              <a:rPr lang="en-GB" dirty="0"/>
              <a:t>	and current states to a </a:t>
            </a:r>
            <a:r>
              <a:rPr lang="en-GB" i="1" dirty="0">
                <a:solidFill>
                  <a:schemeClr val="accent3"/>
                </a:solidFill>
              </a:rPr>
              <a:t>next state</a:t>
            </a:r>
          </a:p>
          <a:p>
            <a:pPr>
              <a:lnSpc>
                <a:spcPct val="9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pic>
        <p:nvPicPr>
          <p:cNvPr id="7" name="Picture 6" descr="FSAPic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29190" y="4121460"/>
            <a:ext cx="3643338" cy="210114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7072330" y="2500306"/>
            <a:ext cx="1785950" cy="1015663"/>
          </a:xfrm>
          <a:prstGeom prst="rect">
            <a:avLst/>
          </a:prstGeom>
          <a:solidFill>
            <a:schemeClr val="bg2"/>
          </a:solidFill>
          <a:ln w="12700">
            <a:solidFill>
              <a:schemeClr val="accent1">
                <a:shade val="50000"/>
                <a:satMod val="103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/>
              <a:t>What language is recognised by this FSA?</a:t>
            </a:r>
          </a:p>
        </p:txBody>
      </p:sp>
      <p:cxnSp>
        <p:nvCxnSpPr>
          <p:cNvPr id="17" name="Straight Arrow Connector 16"/>
          <p:cNvCxnSpPr>
            <a:stCxn id="15" idx="2"/>
            <a:endCxn id="7" idx="0"/>
          </p:cNvCxnSpPr>
          <p:nvPr/>
        </p:nvCxnSpPr>
        <p:spPr>
          <a:xfrm rot="5400000">
            <a:off x="7055337" y="3211491"/>
            <a:ext cx="605491" cy="1214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8229600" cy="1104900"/>
          </a:xfrm>
        </p:spPr>
        <p:txBody>
          <a:bodyPr/>
          <a:lstStyle/>
          <a:p>
            <a:r>
              <a:rPr lang="en-GB" dirty="0"/>
              <a:t>Finite State Machines - </a:t>
            </a:r>
            <a:r>
              <a:rPr lang="en-GB" b="0" dirty="0"/>
              <a:t>Recap</a:t>
            </a:r>
          </a:p>
        </p:txBody>
      </p:sp>
      <p:sp>
        <p:nvSpPr>
          <p:cNvPr id="70659" name="Rectangle 1027"/>
          <p:cNvSpPr>
            <a:spLocks noGrp="1" noChangeArrowheads="1"/>
          </p:cNvSpPr>
          <p:nvPr>
            <p:ph idx="1"/>
          </p:nvPr>
        </p:nvSpPr>
        <p:spPr>
          <a:xfrm>
            <a:off x="142844" y="1643050"/>
            <a:ext cx="8382000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Computation begins in the start state with an input string. It changes to new states depending on the transition function. </a:t>
            </a:r>
          </a:p>
          <a:p>
            <a:pPr lvl="1">
              <a:lnSpc>
                <a:spcPct val="90000"/>
              </a:lnSpc>
            </a:pPr>
            <a:r>
              <a:rPr lang="en-GB" b="1" i="1" dirty="0">
                <a:solidFill>
                  <a:schemeClr val="accent3"/>
                </a:solidFill>
              </a:rPr>
              <a:t>states</a:t>
            </a:r>
            <a:r>
              <a:rPr lang="en-GB" i="1" dirty="0"/>
              <a:t> define behaviour and may produce actions </a:t>
            </a:r>
          </a:p>
          <a:p>
            <a:pPr lvl="1">
              <a:lnSpc>
                <a:spcPct val="90000"/>
              </a:lnSpc>
            </a:pPr>
            <a:r>
              <a:rPr lang="en-GB" b="1" i="1" dirty="0">
                <a:solidFill>
                  <a:schemeClr val="accent3"/>
                </a:solidFill>
              </a:rPr>
              <a:t>state transitions</a:t>
            </a:r>
            <a:r>
              <a:rPr lang="en-GB" i="1" dirty="0">
                <a:solidFill>
                  <a:schemeClr val="accent3"/>
                </a:solidFill>
              </a:rPr>
              <a:t> </a:t>
            </a:r>
            <a:r>
              <a:rPr lang="en-GB" i="1" dirty="0"/>
              <a:t>are movement from one state to another </a:t>
            </a:r>
          </a:p>
          <a:p>
            <a:pPr lvl="1">
              <a:lnSpc>
                <a:spcPct val="90000"/>
              </a:lnSpc>
            </a:pPr>
            <a:r>
              <a:rPr lang="en-GB" b="1" i="1" dirty="0">
                <a:solidFill>
                  <a:schemeClr val="accent3"/>
                </a:solidFill>
              </a:rPr>
              <a:t>rules or conditions</a:t>
            </a:r>
            <a:r>
              <a:rPr lang="en-GB" i="1" dirty="0">
                <a:solidFill>
                  <a:schemeClr val="accent3"/>
                </a:solidFill>
              </a:rPr>
              <a:t> </a:t>
            </a:r>
            <a:r>
              <a:rPr lang="en-GB" i="1" dirty="0"/>
              <a:t>must be met to allow a state transition</a:t>
            </a:r>
          </a:p>
          <a:p>
            <a:pPr lvl="1">
              <a:lnSpc>
                <a:spcPct val="90000"/>
              </a:lnSpc>
            </a:pPr>
            <a:r>
              <a:rPr lang="en-GB" b="1" i="1" dirty="0">
                <a:solidFill>
                  <a:schemeClr val="accent3"/>
                </a:solidFill>
              </a:rPr>
              <a:t>input events</a:t>
            </a:r>
            <a:r>
              <a:rPr lang="en-GB" i="1" dirty="0">
                <a:solidFill>
                  <a:schemeClr val="accent3"/>
                </a:solidFill>
              </a:rPr>
              <a:t> </a:t>
            </a:r>
            <a:r>
              <a:rPr lang="en-GB" i="1" dirty="0"/>
              <a:t>are either externally </a:t>
            </a:r>
          </a:p>
          <a:p>
            <a:pPr lvl="1">
              <a:lnSpc>
                <a:spcPct val="90000"/>
              </a:lnSpc>
              <a:buNone/>
            </a:pPr>
            <a:r>
              <a:rPr lang="en-GB" i="1" dirty="0"/>
              <a:t>	or internally generated, which </a:t>
            </a:r>
          </a:p>
          <a:p>
            <a:pPr lvl="1">
              <a:lnSpc>
                <a:spcPct val="90000"/>
              </a:lnSpc>
              <a:buNone/>
            </a:pPr>
            <a:r>
              <a:rPr lang="en-GB" i="1" dirty="0"/>
              <a:t>	may possibly trigger rules and </a:t>
            </a:r>
          </a:p>
          <a:p>
            <a:pPr lvl="1">
              <a:lnSpc>
                <a:spcPct val="90000"/>
              </a:lnSpc>
              <a:buNone/>
            </a:pPr>
            <a:r>
              <a:rPr lang="en-GB" i="1" dirty="0"/>
              <a:t>	lead to state transitions.</a:t>
            </a:r>
            <a:endParaRPr lang="en-GB" dirty="0"/>
          </a:p>
          <a:p>
            <a:pPr>
              <a:lnSpc>
                <a:spcPct val="90000"/>
              </a:lnSpc>
            </a:pP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pic>
        <p:nvPicPr>
          <p:cNvPr id="8" name="Picture 7" descr="FSAPic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14942" y="4286256"/>
            <a:ext cx="3643338" cy="2101148"/>
          </a:xfrm>
          <a:prstGeom prst="rect">
            <a:avLst/>
          </a:prstGeom>
          <a:ln>
            <a:solidFill>
              <a:schemeClr val="accent1"/>
            </a:solidFill>
          </a:ln>
          <a:effectLst>
            <a:outerShdw blurRad="50800" dist="38100" dir="2700000" sx="102000" sy="102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Variants of FSMs</a:t>
            </a:r>
          </a:p>
        </p:txBody>
      </p:sp>
      <p:sp>
        <p:nvSpPr>
          <p:cNvPr id="71683" name="Rectangle 1027"/>
          <p:cNvSpPr>
            <a:spLocks noGrp="1" noChangeArrowheads="1"/>
          </p:cNvSpPr>
          <p:nvPr>
            <p:ph idx="1"/>
          </p:nvPr>
        </p:nvSpPr>
        <p:spPr>
          <a:xfrm>
            <a:off x="285720" y="1643050"/>
            <a:ext cx="8643998" cy="4714908"/>
          </a:xfrm>
        </p:spPr>
        <p:txBody>
          <a:bodyPr>
            <a:noAutofit/>
          </a:bodyPr>
          <a:lstStyle/>
          <a:p>
            <a:r>
              <a:rPr lang="en-GB" sz="2800" dirty="0"/>
              <a:t>There are many variants, for instance, </a:t>
            </a:r>
          </a:p>
          <a:p>
            <a:pPr lvl="1"/>
            <a:r>
              <a:rPr lang="en-GB" sz="2800" dirty="0"/>
              <a:t>machines having actions (outputs) associated with transitions (</a:t>
            </a:r>
            <a:r>
              <a:rPr lang="en-GB" sz="2800" b="1" i="1" dirty="0"/>
              <a:t>Mealy machine</a:t>
            </a:r>
            <a:r>
              <a:rPr lang="en-GB" sz="2800" dirty="0"/>
              <a:t>) or states (</a:t>
            </a:r>
            <a:r>
              <a:rPr lang="en-GB" sz="2800" b="1" i="1" dirty="0"/>
              <a:t>Moore machine</a:t>
            </a:r>
            <a:r>
              <a:rPr lang="en-GB" sz="2800" dirty="0"/>
              <a:t>), </a:t>
            </a:r>
          </a:p>
          <a:p>
            <a:pPr lvl="1"/>
            <a:r>
              <a:rPr lang="en-GB" sz="2800" dirty="0"/>
              <a:t>multiple start states, </a:t>
            </a:r>
          </a:p>
          <a:p>
            <a:pPr lvl="1"/>
            <a:r>
              <a:rPr lang="en-GB" sz="2800" dirty="0"/>
              <a:t>transitions conditioned on no input symbol (a null) or more than one transition for a given symbol and state (</a:t>
            </a:r>
            <a:r>
              <a:rPr lang="en-GB" sz="2800" b="1" i="1" dirty="0"/>
              <a:t>nondeterministic finite state machine</a:t>
            </a:r>
            <a:r>
              <a:rPr lang="en-GB" sz="2800" dirty="0"/>
              <a:t>), </a:t>
            </a:r>
          </a:p>
          <a:p>
            <a:pPr lvl="1"/>
            <a:r>
              <a:rPr lang="en-GB" sz="2800" dirty="0"/>
              <a:t>one or more states designated as </a:t>
            </a:r>
            <a:r>
              <a:rPr lang="en-GB" sz="2800" i="1" dirty="0"/>
              <a:t>accepting states </a:t>
            </a:r>
            <a:r>
              <a:rPr lang="en-GB" sz="2800" dirty="0"/>
              <a:t>(</a:t>
            </a:r>
            <a:r>
              <a:rPr lang="en-GB" sz="2800" b="1" i="1" dirty="0"/>
              <a:t>recognizer</a:t>
            </a:r>
            <a:r>
              <a:rPr lang="en-GB" sz="2800" dirty="0"/>
              <a:t>),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26"/>
          <p:cNvSpPr>
            <a:spLocks noGrp="1" noChangeArrowheads="1"/>
          </p:cNvSpPr>
          <p:nvPr>
            <p:ph type="title"/>
          </p:nvPr>
        </p:nvSpPr>
        <p:spPr>
          <a:xfrm>
            <a:off x="457200" y="846964"/>
            <a:ext cx="8229600" cy="1081838"/>
          </a:xfrm>
        </p:spPr>
        <p:txBody>
          <a:bodyPr>
            <a:noAutofit/>
          </a:bodyPr>
          <a:lstStyle/>
          <a:p>
            <a:r>
              <a:rPr lang="en-GB" sz="3600" dirty="0"/>
              <a:t>Finite State Machines with Output (Mealy and Moore Machines)</a:t>
            </a:r>
          </a:p>
        </p:txBody>
      </p:sp>
      <p:sp>
        <p:nvSpPr>
          <p:cNvPr id="72707" name="Rectangle 1027"/>
          <p:cNvSpPr>
            <a:spLocks noGrp="1" noChangeArrowheads="1"/>
          </p:cNvSpPr>
          <p:nvPr>
            <p:ph idx="1"/>
          </p:nvPr>
        </p:nvSpPr>
        <p:spPr>
          <a:xfrm>
            <a:off x="457200" y="2040276"/>
            <a:ext cx="8229600" cy="4389120"/>
          </a:xfrm>
        </p:spPr>
        <p:txBody>
          <a:bodyPr>
            <a:normAutofit/>
          </a:bodyPr>
          <a:lstStyle/>
          <a:p>
            <a:r>
              <a:rPr lang="en-GB" sz="2800" dirty="0">
                <a:solidFill>
                  <a:schemeClr val="accent3"/>
                </a:solidFill>
              </a:rPr>
              <a:t>Finite state automata </a:t>
            </a:r>
            <a:r>
              <a:rPr lang="en-GB" sz="2800" dirty="0"/>
              <a:t>are like computers in that they receive input and process the input by changing states. </a:t>
            </a:r>
          </a:p>
          <a:p>
            <a:r>
              <a:rPr lang="en-GB" sz="2800" dirty="0"/>
              <a:t>The only output that we have seen finite automata produce so far is a yes/no at the end of processing. </a:t>
            </a:r>
          </a:p>
          <a:p>
            <a:pPr lvl="1"/>
            <a:r>
              <a:rPr lang="en-GB" dirty="0"/>
              <a:t>We will now look at two models of finite automata that produce more output than a yes/no.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Moore Machine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634442" cy="2438400"/>
          </a:xfrm>
        </p:spPr>
        <p:txBody>
          <a:bodyPr>
            <a:normAutofit/>
          </a:bodyPr>
          <a:lstStyle/>
          <a:p>
            <a:r>
              <a:rPr lang="en-GB" dirty="0"/>
              <a:t>Basically a </a:t>
            </a:r>
            <a:r>
              <a:rPr lang="en-GB" b="1" dirty="0">
                <a:solidFill>
                  <a:schemeClr val="accent3"/>
                </a:solidFill>
              </a:rPr>
              <a:t>Moore machine </a:t>
            </a:r>
            <a:r>
              <a:rPr lang="en-GB" dirty="0"/>
              <a:t>is just a FSA with two extra attributes. </a:t>
            </a:r>
          </a:p>
          <a:p>
            <a:pPr lvl="1">
              <a:buFontTx/>
              <a:buNone/>
            </a:pPr>
            <a:r>
              <a:rPr lang="en-GB" dirty="0"/>
              <a:t>1. It has TWO alphabets, an </a:t>
            </a:r>
            <a:r>
              <a:rPr lang="en-GB" dirty="0">
                <a:solidFill>
                  <a:schemeClr val="accent3"/>
                </a:solidFill>
              </a:rPr>
              <a:t>input</a:t>
            </a:r>
            <a:r>
              <a:rPr lang="en-GB" dirty="0"/>
              <a:t> and </a:t>
            </a:r>
            <a:r>
              <a:rPr lang="en-GB" dirty="0">
                <a:solidFill>
                  <a:schemeClr val="accent3"/>
                </a:solidFill>
              </a:rPr>
              <a:t>output</a:t>
            </a:r>
            <a:r>
              <a:rPr lang="en-GB" dirty="0"/>
              <a:t> alphabet. </a:t>
            </a:r>
          </a:p>
          <a:p>
            <a:pPr lvl="1">
              <a:buFontTx/>
              <a:buNone/>
            </a:pPr>
            <a:r>
              <a:rPr lang="en-GB" dirty="0"/>
              <a:t>2. It has an </a:t>
            </a:r>
            <a:r>
              <a:rPr lang="en-GB" dirty="0">
                <a:solidFill>
                  <a:schemeClr val="accent3"/>
                </a:solidFill>
              </a:rPr>
              <a:t>output letter </a:t>
            </a:r>
            <a:r>
              <a:rPr lang="en-GB" dirty="0"/>
              <a:t>associated with each state. The machine writes the appropriate output letter as it enters each state. </a:t>
            </a:r>
          </a:p>
          <a:p>
            <a:pPr>
              <a:buFont typeface="Zapf Dingbats" charset="2"/>
              <a:buNone/>
            </a:pPr>
            <a:endParaRPr lang="en-GB" dirty="0"/>
          </a:p>
        </p:txBody>
      </p:sp>
      <p:pic>
        <p:nvPicPr>
          <p:cNvPr id="73735" name="Picture 7" descr="Moore machine from page 151 of the text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86050" y="3772247"/>
            <a:ext cx="3500462" cy="3014339"/>
          </a:xfrm>
          <a:prstGeom prst="rect">
            <a:avLst/>
          </a:prstGeom>
          <a:noFill/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 - Moore Machine</a:t>
            </a:r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285720" y="4500570"/>
            <a:ext cx="8610600" cy="95410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dirty="0"/>
              <a:t>The output produced by the machine contains a 1 for each occurrence of the substring</a:t>
            </a:r>
            <a:r>
              <a:rPr lang="en-GB" b="1" dirty="0"/>
              <a:t> </a:t>
            </a:r>
            <a:r>
              <a:rPr lang="en-GB" b="1" dirty="0" err="1">
                <a:solidFill>
                  <a:schemeClr val="accent3"/>
                </a:solidFill>
              </a:rPr>
              <a:t>aab</a:t>
            </a:r>
            <a:r>
              <a:rPr lang="en-GB" dirty="0"/>
              <a:t> found in the input string. </a:t>
            </a:r>
          </a:p>
        </p:txBody>
      </p:sp>
      <p:pic>
        <p:nvPicPr>
          <p:cNvPr id="73740" name="Picture 12" descr="Moore machine that counts aab's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1785926"/>
            <a:ext cx="5737417" cy="2357454"/>
          </a:xfrm>
          <a:prstGeom prst="rect">
            <a:avLst/>
          </a:prstGeom>
          <a:noFill/>
          <a:ln>
            <a:solidFill>
              <a:schemeClr val="accent1">
                <a:shade val="50000"/>
                <a:satMod val="103000"/>
              </a:schemeClr>
            </a:solidFill>
          </a:ln>
          <a:effectLst>
            <a:outerShdw blurRad="50800" dist="38100" dir="2700000" sx="101000" sy="101000" algn="tl" rotWithShape="0">
              <a:prstClr val="black">
                <a:alpha val="40000"/>
              </a:prstClr>
            </a:outerShdw>
          </a:effectLst>
        </p:spPr>
      </p:pic>
      <p:sp>
        <p:nvSpPr>
          <p:cNvPr id="73741" name="AutoShape 13"/>
          <p:cNvSpPr>
            <a:spLocks noChangeArrowheads="1"/>
          </p:cNvSpPr>
          <p:nvPr/>
        </p:nvSpPr>
        <p:spPr bwMode="auto">
          <a:xfrm>
            <a:off x="6215074" y="2000240"/>
            <a:ext cx="2667000" cy="14478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noFill/>
          <a:ln w="12700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50000"/>
              </a:spcBef>
            </a:pPr>
            <a:r>
              <a:rPr lang="en-GB" sz="2000"/>
              <a:t>This machine might be considered as a "counting" machine.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Mealy Machine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534400" cy="2743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>
                <a:solidFill>
                  <a:schemeClr val="accent3"/>
                </a:solidFill>
              </a:rPr>
              <a:t>Mealy machines </a:t>
            </a:r>
            <a:r>
              <a:rPr lang="en-GB" sz="2400" dirty="0"/>
              <a:t>are computationally equivalent to Moore machines 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(we can implement any Mealy machine using a Moore machine, and vice versa). </a:t>
            </a:r>
          </a:p>
          <a:p>
            <a:pPr>
              <a:lnSpc>
                <a:spcPct val="90000"/>
              </a:lnSpc>
            </a:pPr>
            <a:r>
              <a:rPr lang="en-GB" sz="2400" dirty="0"/>
              <a:t>However, Mealy machines move the output function from the state to the transition. This turns out to be easier to deal with in practice, making Mealy machines more practical. </a:t>
            </a:r>
          </a:p>
          <a:p>
            <a:pPr>
              <a:lnSpc>
                <a:spcPct val="90000"/>
              </a:lnSpc>
            </a:pPr>
            <a:endParaRPr lang="en-GB" sz="2400" dirty="0"/>
          </a:p>
        </p:txBody>
      </p:sp>
      <p:pic>
        <p:nvPicPr>
          <p:cNvPr id="74756" name="Picture 4" descr="Mealy machine from page 153 of the text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1736" y="4143380"/>
            <a:ext cx="3802077" cy="2483445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642918"/>
            <a:ext cx="8715436" cy="1143008"/>
          </a:xfrm>
        </p:spPr>
        <p:txBody>
          <a:bodyPr>
            <a:noAutofit/>
          </a:bodyPr>
          <a:lstStyle/>
          <a:p>
            <a:r>
              <a:rPr lang="en-GB" sz="3600" dirty="0"/>
              <a:t>A </a:t>
            </a:r>
            <a:r>
              <a:rPr lang="en-GB" sz="3600" dirty="0">
                <a:solidFill>
                  <a:srgbClr val="333399"/>
                </a:solidFill>
              </a:rPr>
              <a:t>Mealy Machine </a:t>
            </a:r>
            <a:r>
              <a:rPr lang="en-GB" sz="3600" dirty="0"/>
              <a:t>Produces Output </a:t>
            </a:r>
            <a:br>
              <a:rPr lang="en-GB" sz="3600" dirty="0"/>
            </a:br>
            <a:r>
              <a:rPr lang="en-GB" sz="3600" dirty="0"/>
              <a:t>on a Transition</a:t>
            </a:r>
          </a:p>
        </p:txBody>
      </p:sp>
      <p:pic>
        <p:nvPicPr>
          <p:cNvPr id="75783" name="Picture 7" descr="One's complement Mealy machine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9137" y="2247911"/>
            <a:ext cx="3344863" cy="2681287"/>
          </a:xfrm>
          <a:prstGeom prst="rect">
            <a:avLst/>
          </a:prstGeom>
          <a:noFill/>
        </p:spPr>
      </p:pic>
      <p:sp>
        <p:nvSpPr>
          <p:cNvPr id="75784" name="AutoShape 8"/>
          <p:cNvSpPr>
            <a:spLocks/>
          </p:cNvSpPr>
          <p:nvPr/>
        </p:nvSpPr>
        <p:spPr bwMode="auto">
          <a:xfrm>
            <a:off x="214282" y="3467109"/>
            <a:ext cx="5334000" cy="1247775"/>
          </a:xfrm>
          <a:prstGeom prst="borderCallout2">
            <a:avLst>
              <a:gd name="adj1" fmla="val 9162"/>
              <a:gd name="adj2" fmla="val 101431"/>
              <a:gd name="adj3" fmla="val 9162"/>
              <a:gd name="adj4" fmla="val 104194"/>
              <a:gd name="adj5" fmla="val -18319"/>
              <a:gd name="adj6" fmla="val 107144"/>
            </a:avLst>
          </a:prstGeom>
          <a:noFill/>
          <a:ln w="222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GB" sz="2000" dirty="0"/>
              <a:t>The following Mealy machine takes the one's complement of its binary input. In other words, it flips each digit from a 0 to a 1 or from a 1 to a 0.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20" y="1928802"/>
            <a:ext cx="5500726" cy="11449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 typeface="Zapf Dingbats" charset="2"/>
              <a:buNone/>
            </a:pPr>
            <a:r>
              <a:rPr lang="en-GB" dirty="0"/>
              <a:t>Transitions are labelled </a:t>
            </a:r>
            <a:r>
              <a:rPr lang="en-GB" i="1" dirty="0">
                <a:solidFill>
                  <a:schemeClr val="accent1"/>
                </a:solidFill>
              </a:rPr>
              <a:t>i/o</a:t>
            </a:r>
            <a:r>
              <a:rPr lang="en-GB" dirty="0"/>
              <a:t> where </a:t>
            </a:r>
          </a:p>
          <a:p>
            <a:pPr lvl="1">
              <a:lnSpc>
                <a:spcPct val="90000"/>
              </a:lnSpc>
            </a:pPr>
            <a:r>
              <a:rPr lang="en-GB" sz="2400" b="1" i="1" dirty="0" err="1">
                <a:solidFill>
                  <a:schemeClr val="accent1"/>
                </a:solidFill>
              </a:rPr>
              <a:t>i</a:t>
            </a:r>
            <a:r>
              <a:rPr lang="en-GB" sz="2400" dirty="0">
                <a:solidFill>
                  <a:srgbClr val="333399"/>
                </a:solidFill>
              </a:rPr>
              <a:t> is a character in the input alphabet and </a:t>
            </a:r>
          </a:p>
          <a:p>
            <a:pPr lvl="1">
              <a:lnSpc>
                <a:spcPct val="90000"/>
              </a:lnSpc>
            </a:pPr>
            <a:r>
              <a:rPr lang="en-GB" sz="2400" b="1" i="1" dirty="0">
                <a:solidFill>
                  <a:schemeClr val="accent1"/>
                </a:solidFill>
              </a:rPr>
              <a:t>o</a:t>
            </a:r>
            <a:r>
              <a:rPr lang="en-GB" sz="2400" dirty="0">
                <a:solidFill>
                  <a:srgbClr val="333399"/>
                </a:solidFill>
              </a:rPr>
              <a:t> is a character in the output alphabet.</a:t>
            </a:r>
            <a:r>
              <a:rPr lang="en-GB" sz="2400" dirty="0"/>
              <a:t> </a:t>
            </a:r>
            <a:endParaRPr lang="en-GB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642918"/>
            <a:ext cx="8715436" cy="1143008"/>
          </a:xfrm>
        </p:spPr>
        <p:txBody>
          <a:bodyPr>
            <a:noAutofit/>
          </a:bodyPr>
          <a:lstStyle/>
          <a:p>
            <a:r>
              <a:rPr lang="en-GB" sz="3600" dirty="0"/>
              <a:t>A </a:t>
            </a:r>
            <a:r>
              <a:rPr lang="en-GB" sz="3600" dirty="0">
                <a:solidFill>
                  <a:srgbClr val="333399"/>
                </a:solidFill>
              </a:rPr>
              <a:t>Mealy Machine </a:t>
            </a:r>
            <a:r>
              <a:rPr lang="en-GB" sz="3600" dirty="0"/>
              <a:t>Produces Output </a:t>
            </a:r>
            <a:br>
              <a:rPr lang="en-GB" sz="3600" dirty="0"/>
            </a:br>
            <a:r>
              <a:rPr lang="en-GB" sz="3600" dirty="0"/>
              <a:t>on a Transition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>
          <a:xfrm>
            <a:off x="357158" y="1935480"/>
            <a:ext cx="8329642" cy="438912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/>
              <a:t>Mealy machines are </a:t>
            </a:r>
            <a:r>
              <a:rPr lang="en-GB" sz="2800" dirty="0">
                <a:solidFill>
                  <a:schemeClr val="accent2"/>
                </a:solidFill>
              </a:rPr>
              <a:t>complete</a:t>
            </a:r>
            <a:r>
              <a:rPr lang="en-GB" sz="2800" dirty="0"/>
              <a:t> in the sense that there is a transition for each character in the input alphabet leaving every state. 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There are no accept states in a Mealy machine because it is not a language recogniser, it is an </a:t>
            </a:r>
            <a:r>
              <a:rPr lang="en-GB" sz="2800" i="1" dirty="0"/>
              <a:t>output producer</a:t>
            </a:r>
            <a:r>
              <a:rPr lang="en-GB" sz="2800" dirty="0"/>
              <a:t>. Its output will be the same length as its input.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Petri Net Models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82000" cy="4495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b="1" dirty="0">
                <a:solidFill>
                  <a:schemeClr val="accent3"/>
                </a:solidFill>
              </a:rPr>
              <a:t>Petri Nets</a:t>
            </a:r>
            <a:r>
              <a:rPr lang="en-GB" sz="2800" dirty="0">
                <a:solidFill>
                  <a:schemeClr val="accent3"/>
                </a:solidFill>
              </a:rPr>
              <a:t> </a:t>
            </a:r>
            <a:r>
              <a:rPr lang="en-GB" sz="2800" dirty="0"/>
              <a:t>were developed originally by </a:t>
            </a:r>
            <a:r>
              <a:rPr lang="en-GB" sz="2800" i="1" dirty="0"/>
              <a:t>Carl Adam Petri (when he was 12)</a:t>
            </a:r>
            <a:r>
              <a:rPr lang="en-GB" sz="2800" dirty="0"/>
              <a:t>, and were the subject of his dissertation in 1962. 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Originally to model chemical reactions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Since then, Petri Nets and their concepts have been extended, developed, and applied in a variety of areas.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While the mathematical properties of Petri Nets are interesting and useful, the beginner will find that a good approach is to learn to model systems by constructing them graphically.</a:t>
            </a:r>
          </a:p>
          <a:p>
            <a:pPr>
              <a:lnSpc>
                <a:spcPct val="90000"/>
              </a:lnSpc>
            </a:pPr>
            <a:endParaRPr lang="en-GB" sz="2800" dirty="0">
              <a:solidFill>
                <a:schemeClr val="accent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Basics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5943600" cy="4114800"/>
          </a:xfrm>
        </p:spPr>
        <p:txBody>
          <a:bodyPr/>
          <a:lstStyle/>
          <a:p>
            <a:r>
              <a:rPr lang="en-GB" dirty="0"/>
              <a:t>A </a:t>
            </a:r>
            <a:r>
              <a:rPr lang="en-GB" b="1" dirty="0">
                <a:solidFill>
                  <a:schemeClr val="accent1"/>
                </a:solidFill>
              </a:rPr>
              <a:t>Petri Net</a:t>
            </a:r>
            <a:r>
              <a:rPr lang="en-GB" dirty="0"/>
              <a:t> is a collection of </a:t>
            </a:r>
            <a:r>
              <a:rPr lang="en-GB" u="sng" dirty="0">
                <a:solidFill>
                  <a:schemeClr val="accent2"/>
                </a:solidFill>
              </a:rPr>
              <a:t>directed arcs</a:t>
            </a:r>
            <a:r>
              <a:rPr lang="en-GB" dirty="0"/>
              <a:t> connecting </a:t>
            </a:r>
            <a:r>
              <a:rPr lang="en-GB" u="sng" dirty="0">
                <a:solidFill>
                  <a:schemeClr val="accent2"/>
                </a:solidFill>
              </a:rPr>
              <a:t>places</a:t>
            </a:r>
            <a:r>
              <a:rPr lang="en-GB" dirty="0"/>
              <a:t> and </a:t>
            </a:r>
            <a:r>
              <a:rPr lang="en-GB" u="sng" dirty="0">
                <a:solidFill>
                  <a:schemeClr val="accent2"/>
                </a:solidFill>
              </a:rPr>
              <a:t>transitions</a:t>
            </a:r>
            <a:r>
              <a:rPr lang="en-GB" dirty="0"/>
              <a:t>. </a:t>
            </a:r>
          </a:p>
          <a:p>
            <a:r>
              <a:rPr lang="en-GB" dirty="0">
                <a:solidFill>
                  <a:schemeClr val="accent1"/>
                </a:solidFill>
              </a:rPr>
              <a:t>Places may hold </a:t>
            </a:r>
            <a:r>
              <a:rPr lang="en-GB" u="sng" dirty="0">
                <a:solidFill>
                  <a:schemeClr val="accent2"/>
                </a:solidFill>
              </a:rPr>
              <a:t>tokens</a:t>
            </a:r>
            <a:r>
              <a:rPr lang="en-GB" dirty="0"/>
              <a:t>. </a:t>
            </a:r>
          </a:p>
          <a:p>
            <a:r>
              <a:rPr lang="en-GB" dirty="0"/>
              <a:t>The </a:t>
            </a:r>
            <a:r>
              <a:rPr lang="en-GB" u="sng" dirty="0">
                <a:solidFill>
                  <a:schemeClr val="accent1"/>
                </a:solidFill>
              </a:rPr>
              <a:t>state or marking</a:t>
            </a:r>
            <a:r>
              <a:rPr lang="en-GB" dirty="0"/>
              <a:t> of a net is its assignment of tokens to places.</a:t>
            </a:r>
          </a:p>
          <a:p>
            <a:endParaRPr lang="en-GB" dirty="0"/>
          </a:p>
        </p:txBody>
      </p:sp>
      <p:sp>
        <p:nvSpPr>
          <p:cNvPr id="63492" name="Oval 4"/>
          <p:cNvSpPr>
            <a:spLocks noChangeArrowheads="1"/>
          </p:cNvSpPr>
          <p:nvPr/>
        </p:nvSpPr>
        <p:spPr bwMode="auto">
          <a:xfrm>
            <a:off x="6096000" y="3124200"/>
            <a:ext cx="685800" cy="685800"/>
          </a:xfrm>
          <a:prstGeom prst="ellips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63494" name="AutoShape 6"/>
          <p:cNvSpPr>
            <a:spLocks noChangeArrowheads="1"/>
          </p:cNvSpPr>
          <p:nvPr/>
        </p:nvSpPr>
        <p:spPr bwMode="auto">
          <a:xfrm>
            <a:off x="6096000" y="1447800"/>
            <a:ext cx="2743200" cy="1295400"/>
          </a:xfrm>
          <a:prstGeom prst="cloudCallout">
            <a:avLst>
              <a:gd name="adj1" fmla="val -29398"/>
              <a:gd name="adj2" fmla="val 72306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en-GB"/>
              <a:t>Place with token</a:t>
            </a:r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5257800" y="4800600"/>
            <a:ext cx="7620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3496" name="Oval 8"/>
          <p:cNvSpPr>
            <a:spLocks noChangeArrowheads="1"/>
          </p:cNvSpPr>
          <p:nvPr/>
        </p:nvSpPr>
        <p:spPr bwMode="auto">
          <a:xfrm>
            <a:off x="3733800" y="5410200"/>
            <a:ext cx="685800" cy="685800"/>
          </a:xfrm>
          <a:prstGeom prst="ellips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63497" name="Line 9"/>
          <p:cNvSpPr>
            <a:spLocks noChangeShapeType="1"/>
          </p:cNvSpPr>
          <p:nvPr/>
        </p:nvSpPr>
        <p:spPr bwMode="auto">
          <a:xfrm flipH="1">
            <a:off x="5715000" y="3810000"/>
            <a:ext cx="6096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4419600" y="4876800"/>
            <a:ext cx="12192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63499" name="Text Box 11"/>
          <p:cNvSpPr txBox="1">
            <a:spLocks noChangeArrowheads="1"/>
          </p:cNvSpPr>
          <p:nvPr/>
        </p:nvSpPr>
        <p:spPr bwMode="auto">
          <a:xfrm>
            <a:off x="6934200" y="3200400"/>
            <a:ext cx="60960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 dirty="0">
                <a:solidFill>
                  <a:schemeClr val="accent2"/>
                </a:solidFill>
              </a:rPr>
              <a:t>P1</a:t>
            </a:r>
          </a:p>
        </p:txBody>
      </p:sp>
      <p:sp>
        <p:nvSpPr>
          <p:cNvPr id="63500" name="Text Box 12"/>
          <p:cNvSpPr txBox="1">
            <a:spLocks noChangeArrowheads="1"/>
          </p:cNvSpPr>
          <p:nvPr/>
        </p:nvSpPr>
        <p:spPr bwMode="auto">
          <a:xfrm>
            <a:off x="4495800" y="5638800"/>
            <a:ext cx="60960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>
                <a:solidFill>
                  <a:schemeClr val="accent2"/>
                </a:solidFill>
              </a:rPr>
              <a:t>P2</a:t>
            </a:r>
          </a:p>
        </p:txBody>
      </p:sp>
      <p:sp>
        <p:nvSpPr>
          <p:cNvPr id="63501" name="Text Box 13"/>
          <p:cNvSpPr txBox="1">
            <a:spLocks noChangeArrowheads="1"/>
          </p:cNvSpPr>
          <p:nvPr/>
        </p:nvSpPr>
        <p:spPr bwMode="auto">
          <a:xfrm>
            <a:off x="6096000" y="4648200"/>
            <a:ext cx="60960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>
                <a:solidFill>
                  <a:schemeClr val="accent1"/>
                </a:solidFill>
              </a:rPr>
              <a:t>T1</a:t>
            </a:r>
          </a:p>
        </p:txBody>
      </p:sp>
      <p:sp>
        <p:nvSpPr>
          <p:cNvPr id="63502" name="Text Box 14"/>
          <p:cNvSpPr txBox="1">
            <a:spLocks noChangeArrowheads="1"/>
          </p:cNvSpPr>
          <p:nvPr/>
        </p:nvSpPr>
        <p:spPr bwMode="auto">
          <a:xfrm>
            <a:off x="6019800" y="4038600"/>
            <a:ext cx="228600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/>
              <a:t>Arc with capacity 1</a:t>
            </a:r>
          </a:p>
        </p:txBody>
      </p:sp>
      <p:sp>
        <p:nvSpPr>
          <p:cNvPr id="63503" name="Oval 15"/>
          <p:cNvSpPr>
            <a:spLocks noChangeArrowheads="1"/>
          </p:cNvSpPr>
          <p:nvPr/>
        </p:nvSpPr>
        <p:spPr bwMode="auto">
          <a:xfrm>
            <a:off x="6400800" y="327660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63504" name="AutoShape 16"/>
          <p:cNvSpPr>
            <a:spLocks noChangeArrowheads="1"/>
          </p:cNvSpPr>
          <p:nvPr/>
        </p:nvSpPr>
        <p:spPr bwMode="auto">
          <a:xfrm>
            <a:off x="6172200" y="5334000"/>
            <a:ext cx="2743200" cy="685800"/>
          </a:xfrm>
          <a:prstGeom prst="cloudCallout">
            <a:avLst>
              <a:gd name="adj1" fmla="val -61519"/>
              <a:gd name="adj2" fmla="val -92593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en-GB"/>
              <a:t>Transition</a:t>
            </a:r>
          </a:p>
        </p:txBody>
      </p:sp>
      <p:sp>
        <p:nvSpPr>
          <p:cNvPr id="63505" name="AutoShape 17"/>
          <p:cNvSpPr>
            <a:spLocks noChangeArrowheads="1"/>
          </p:cNvSpPr>
          <p:nvPr/>
        </p:nvSpPr>
        <p:spPr bwMode="auto">
          <a:xfrm>
            <a:off x="152400" y="5029200"/>
            <a:ext cx="2743200" cy="685800"/>
          </a:xfrm>
          <a:prstGeom prst="cloudCallout">
            <a:avLst>
              <a:gd name="adj1" fmla="val 77199"/>
              <a:gd name="adj2" fmla="val 40741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algn="ctr"/>
            <a:r>
              <a:rPr lang="en-GB"/>
              <a:t>Place</a:t>
            </a: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3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 animBg="1" autoUpdateAnimBg="0"/>
      <p:bldP spid="63504" grpId="0" animBg="1" autoUpdateAnimBg="0"/>
      <p:bldP spid="63505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Capacity</a:t>
            </a:r>
          </a:p>
        </p:txBody>
      </p:sp>
      <p:sp>
        <p:nvSpPr>
          <p:cNvPr id="6451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82000" cy="4876800"/>
          </a:xfrm>
        </p:spPr>
        <p:txBody>
          <a:bodyPr/>
          <a:lstStyle/>
          <a:p>
            <a:r>
              <a:rPr lang="en-GB" b="1" u="sng" dirty="0">
                <a:solidFill>
                  <a:schemeClr val="accent2"/>
                </a:solidFill>
              </a:rPr>
              <a:t>Arcs</a:t>
            </a:r>
            <a:r>
              <a:rPr lang="en-GB" b="1" dirty="0">
                <a:solidFill>
                  <a:schemeClr val="accent1"/>
                </a:solidFill>
              </a:rPr>
              <a:t> have capacity 1 by default;</a:t>
            </a:r>
            <a:r>
              <a:rPr lang="en-GB" dirty="0"/>
              <a:t> if other than 1, the capacity is marked on the arc, or else we use multiple arrows to denote the capacity (i.e. 5 arrows for capacity 5). </a:t>
            </a:r>
          </a:p>
          <a:p>
            <a:r>
              <a:rPr lang="en-GB" b="1" u="sng" dirty="0">
                <a:solidFill>
                  <a:schemeClr val="accent2"/>
                </a:solidFill>
              </a:rPr>
              <a:t>Places</a:t>
            </a:r>
            <a:r>
              <a:rPr lang="en-GB" b="1" dirty="0">
                <a:solidFill>
                  <a:schemeClr val="accent1"/>
                </a:solidFill>
              </a:rPr>
              <a:t> have infinite capacity by default</a:t>
            </a:r>
            <a:r>
              <a:rPr lang="en-GB" dirty="0"/>
              <a:t>. </a:t>
            </a:r>
          </a:p>
          <a:p>
            <a:r>
              <a:rPr lang="en-GB" b="1" u="sng" dirty="0">
                <a:solidFill>
                  <a:schemeClr val="accent2"/>
                </a:solidFill>
              </a:rPr>
              <a:t>Transitions</a:t>
            </a:r>
            <a:r>
              <a:rPr lang="en-GB" dirty="0"/>
              <a:t> </a:t>
            </a:r>
            <a:r>
              <a:rPr lang="en-GB" b="1" dirty="0">
                <a:solidFill>
                  <a:schemeClr val="accent1"/>
                </a:solidFill>
              </a:rPr>
              <a:t>have no capacity</a:t>
            </a:r>
            <a:r>
              <a:rPr lang="en-GB" dirty="0"/>
              <a:t>, and cannot store tokens at all. </a:t>
            </a:r>
          </a:p>
          <a:p>
            <a:endParaRPr lang="en-GB" dirty="0"/>
          </a:p>
          <a:p>
            <a:r>
              <a:rPr lang="en-GB" b="1" dirty="0"/>
              <a:t>Arcs can only connect places to transitions and vice versa. </a:t>
            </a:r>
          </a:p>
          <a:p>
            <a:r>
              <a:rPr lang="en-GB" dirty="0"/>
              <a:t>A few other features and considerations will be added as we need them.</a:t>
            </a:r>
          </a:p>
        </p:txBody>
      </p:sp>
      <p:sp>
        <p:nvSpPr>
          <p:cNvPr id="64516" name="Rectangle 4"/>
          <p:cNvSpPr>
            <a:spLocks noChangeArrowheads="1"/>
          </p:cNvSpPr>
          <p:nvPr/>
        </p:nvSpPr>
        <p:spPr bwMode="auto">
          <a:xfrm flipV="1">
            <a:off x="285720" y="4389444"/>
            <a:ext cx="8610600" cy="39688"/>
          </a:xfrm>
          <a:prstGeom prst="rect">
            <a:avLst/>
          </a:prstGeom>
          <a:solidFill>
            <a:schemeClr val="accent1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Enabled Transitions and Firing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82000" cy="1676400"/>
          </a:xfrm>
        </p:spPr>
        <p:txBody>
          <a:bodyPr/>
          <a:lstStyle/>
          <a:p>
            <a:r>
              <a:rPr lang="en-GB" sz="2400" dirty="0"/>
              <a:t>A </a:t>
            </a:r>
            <a:r>
              <a:rPr lang="en-GB" sz="2400" b="1" dirty="0">
                <a:solidFill>
                  <a:schemeClr val="accent2"/>
                </a:solidFill>
              </a:rPr>
              <a:t>transition is enabled </a:t>
            </a:r>
            <a:r>
              <a:rPr lang="en-GB" sz="2400" dirty="0"/>
              <a:t>when the number of tokens in each of its input places is at least equal to the arc weight going from the place to the transition. </a:t>
            </a:r>
          </a:p>
          <a:p>
            <a:r>
              <a:rPr lang="en-GB" sz="2400" dirty="0"/>
              <a:t>An enabled transition may fire at any time.</a:t>
            </a:r>
          </a:p>
        </p:txBody>
      </p:sp>
      <p:sp>
        <p:nvSpPr>
          <p:cNvPr id="65543" name="AutoShape 7" descr="http://taylor.ces.clemson.edu/ie340/images/penabled.gif"/>
          <p:cNvSpPr>
            <a:spLocks noChangeAspect="1" noChangeArrowheads="1"/>
          </p:cNvSpPr>
          <p:nvPr/>
        </p:nvSpPr>
        <p:spPr bwMode="auto">
          <a:xfrm>
            <a:off x="2635250" y="2039938"/>
            <a:ext cx="3875088" cy="2778125"/>
          </a:xfrm>
          <a:prstGeom prst="rect">
            <a:avLst/>
          </a:prstGeom>
          <a:noFill/>
        </p:spPr>
        <p:txBody>
          <a:bodyPr/>
          <a:lstStyle/>
          <a:p>
            <a:endParaRPr lang="en-GB"/>
          </a:p>
        </p:txBody>
      </p:sp>
      <p:pic>
        <p:nvPicPr>
          <p:cNvPr id="65544" name="Picture 8" descr="D:\Teaching\COMP201\Lectures\pictures\penable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3232150"/>
            <a:ext cx="4572000" cy="3276600"/>
          </a:xfrm>
          <a:prstGeom prst="rect">
            <a:avLst/>
          </a:prstGeom>
          <a:noFill/>
        </p:spPr>
      </p:pic>
      <p:pic>
        <p:nvPicPr>
          <p:cNvPr id="65545" name="Picture 9" descr="D:\Teaching\COMP201\Lectures\pictures\pfired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48200" y="3082925"/>
            <a:ext cx="4114800" cy="3470275"/>
          </a:xfrm>
          <a:prstGeom prst="rect">
            <a:avLst/>
          </a:prstGeom>
          <a:noFill/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15</a:t>
            </a:fld>
            <a:endParaRPr kumimoji="0"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When Arcs have Different Weights…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382000" cy="1905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2400" dirty="0">
                <a:solidFill>
                  <a:schemeClr val="accent1"/>
                </a:solidFill>
              </a:rPr>
              <a:t>When fired</a:t>
            </a:r>
            <a:r>
              <a:rPr lang="en-GB" sz="2400" dirty="0"/>
              <a:t>, </a:t>
            </a:r>
            <a:r>
              <a:rPr lang="en-GB" sz="2400" dirty="0">
                <a:solidFill>
                  <a:schemeClr val="accent2"/>
                </a:solidFill>
              </a:rPr>
              <a:t>the tokens in the input places are moved to output places</a:t>
            </a:r>
            <a:r>
              <a:rPr lang="en-GB" sz="2400" dirty="0"/>
              <a:t>, according to arc weights and place capacities. </a:t>
            </a:r>
          </a:p>
          <a:p>
            <a:pPr>
              <a:lnSpc>
                <a:spcPct val="90000"/>
              </a:lnSpc>
            </a:pPr>
            <a:r>
              <a:rPr lang="en-GB" sz="2400" dirty="0">
                <a:solidFill>
                  <a:schemeClr val="accent1"/>
                </a:solidFill>
              </a:rPr>
              <a:t>This results in a new marking of the net</a:t>
            </a:r>
            <a:r>
              <a:rPr lang="en-GB" sz="2400" dirty="0"/>
              <a:t>, a state description of all places.</a:t>
            </a:r>
          </a:p>
        </p:txBody>
      </p:sp>
      <p:pic>
        <p:nvPicPr>
          <p:cNvPr id="66564" name="Picture 4" descr="D:\Teaching\COMP201\Lectures\pictures\penabled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3197225"/>
            <a:ext cx="4681538" cy="3355975"/>
          </a:xfrm>
          <a:prstGeom prst="rect">
            <a:avLst/>
          </a:prstGeom>
          <a:noFill/>
        </p:spPr>
      </p:pic>
      <p:pic>
        <p:nvPicPr>
          <p:cNvPr id="66565" name="Picture 5" descr="D:\Teaching\COMP201\Lectures\pictures\ptoken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3124200"/>
            <a:ext cx="3962400" cy="3465513"/>
          </a:xfrm>
          <a:prstGeom prst="rect">
            <a:avLst/>
          </a:prstGeom>
          <a:noFill/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7290" y="392906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5666" y="3214686"/>
            <a:ext cx="2744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8794" y="535782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3174" y="514351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Inhibition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17</a:t>
            </a:fld>
            <a:endParaRPr kumimoji="0" lang="en-US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822304" y="1844824"/>
            <a:ext cx="685800" cy="685800"/>
          </a:xfrm>
          <a:prstGeom prst="ellips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3984104" y="3521224"/>
            <a:ext cx="7620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8" name="Oval 8"/>
          <p:cNvSpPr>
            <a:spLocks noChangeArrowheads="1"/>
          </p:cNvSpPr>
          <p:nvPr/>
        </p:nvSpPr>
        <p:spPr bwMode="auto">
          <a:xfrm>
            <a:off x="2460104" y="4130824"/>
            <a:ext cx="685800" cy="685800"/>
          </a:xfrm>
          <a:prstGeom prst="ellips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 flipH="1">
            <a:off x="4441304" y="2530624"/>
            <a:ext cx="609600" cy="9906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3145904" y="3597424"/>
            <a:ext cx="1219200" cy="68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stealth" w="lg" len="lg"/>
          </a:ln>
          <a:effectLst/>
        </p:spPr>
        <p:txBody>
          <a:bodyPr/>
          <a:lstStyle/>
          <a:p>
            <a:endParaRPr lang="en-GB"/>
          </a:p>
        </p:txBody>
      </p:sp>
      <p:sp>
        <p:nvSpPr>
          <p:cNvPr id="11" name="Oval 4"/>
          <p:cNvSpPr>
            <a:spLocks noChangeArrowheads="1"/>
          </p:cNvSpPr>
          <p:nvPr/>
        </p:nvSpPr>
        <p:spPr bwMode="auto">
          <a:xfrm>
            <a:off x="4381500" y="3330724"/>
            <a:ext cx="190500" cy="190500"/>
          </a:xfrm>
          <a:prstGeom prst="ellipse">
            <a:avLst/>
          </a:prstGeom>
          <a:solidFill>
            <a:schemeClr val="bg1"/>
          </a:solidFill>
          <a:ln w="28575">
            <a:solidFill>
              <a:srgbClr val="333399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GB">
              <a:solidFill>
                <a:schemeClr val="accent2"/>
              </a:solidFill>
            </a:endParaRPr>
          </a:p>
        </p:txBody>
      </p:sp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5714256" y="1988840"/>
            <a:ext cx="60960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 dirty="0">
                <a:solidFill>
                  <a:schemeClr val="accent2"/>
                </a:solidFill>
              </a:rPr>
              <a:t>P1</a:t>
            </a:r>
          </a:p>
        </p:txBody>
      </p:sp>
      <p:sp>
        <p:nvSpPr>
          <p:cNvPr id="13" name="Text Box 12"/>
          <p:cNvSpPr txBox="1">
            <a:spLocks noChangeArrowheads="1"/>
          </p:cNvSpPr>
          <p:nvPr/>
        </p:nvSpPr>
        <p:spPr bwMode="auto">
          <a:xfrm>
            <a:off x="3275856" y="4427240"/>
            <a:ext cx="609600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>
                <a:solidFill>
                  <a:schemeClr val="accent2"/>
                </a:solidFill>
              </a:rPr>
              <a:t>P2</a:t>
            </a:r>
          </a:p>
        </p:txBody>
      </p:sp>
      <p:sp>
        <p:nvSpPr>
          <p:cNvPr id="14" name="Oval 15"/>
          <p:cNvSpPr>
            <a:spLocks noChangeArrowheads="1"/>
          </p:cNvSpPr>
          <p:nvPr/>
        </p:nvSpPr>
        <p:spPr bwMode="auto">
          <a:xfrm>
            <a:off x="5050904" y="2073424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5924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75526"/>
            <a:ext cx="8229600" cy="1010400"/>
          </a:xfrm>
        </p:spPr>
        <p:txBody>
          <a:bodyPr>
            <a:noAutofit/>
          </a:bodyPr>
          <a:lstStyle/>
          <a:p>
            <a:r>
              <a:rPr lang="en-GB" sz="3600" dirty="0"/>
              <a:t>A Collection of Primitive Structures that Occur in Real Systems</a:t>
            </a:r>
          </a:p>
        </p:txBody>
      </p:sp>
      <p:pic>
        <p:nvPicPr>
          <p:cNvPr id="67588" name="Picture 4" descr="D:\Teaching\COMP201\Lectures\pictures\primitives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676400"/>
            <a:ext cx="9105678" cy="4704928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18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6" name="Oval 5"/>
          <p:cNvSpPr/>
          <p:nvPr/>
        </p:nvSpPr>
        <p:spPr>
          <a:xfrm>
            <a:off x="8139800" y="5569625"/>
            <a:ext cx="83545" cy="72008"/>
          </a:xfrm>
          <a:prstGeom prst="ellipse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20746"/>
            <a:ext cx="8229600" cy="796086"/>
          </a:xfrm>
        </p:spPr>
        <p:txBody>
          <a:bodyPr>
            <a:normAutofit fontScale="90000"/>
          </a:bodyPr>
          <a:lstStyle/>
          <a:p>
            <a:r>
              <a:rPr lang="en-GB" dirty="0"/>
              <a:t>Re-cap, Petri-Nets invented for</a:t>
            </a:r>
            <a:br>
              <a:rPr lang="en-GB" dirty="0"/>
            </a:br>
            <a:r>
              <a:rPr lang="en-GB" dirty="0"/>
              <a:t>Chemistry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19</a:t>
            </a:fld>
            <a:endParaRPr kumimoji="0" lang="en-US"/>
          </a:p>
        </p:txBody>
      </p:sp>
      <p:sp>
        <p:nvSpPr>
          <p:cNvPr id="6" name="Oval 5"/>
          <p:cNvSpPr/>
          <p:nvPr/>
        </p:nvSpPr>
        <p:spPr>
          <a:xfrm>
            <a:off x="3535163" y="2636912"/>
            <a:ext cx="720080" cy="648072"/>
          </a:xfrm>
          <a:prstGeom prst="ellipse">
            <a:avLst/>
          </a:prstGeom>
          <a:solidFill>
            <a:schemeClr val="bg1"/>
          </a:solidFill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Oval 6"/>
          <p:cNvSpPr/>
          <p:nvPr/>
        </p:nvSpPr>
        <p:spPr>
          <a:xfrm>
            <a:off x="5220072" y="2667704"/>
            <a:ext cx="720080" cy="648072"/>
          </a:xfrm>
          <a:prstGeom prst="ellipse">
            <a:avLst/>
          </a:prstGeom>
          <a:solidFill>
            <a:schemeClr val="bg1"/>
          </a:solidFill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/>
          <p:cNvSpPr/>
          <p:nvPr/>
        </p:nvSpPr>
        <p:spPr>
          <a:xfrm>
            <a:off x="4548926" y="4797152"/>
            <a:ext cx="720080" cy="648072"/>
          </a:xfrm>
          <a:prstGeom prst="ellipse">
            <a:avLst/>
          </a:prstGeom>
          <a:solidFill>
            <a:schemeClr val="bg1"/>
          </a:solidFill>
          <a:ln w="412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5129673" y="2160463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Hydrogen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7824" y="2113692"/>
            <a:ext cx="1321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Oxygen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48139" y="3861048"/>
            <a:ext cx="1603981" cy="2880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4048139" y="3284984"/>
            <a:ext cx="500787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4"/>
          </p:cNvCxnSpPr>
          <p:nvPr/>
        </p:nvCxnSpPr>
        <p:spPr>
          <a:xfrm flipH="1">
            <a:off x="5269006" y="3315776"/>
            <a:ext cx="311106" cy="5452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endCxn id="8" idx="0"/>
          </p:cNvCxnSpPr>
          <p:nvPr/>
        </p:nvCxnSpPr>
        <p:spPr>
          <a:xfrm>
            <a:off x="4850129" y="4148131"/>
            <a:ext cx="58837" cy="64902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36096" y="3284984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</a:t>
            </a:r>
          </a:p>
        </p:txBody>
      </p:sp>
      <p:sp>
        <p:nvSpPr>
          <p:cNvPr id="20" name="Oval 15"/>
          <p:cNvSpPr>
            <a:spLocks noChangeArrowheads="1"/>
          </p:cNvSpPr>
          <p:nvPr/>
        </p:nvSpPr>
        <p:spPr bwMode="auto">
          <a:xfrm>
            <a:off x="3623320" y="2877440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2" name="Oval 15"/>
          <p:cNvSpPr>
            <a:spLocks noChangeArrowheads="1"/>
          </p:cNvSpPr>
          <p:nvPr/>
        </p:nvSpPr>
        <p:spPr bwMode="auto">
          <a:xfrm>
            <a:off x="5279504" y="286273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sp>
        <p:nvSpPr>
          <p:cNvPr id="23" name="Oval 15"/>
          <p:cNvSpPr>
            <a:spLocks noChangeArrowheads="1"/>
          </p:cNvSpPr>
          <p:nvPr/>
        </p:nvSpPr>
        <p:spPr bwMode="auto">
          <a:xfrm>
            <a:off x="5563905" y="2786538"/>
            <a:ext cx="228600" cy="2286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6947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use Petri Nets?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85926"/>
            <a:ext cx="8229600" cy="4538674"/>
          </a:xfrm>
        </p:spPr>
        <p:txBody>
          <a:bodyPr/>
          <a:lstStyle/>
          <a:p>
            <a:r>
              <a:rPr lang="en-GB" dirty="0"/>
              <a:t>Petri nets are </a:t>
            </a:r>
            <a:r>
              <a:rPr lang="en-GB" b="1" dirty="0"/>
              <a:t>non-deterministic</a:t>
            </a:r>
            <a:r>
              <a:rPr lang="en-GB" dirty="0"/>
              <a:t> and thus may be used to model </a:t>
            </a:r>
            <a:r>
              <a:rPr lang="en-GB" u="sng" dirty="0"/>
              <a:t>discrete distributed systems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There may be several arcs which can fire and we do not know in which order this will happen..</a:t>
            </a:r>
          </a:p>
          <a:p>
            <a:r>
              <a:rPr lang="en-GB" dirty="0"/>
              <a:t>There have been many variations and extensions of Petri nets to more effectively model a wider variety of systems.</a:t>
            </a:r>
          </a:p>
          <a:p>
            <a:r>
              <a:rPr lang="en-GB" dirty="0"/>
              <a:t>Since Petri nets have a rigorous mathematical notation, many questions about a system may be verified by studying properties of the Petri net. We shall study them more next lecture.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6" name="Rectangle 5"/>
          <p:cNvSpPr/>
          <p:nvPr/>
        </p:nvSpPr>
        <p:spPr>
          <a:xfrm>
            <a:off x="428596" y="4357694"/>
            <a:ext cx="8215370" cy="1785950"/>
          </a:xfrm>
          <a:prstGeom prst="rect">
            <a:avLst/>
          </a:prstGeom>
          <a:noFill/>
          <a:ln w="31750"/>
          <a:effectLst>
            <a:outerShdw blurRad="38100" dir="2700000" sx="101000" sy="101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/>
              <a:t>Semantic Data Models</a:t>
            </a:r>
            <a:endParaRPr lang="en-GB" dirty="0"/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1"/>
                </a:solidFill>
              </a:rPr>
              <a:t>Used to describe the logical structure of data</a:t>
            </a:r>
            <a:r>
              <a:rPr lang="en-GB" dirty="0"/>
              <a:t> processed by the system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1"/>
                </a:solidFill>
              </a:rPr>
              <a:t>Entity-relation-attribute  model</a:t>
            </a:r>
            <a:r>
              <a:rPr lang="en-GB" dirty="0"/>
              <a:t> sets out the entities in the system, the relationships between these entities and the entity attributes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2"/>
                </a:solidFill>
              </a:rPr>
              <a:t>Widely used in database design.</a:t>
            </a:r>
            <a:r>
              <a:rPr lang="en-GB" dirty="0"/>
              <a:t> Can readily be implemented using relational databases</a:t>
            </a:r>
          </a:p>
          <a:p>
            <a:pPr>
              <a:lnSpc>
                <a:spcPct val="90000"/>
              </a:lnSpc>
            </a:pPr>
            <a:r>
              <a:rPr lang="en-GB" b="1" dirty="0">
                <a:solidFill>
                  <a:schemeClr val="accent2"/>
                </a:solidFill>
              </a:rPr>
              <a:t>No specific notation provided in the UML</a:t>
            </a:r>
            <a:r>
              <a:rPr lang="en-GB" dirty="0"/>
              <a:t> but objects and associations can be used</a:t>
            </a:r>
          </a:p>
          <a:p>
            <a:pPr lvl="1">
              <a:lnSpc>
                <a:spcPct val="90000"/>
              </a:lnSpc>
            </a:pPr>
            <a:r>
              <a:rPr lang="en-GB" dirty="0"/>
              <a:t>Class diagrams show some of the same ideas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500042"/>
            <a:ext cx="8229600" cy="833458"/>
          </a:xfrm>
          <a:noFill/>
          <a:ln/>
        </p:spPr>
        <p:txBody>
          <a:bodyPr/>
          <a:lstStyle/>
          <a:p>
            <a:r>
              <a:rPr lang="en-GB" dirty="0"/>
              <a:t>Software Design Semantic Model</a:t>
            </a:r>
          </a:p>
        </p:txBody>
      </p:sp>
      <p:pic>
        <p:nvPicPr>
          <p:cNvPr id="16388" name="Picture 4" descr="7.8 Design-ERD-uml.eps                                         00002F79Docs                           B1931E2B: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43042" y="1500174"/>
            <a:ext cx="5334000" cy="5029200"/>
          </a:xfrm>
          <a:prstGeom prst="rect">
            <a:avLst/>
          </a:prstGeom>
          <a:noFill/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22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724648"/>
          </a:xfrm>
        </p:spPr>
        <p:txBody>
          <a:bodyPr/>
          <a:lstStyle/>
          <a:p>
            <a:r>
              <a:rPr lang="en-GB" dirty="0"/>
              <a:t>Data Dictionary Entries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23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472" y="1714488"/>
            <a:ext cx="7786742" cy="4512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ct val="20000"/>
              </a:spcBef>
              <a:buClr>
                <a:schemeClr val="tx2"/>
              </a:buClr>
              <a:buSzPct val="50000"/>
              <a:buFont typeface="Arial" pitchFamily="34" charset="0"/>
              <a:buChar char="•"/>
            </a:pPr>
            <a:r>
              <a:rPr lang="en-GB" sz="2400" b="1" dirty="0">
                <a:latin typeface="+mn-lt"/>
              </a:rPr>
              <a:t>A Data dictionaries</a:t>
            </a:r>
            <a:r>
              <a:rPr lang="en-GB" sz="2400" dirty="0">
                <a:latin typeface="+mn-lt"/>
              </a:rPr>
              <a:t> is a list of all of the names used in the system models. </a:t>
            </a:r>
          </a:p>
          <a:p>
            <a:pPr marL="457200" indent="-457200">
              <a:spcBef>
                <a:spcPct val="20000"/>
              </a:spcBef>
              <a:buClr>
                <a:schemeClr val="tx2"/>
              </a:buClr>
              <a:buSzPct val="50000"/>
              <a:buFont typeface="Arial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 Descriptions of the </a:t>
            </a:r>
            <a:r>
              <a:rPr lang="en-GB" sz="2400" u="sng" dirty="0">
                <a:solidFill>
                  <a:schemeClr val="accent3"/>
                </a:solidFill>
                <a:latin typeface="+mn-lt"/>
              </a:rPr>
              <a:t>entities</a:t>
            </a:r>
            <a:r>
              <a:rPr lang="en-GB" sz="2400" dirty="0">
                <a:solidFill>
                  <a:schemeClr val="accent1"/>
                </a:solidFill>
                <a:latin typeface="+mn-lt"/>
              </a:rPr>
              <a:t>, </a:t>
            </a:r>
            <a:r>
              <a:rPr lang="en-GB" sz="2400" u="sng" dirty="0">
                <a:solidFill>
                  <a:schemeClr val="accent3"/>
                </a:solidFill>
                <a:latin typeface="+mn-lt"/>
              </a:rPr>
              <a:t>relationships</a:t>
            </a:r>
            <a:r>
              <a:rPr lang="en-GB" sz="2400" dirty="0">
                <a:solidFill>
                  <a:schemeClr val="accent1"/>
                </a:solidFill>
                <a:latin typeface="+mn-lt"/>
              </a:rPr>
              <a:t> and </a:t>
            </a:r>
            <a:r>
              <a:rPr lang="en-GB" sz="2400" u="sng" dirty="0">
                <a:solidFill>
                  <a:schemeClr val="accent3"/>
                </a:solidFill>
                <a:latin typeface="+mn-lt"/>
              </a:rPr>
              <a:t>attributes</a:t>
            </a:r>
            <a:r>
              <a:rPr lang="en-GB" sz="2400" dirty="0">
                <a:solidFill>
                  <a:schemeClr val="accent1"/>
                </a:solidFill>
                <a:latin typeface="+mn-lt"/>
              </a:rPr>
              <a:t> are also included</a:t>
            </a:r>
          </a:p>
          <a:p>
            <a:pPr marL="457200" indent="-457200">
              <a:spcBef>
                <a:spcPct val="20000"/>
              </a:spcBef>
              <a:buClr>
                <a:schemeClr val="tx2"/>
              </a:buClr>
              <a:buSzPct val="50000"/>
              <a:buFont typeface="Arial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 It may be used for </a:t>
            </a:r>
            <a:r>
              <a:rPr lang="en-GB" sz="2400" b="1" dirty="0">
                <a:solidFill>
                  <a:schemeClr val="accent1"/>
                </a:solidFill>
                <a:latin typeface="+mn-lt"/>
              </a:rPr>
              <a:t>name-management </a:t>
            </a:r>
            <a:r>
              <a:rPr lang="en-GB" sz="2400" dirty="0">
                <a:solidFill>
                  <a:schemeClr val="accent1"/>
                </a:solidFill>
                <a:latin typeface="+mn-lt"/>
              </a:rPr>
              <a:t>so that all names used in a system are consistent and do not clash</a:t>
            </a:r>
          </a:p>
          <a:p>
            <a:pPr marL="457200" indent="-457200">
              <a:spcBef>
                <a:spcPct val="20000"/>
              </a:spcBef>
              <a:buClr>
                <a:schemeClr val="tx2"/>
              </a:buClr>
              <a:buSzPct val="50000"/>
              <a:buFont typeface="Arial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It serves as a store of organisational information so that all data is stored in one location.</a:t>
            </a:r>
          </a:p>
          <a:p>
            <a:pPr marL="457200" indent="-457200">
              <a:spcBef>
                <a:spcPct val="20000"/>
              </a:spcBef>
              <a:buClr>
                <a:schemeClr val="tx2"/>
              </a:buClr>
              <a:buSzPct val="50000"/>
              <a:buFont typeface="Arial" pitchFamily="34" charset="0"/>
              <a:buChar char="•"/>
            </a:pPr>
            <a:r>
              <a:rPr lang="en-GB" sz="2400" dirty="0">
                <a:solidFill>
                  <a:schemeClr val="accent1"/>
                </a:solidFill>
                <a:latin typeface="+mn-lt"/>
              </a:rPr>
              <a:t>On the next slide we shall see an example of a data dictionary..</a:t>
            </a: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57224" y="1643050"/>
            <a:ext cx="7500990" cy="4143404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sx="101000" sy="101000" algn="tl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04088"/>
            <a:ext cx="8229600" cy="724648"/>
          </a:xfrm>
        </p:spPr>
        <p:txBody>
          <a:bodyPr/>
          <a:lstStyle/>
          <a:p>
            <a:r>
              <a:rPr lang="en-GB" dirty="0"/>
              <a:t>Data Dictionary Example</a:t>
            </a:r>
          </a:p>
        </p:txBody>
      </p:sp>
      <p:graphicFrame>
        <p:nvGraphicFramePr>
          <p:cNvPr id="77824" name="Object 0"/>
          <p:cNvGraphicFramePr>
            <a:graphicFrameLocks noChangeAspect="1"/>
          </p:cNvGraphicFramePr>
          <p:nvPr/>
        </p:nvGraphicFramePr>
        <p:xfrm>
          <a:off x="285720" y="1928802"/>
          <a:ext cx="8262938" cy="42862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741800" imgH="4154400" progId="Word.Document.8">
                  <p:embed/>
                </p:oleObj>
              </mc:Choice>
              <mc:Fallback>
                <p:oleObj name="Document" r:id="rId2" imgW="7741800" imgH="4154400" progId="Word.Document.8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359" t="22571" r="5551"/>
                      <a:stretch>
                        <a:fillRect/>
                      </a:stretch>
                    </p:blipFill>
                    <p:spPr bwMode="auto">
                      <a:xfrm>
                        <a:off x="285720" y="1928802"/>
                        <a:ext cx="8262938" cy="42862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24</a:t>
            </a:fld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Object Models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82000" cy="4495800"/>
          </a:xfrm>
          <a:noFill/>
          <a:ln/>
        </p:spPr>
        <p:txBody>
          <a:bodyPr/>
          <a:lstStyle/>
          <a:p>
            <a:r>
              <a:rPr lang="en-GB" b="1" dirty="0">
                <a:solidFill>
                  <a:schemeClr val="accent1"/>
                </a:solidFill>
              </a:rPr>
              <a:t>Object models describe the system in terms of object classes</a:t>
            </a:r>
          </a:p>
          <a:p>
            <a:r>
              <a:rPr lang="en-GB" dirty="0"/>
              <a:t>An </a:t>
            </a:r>
            <a:r>
              <a:rPr lang="en-GB" b="1" dirty="0">
                <a:solidFill>
                  <a:schemeClr val="accent2"/>
                </a:solidFill>
              </a:rPr>
              <a:t>object class</a:t>
            </a:r>
            <a:r>
              <a:rPr lang="en-GB" dirty="0"/>
              <a:t> is an abstraction over a set of objects with common attributes and the services (operations) provided by each object</a:t>
            </a:r>
          </a:p>
          <a:p>
            <a:r>
              <a:rPr lang="en-GB" dirty="0">
                <a:solidFill>
                  <a:schemeClr val="accent2"/>
                </a:solidFill>
              </a:rPr>
              <a:t>Various object models may be produced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Inheritance models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Aggregation models</a:t>
            </a:r>
          </a:p>
          <a:p>
            <a:pPr lvl="1"/>
            <a:r>
              <a:rPr lang="en-GB" dirty="0">
                <a:solidFill>
                  <a:schemeClr val="accent1"/>
                </a:solidFill>
              </a:rPr>
              <a:t>Interaction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dirty="0"/>
              <a:t>Object Models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52600"/>
            <a:ext cx="8382000" cy="4495800"/>
          </a:xfrm>
          <a:noFill/>
          <a:ln/>
        </p:spPr>
        <p:txBody>
          <a:bodyPr/>
          <a:lstStyle/>
          <a:p>
            <a:r>
              <a:rPr lang="en-GB" dirty="0">
                <a:solidFill>
                  <a:schemeClr val="accent2"/>
                </a:solidFill>
              </a:rPr>
              <a:t>Natural ways of reflecting the real-world entities</a:t>
            </a:r>
            <a:r>
              <a:rPr lang="en-GB" dirty="0"/>
              <a:t> manipulated by the system</a:t>
            </a:r>
          </a:p>
          <a:p>
            <a:r>
              <a:rPr lang="en-GB" dirty="0">
                <a:solidFill>
                  <a:schemeClr val="accent2"/>
                </a:solidFill>
              </a:rPr>
              <a:t>More abstract entities are more difficult</a:t>
            </a:r>
            <a:r>
              <a:rPr lang="en-GB" dirty="0"/>
              <a:t> to model using this approach</a:t>
            </a:r>
          </a:p>
          <a:p>
            <a:r>
              <a:rPr lang="en-GB" dirty="0">
                <a:solidFill>
                  <a:schemeClr val="accent1"/>
                </a:solidFill>
              </a:rPr>
              <a:t>Object class identification is recognised as a difficult process </a:t>
            </a:r>
            <a:r>
              <a:rPr lang="en-GB" dirty="0"/>
              <a:t>requiring a deep understanding of the application domain</a:t>
            </a:r>
          </a:p>
          <a:p>
            <a:r>
              <a:rPr lang="en-GB" dirty="0">
                <a:solidFill>
                  <a:schemeClr val="accent1"/>
                </a:solidFill>
              </a:rPr>
              <a:t>Object classes </a:t>
            </a:r>
            <a:r>
              <a:rPr lang="en-GB" dirty="0"/>
              <a:t>reflecting domain entities</a:t>
            </a:r>
            <a:r>
              <a:rPr lang="en-GB" dirty="0">
                <a:solidFill>
                  <a:schemeClr val="accent1"/>
                </a:solidFill>
              </a:rPr>
              <a:t> are reusable across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8382000" cy="1233474"/>
          </a:xfrm>
        </p:spPr>
        <p:txBody>
          <a:bodyPr/>
          <a:lstStyle/>
          <a:p>
            <a:r>
              <a:rPr lang="en-GB" dirty="0"/>
              <a:t>The Unified Modelling Language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Devised by the developers of widely used object-oriented analysis and design methods</a:t>
            </a:r>
          </a:p>
          <a:p>
            <a:r>
              <a:rPr lang="en-GB" sz="2800" dirty="0"/>
              <a:t>Has become an effective standard for </a:t>
            </a:r>
            <a:r>
              <a:rPr lang="en-GB" sz="2800" b="1" dirty="0">
                <a:solidFill>
                  <a:schemeClr val="accent3"/>
                </a:solidFill>
              </a:rPr>
              <a:t>object-oriented modelling</a:t>
            </a:r>
          </a:p>
          <a:p>
            <a:r>
              <a:rPr lang="en-GB" sz="2800" dirty="0"/>
              <a:t>We will study UML in more detail in later lectures</a:t>
            </a:r>
          </a:p>
          <a:p>
            <a:pPr lvl="1"/>
            <a:r>
              <a:rPr lang="en-GB" dirty="0"/>
              <a:t>For now, note that UML is an expressive, easy to use, unambiguous and widely used </a:t>
            </a:r>
            <a:r>
              <a:rPr lang="en-GB" dirty="0" err="1"/>
              <a:t>modeling</a:t>
            </a:r>
            <a:r>
              <a:rPr lang="en-GB" dirty="0"/>
              <a:t> language which is well supported by a variety of suitable tools (both proprietary and open source CASE tools).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27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Unified </a:t>
            </a:r>
            <a:r>
              <a:rPr lang="en-GB" dirty="0" err="1"/>
              <a:t>Modeling</a:t>
            </a:r>
            <a:r>
              <a:rPr lang="en-GB" dirty="0"/>
              <a:t>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unified </a:t>
            </a:r>
            <a:r>
              <a:rPr lang="en-GB" dirty="0" err="1"/>
              <a:t>modeling</a:t>
            </a:r>
            <a:r>
              <a:rPr lang="en-GB" dirty="0"/>
              <a:t> language contains many different types of diagram we may use to model systems, for example:</a:t>
            </a:r>
          </a:p>
          <a:p>
            <a:pPr lvl="1"/>
            <a:r>
              <a:rPr lang="en-GB" dirty="0"/>
              <a:t>Use-case diagrams</a:t>
            </a:r>
          </a:p>
          <a:p>
            <a:pPr lvl="1"/>
            <a:r>
              <a:rPr lang="en-GB" dirty="0"/>
              <a:t>Class diagrams</a:t>
            </a:r>
          </a:p>
          <a:p>
            <a:pPr lvl="1"/>
            <a:r>
              <a:rPr lang="en-GB" dirty="0"/>
              <a:t>Sequence diagrams</a:t>
            </a:r>
          </a:p>
          <a:p>
            <a:pPr lvl="1"/>
            <a:r>
              <a:rPr lang="en-GB" dirty="0" err="1"/>
              <a:t>Statechart</a:t>
            </a:r>
            <a:r>
              <a:rPr lang="en-GB" dirty="0"/>
              <a:t> diagrams</a:t>
            </a:r>
          </a:p>
          <a:p>
            <a:pPr lvl="1"/>
            <a:r>
              <a:rPr lang="en-GB" dirty="0"/>
              <a:t>Deployment diagrams</a:t>
            </a:r>
          </a:p>
          <a:p>
            <a:pPr lvl="1"/>
            <a:r>
              <a:rPr lang="en-GB" dirty="0"/>
              <a:t>Etc.</a:t>
            </a:r>
          </a:p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28</a:t>
            </a:fld>
            <a:endParaRPr kumimoji="0"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66700"/>
            <a:ext cx="8382000" cy="1233474"/>
          </a:xfrm>
        </p:spPr>
        <p:txBody>
          <a:bodyPr/>
          <a:lstStyle/>
          <a:p>
            <a:r>
              <a:rPr lang="en-GB" dirty="0"/>
              <a:t>The Unified </a:t>
            </a:r>
            <a:r>
              <a:rPr lang="en-GB" dirty="0" err="1"/>
              <a:t>Modeling</a:t>
            </a:r>
            <a:r>
              <a:rPr lang="en-GB" dirty="0"/>
              <a:t> Language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Notation for UML Class Diagrams:</a:t>
            </a:r>
          </a:p>
          <a:p>
            <a:pPr lvl="1"/>
            <a:r>
              <a:rPr lang="en-GB" sz="2800" dirty="0"/>
              <a:t>Object classes are rectangles with the </a:t>
            </a:r>
            <a:r>
              <a:rPr lang="en-GB" sz="2800" b="1" dirty="0"/>
              <a:t>name</a:t>
            </a:r>
            <a:r>
              <a:rPr lang="en-GB" sz="2800" dirty="0"/>
              <a:t> at the top, </a:t>
            </a:r>
            <a:r>
              <a:rPr lang="en-GB" sz="2800" b="1" dirty="0"/>
              <a:t>attributes</a:t>
            </a:r>
            <a:r>
              <a:rPr lang="en-GB" sz="2800" dirty="0"/>
              <a:t> in the middle section and </a:t>
            </a:r>
            <a:r>
              <a:rPr lang="en-GB" sz="2800" b="1" dirty="0"/>
              <a:t>operations</a:t>
            </a:r>
            <a:r>
              <a:rPr lang="en-GB" sz="2800" dirty="0"/>
              <a:t> in the bottom section</a:t>
            </a:r>
          </a:p>
          <a:p>
            <a:pPr lvl="1"/>
            <a:r>
              <a:rPr lang="en-GB" sz="2800" dirty="0"/>
              <a:t>Relationships between object classes (known as associations) are shown as lines linking objects</a:t>
            </a:r>
          </a:p>
          <a:p>
            <a:pPr lvl="1"/>
            <a:r>
              <a:rPr lang="en-GB" sz="2800" dirty="0"/>
              <a:t>Inheritance is referred to as generalisation and is shown ‘upwards’ rather than ‘downwards’ in a hierarchy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29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COMP201 - Software Engineering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 lIns="90487" tIns="44450" rIns="90487" bIns="44450" anchor="b"/>
          <a:lstStyle/>
          <a:p>
            <a:r>
              <a:rPr lang="en-GB" dirty="0"/>
              <a:t>Lecture Key Points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14488"/>
            <a:ext cx="8229600" cy="4610112"/>
          </a:xfrm>
          <a:noFill/>
          <a:ln/>
        </p:spPr>
        <p:txBody>
          <a:bodyPr lIns="90487" tIns="44450" rIns="90487" bIns="44450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>
                <a:solidFill>
                  <a:schemeClr val="accent3"/>
                </a:solidFill>
              </a:rPr>
              <a:t>Semantic data models </a:t>
            </a:r>
            <a:r>
              <a:rPr lang="en-GB" sz="2800" dirty="0"/>
              <a:t>describe the logical structure of data which is imported to or exported by the systems.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Object models describe logical system entities, their classification and aggregation.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Sequence models show the interactions between actors and the system objects that they use.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Structured methods provide a framework for developing system models.</a:t>
            </a:r>
          </a:p>
          <a:p>
            <a:pPr>
              <a:lnSpc>
                <a:spcPct val="90000"/>
              </a:lnSpc>
            </a:pPr>
            <a:r>
              <a:rPr lang="en-GB" sz="2800" dirty="0"/>
              <a:t>Next lecture: an in-depth look at Petri nets.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Custom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1F1F33"/>
      </a:accent1>
      <a:accent2>
        <a:srgbClr val="B54703"/>
      </a:accent2>
      <a:accent3>
        <a:srgbClr val="CE0202"/>
      </a:accent3>
      <a:accent4>
        <a:srgbClr val="C4652D"/>
      </a:accent4>
      <a:accent5>
        <a:srgbClr val="8B5D3D"/>
      </a:accent5>
      <a:accent6>
        <a:srgbClr val="3F6E8C"/>
      </a:accent6>
      <a:hlink>
        <a:srgbClr val="E0EFF1"/>
      </a:hlink>
      <a:folHlink>
        <a:srgbClr val="C2A87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3475</TotalTime>
  <Pages>31</Pages>
  <Words>1740</Words>
  <Application>Microsoft Office PowerPoint</Application>
  <PresentationFormat>On-screen Show (4:3)</PresentationFormat>
  <Paragraphs>218</Paragraphs>
  <Slides>30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Times</vt:lpstr>
      <vt:lpstr>Wingdings 2</vt:lpstr>
      <vt:lpstr>Zapf Dingbats</vt:lpstr>
      <vt:lpstr>Flow</vt:lpstr>
      <vt:lpstr>Document</vt:lpstr>
      <vt:lpstr>Software Engineering COMP 201</vt:lpstr>
      <vt:lpstr>Introduction</vt:lpstr>
      <vt:lpstr>Finite State Machines - Recap</vt:lpstr>
      <vt:lpstr>Finite State Machines - Recap</vt:lpstr>
      <vt:lpstr>Variants of FSMs</vt:lpstr>
      <vt:lpstr>Finite State Machines with Output (Mealy and Moore Machines)</vt:lpstr>
      <vt:lpstr>Moore Machine</vt:lpstr>
      <vt:lpstr>Example - Moore Machine</vt:lpstr>
      <vt:lpstr>Mealy Machine</vt:lpstr>
      <vt:lpstr>A Mealy Machine Produces Output  on a Transition</vt:lpstr>
      <vt:lpstr>A Mealy Machine Produces Output  on a Transition</vt:lpstr>
      <vt:lpstr>Petri Net Models</vt:lpstr>
      <vt:lpstr>The Basics</vt:lpstr>
      <vt:lpstr>Capacity</vt:lpstr>
      <vt:lpstr>Enabled Transitions and Firing</vt:lpstr>
      <vt:lpstr>When Arcs have Different Weights…</vt:lpstr>
      <vt:lpstr>Inhibition</vt:lpstr>
      <vt:lpstr>A Collection of Primitive Structures that Occur in Real Systems</vt:lpstr>
      <vt:lpstr>Re-cap, Petri-Nets invented for Chemistry </vt:lpstr>
      <vt:lpstr>Why use Petri Nets?</vt:lpstr>
      <vt:lpstr>Semantic Data Models</vt:lpstr>
      <vt:lpstr>Software Design Semantic Model</vt:lpstr>
      <vt:lpstr>Data Dictionary Entries</vt:lpstr>
      <vt:lpstr>Data Dictionary Example</vt:lpstr>
      <vt:lpstr>Object Models</vt:lpstr>
      <vt:lpstr>Object Models</vt:lpstr>
      <vt:lpstr>The Unified Modelling Language</vt:lpstr>
      <vt:lpstr>The Unified Modeling Language</vt:lpstr>
      <vt:lpstr>The Unified Modeling Language</vt:lpstr>
      <vt:lpstr>Lecture Key Points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models</dc:title>
  <dc:creator>seb.coope@gmail.com</dc:creator>
  <cp:lastModifiedBy>Coope, Sebastian</cp:lastModifiedBy>
  <cp:revision>152</cp:revision>
  <cp:lastPrinted>2001-08-10T22:31:33Z</cp:lastPrinted>
  <dcterms:created xsi:type="dcterms:W3CDTF">1995-12-27T13:19:17Z</dcterms:created>
  <dcterms:modified xsi:type="dcterms:W3CDTF">2023-09-12T17:21:32Z</dcterms:modified>
</cp:coreProperties>
</file>