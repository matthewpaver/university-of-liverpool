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338" r:id="rId2"/>
    <p:sldId id="351" r:id="rId3"/>
    <p:sldId id="352" r:id="rId4"/>
    <p:sldId id="356" r:id="rId5"/>
    <p:sldId id="354" r:id="rId6"/>
    <p:sldId id="342" r:id="rId7"/>
    <p:sldId id="344" r:id="rId8"/>
    <p:sldId id="346" r:id="rId9"/>
    <p:sldId id="256" r:id="rId10"/>
    <p:sldId id="347" r:id="rId11"/>
    <p:sldId id="270" r:id="rId12"/>
    <p:sldId id="271" r:id="rId13"/>
    <p:sldId id="308" r:id="rId14"/>
    <p:sldId id="348" r:id="rId15"/>
    <p:sldId id="274" r:id="rId16"/>
    <p:sldId id="273" r:id="rId17"/>
    <p:sldId id="275" r:id="rId18"/>
    <p:sldId id="353" r:id="rId19"/>
    <p:sldId id="357" r:id="rId20"/>
    <p:sldId id="326" r:id="rId21"/>
    <p:sldId id="327" r:id="rId22"/>
    <p:sldId id="349" r:id="rId23"/>
    <p:sldId id="358" r:id="rId24"/>
    <p:sldId id="355" r:id="rId25"/>
    <p:sldId id="343" r:id="rId26"/>
  </p:sldIdLst>
  <p:sldSz cx="9105900" cy="6832600"/>
  <p:notesSz cx="6858000" cy="97663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FFFF00"/>
    <a:srgbClr val="FF00FF"/>
    <a:srgbClr val="0000FF"/>
    <a:srgbClr val="00FF00"/>
    <a:srgbClr val="FF0000"/>
    <a:srgbClr val="009999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90" d="100"/>
          <a:sy n="90" d="100"/>
        </p:scale>
        <p:origin x="667" y="67"/>
      </p:cViewPr>
      <p:guideLst>
        <p:guide orient="horz" pos="2152"/>
        <p:guide pos="286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004"/>
    </p:cViewPr>
  </p:sorterViewPr>
  <p:notesViewPr>
    <p:cSldViewPr>
      <p:cViewPr varScale="1">
        <p:scale>
          <a:sx n="72" d="100"/>
          <a:sy n="72" d="100"/>
        </p:scale>
        <p:origin x="-1696" y="-104"/>
      </p:cViewPr>
      <p:guideLst>
        <p:guide orient="horz" pos="3076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1.xml"/><Relationship Id="rId3" Type="http://schemas.openxmlformats.org/officeDocument/2006/relationships/slide" Target="slides/slide11.xml"/><Relationship Id="rId7" Type="http://schemas.openxmlformats.org/officeDocument/2006/relationships/slide" Target="slides/slide20.xml"/><Relationship Id="rId2" Type="http://schemas.openxmlformats.org/officeDocument/2006/relationships/slide" Target="slides/slide9.xml"/><Relationship Id="rId1" Type="http://schemas.openxmlformats.org/officeDocument/2006/relationships/slide" Target="slides/slide1.xml"/><Relationship Id="rId6" Type="http://schemas.openxmlformats.org/officeDocument/2006/relationships/slide" Target="slides/slide17.xml"/><Relationship Id="rId5" Type="http://schemas.openxmlformats.org/officeDocument/2006/relationships/slide" Target="slides/slide15.xml"/><Relationship Id="rId4" Type="http://schemas.openxmlformats.org/officeDocument/2006/relationships/slide" Target="slides/slide13.xml"/><Relationship Id="rId9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639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185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notes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32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854075"/>
            <a:ext cx="45529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678740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  <p:sp>
        <p:nvSpPr>
          <p:cNvPr id="542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71625" y="833438"/>
            <a:ext cx="3689350" cy="2768600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  <p:sp>
        <p:nvSpPr>
          <p:cNvPr id="573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  <p:sp>
        <p:nvSpPr>
          <p:cNvPr id="5837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  <p:sp>
        <p:nvSpPr>
          <p:cNvPr id="593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1177" y="1366520"/>
            <a:ext cx="7818933" cy="1822027"/>
          </a:xfrm>
          <a:ln>
            <a:noFill/>
          </a:ln>
        </p:spPr>
        <p:txBody>
          <a:bodyPr vert="horz" tIns="0" rIns="18215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1178" y="3216578"/>
            <a:ext cx="7821968" cy="1746109"/>
          </a:xfrm>
        </p:spPr>
        <p:txBody>
          <a:bodyPr lIns="0" rIns="18215"/>
          <a:lstStyle>
            <a:lvl1pPr marL="0" marR="45537" indent="0" algn="r">
              <a:buNone/>
              <a:defRPr>
                <a:solidFill>
                  <a:schemeClr val="tx1"/>
                </a:solidFill>
              </a:defRPr>
            </a:lvl1pPr>
            <a:lvl2pPr marL="455371" indent="0" algn="ctr">
              <a:buNone/>
            </a:lvl2pPr>
            <a:lvl3pPr marL="910742" indent="0" algn="ctr">
              <a:buNone/>
            </a:lvl3pPr>
            <a:lvl4pPr marL="1366114" indent="0" algn="ctr">
              <a:buNone/>
            </a:lvl4pPr>
            <a:lvl5pPr marL="1821485" indent="0" algn="ctr">
              <a:buNone/>
            </a:lvl5pPr>
            <a:lvl6pPr marL="2276856" indent="0" algn="ctr">
              <a:buNone/>
            </a:lvl6pPr>
            <a:lvl7pPr marL="2732227" indent="0" algn="ctr">
              <a:buNone/>
            </a:lvl7pPr>
            <a:lvl8pPr marL="3187598" indent="0" algn="ctr">
              <a:buNone/>
            </a:lvl8pPr>
            <a:lvl9pPr marL="364297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3" y="701481"/>
            <a:ext cx="8169621" cy="785993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42" y="1311859"/>
            <a:ext cx="7740015" cy="1357410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142" y="2694647"/>
            <a:ext cx="7740015" cy="1504120"/>
          </a:xfrm>
        </p:spPr>
        <p:txBody>
          <a:bodyPr lIns="45537" rIns="45537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701480"/>
            <a:ext cx="8195310" cy="1138767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295" y="1912973"/>
            <a:ext cx="4021773" cy="441841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8832" y="1912973"/>
            <a:ext cx="4021773" cy="441841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701480"/>
            <a:ext cx="8195310" cy="1138767"/>
          </a:xfrm>
        </p:spPr>
        <p:txBody>
          <a:bodyPr tIns="45537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295" y="1848377"/>
            <a:ext cx="4023354" cy="656910"/>
          </a:xfrm>
        </p:spPr>
        <p:txBody>
          <a:bodyPr lIns="45537" tIns="0" rIns="45537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25671" y="1852869"/>
            <a:ext cx="4024934" cy="652418"/>
          </a:xfrm>
        </p:spPr>
        <p:txBody>
          <a:bodyPr lIns="45537" tIns="0" rIns="45537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5295" y="2505286"/>
            <a:ext cx="4023354" cy="3831477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5671" y="2505286"/>
            <a:ext cx="4024934" cy="3831477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95" y="701480"/>
            <a:ext cx="8271193" cy="1138767"/>
          </a:xfrm>
        </p:spPr>
        <p:txBody>
          <a:bodyPr vert="horz" tIns="45537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943" y="512447"/>
            <a:ext cx="2731770" cy="1157746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2943" y="1670191"/>
            <a:ext cx="2731770" cy="4555067"/>
          </a:xfrm>
        </p:spPr>
        <p:txBody>
          <a:bodyPr lIns="18215" rIns="18215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60154" y="1670191"/>
            <a:ext cx="5090451" cy="4555067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52562" y="1103973"/>
            <a:ext cx="5235893" cy="409956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074" tIns="45537" rIns="91074" bIns="45537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7970784" y="5339918"/>
            <a:ext cx="154800" cy="154872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074" tIns="45537" rIns="91074" bIns="45537"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060" y="1172637"/>
            <a:ext cx="2203628" cy="1576759"/>
          </a:xfrm>
        </p:spPr>
        <p:txBody>
          <a:bodyPr vert="horz" lIns="45537" tIns="45537" rIns="45537" bIns="45537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7060" y="2818308"/>
            <a:ext cx="2200593" cy="2171248"/>
          </a:xfrm>
        </p:spPr>
        <p:txBody>
          <a:bodyPr lIns="63752" rIns="45537" bIns="45537" anchor="t"/>
          <a:lstStyle>
            <a:lvl1pPr marL="0" indent="0" algn="l">
              <a:spcBef>
                <a:spcPts val="249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3545" y="6332808"/>
            <a:ext cx="607060" cy="363773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71269" y="1195075"/>
            <a:ext cx="4598480" cy="3917357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486" y="5795057"/>
            <a:ext cx="9124871" cy="103754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74" tIns="45537" rIns="91074" bIns="4553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63244" y="6196789"/>
            <a:ext cx="4742656" cy="6358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74" tIns="45537" rIns="91074" bIns="4553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1777" y="911015"/>
            <a:ext cx="2048828" cy="519246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295" y="911015"/>
            <a:ext cx="5994718" cy="51924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486" y="-7118"/>
            <a:ext cx="9124871" cy="103754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74" tIns="45537" rIns="91074" bIns="4553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63244" y="-7117"/>
            <a:ext cx="4742656" cy="6358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074" tIns="45537" rIns="91074" bIns="45537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5295" y="558780"/>
            <a:ext cx="8195310" cy="928695"/>
          </a:xfrm>
          <a:prstGeom prst="rect">
            <a:avLst/>
          </a:prstGeom>
        </p:spPr>
        <p:txBody>
          <a:bodyPr vert="horz" lIns="0" tIns="45537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5295" y="1928312"/>
            <a:ext cx="8195310" cy="4372864"/>
          </a:xfrm>
          <a:prstGeom prst="rect">
            <a:avLst/>
          </a:prstGeom>
        </p:spPr>
        <p:txBody>
          <a:bodyPr vert="horz" lIns="91074" tIns="45537" rIns="91074" bIns="45537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5295" y="6332808"/>
            <a:ext cx="2124710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7/21/2009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55888" y="6332808"/>
            <a:ext cx="3338830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891780" y="6332808"/>
            <a:ext cx="758825" cy="363773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8938" y="201659"/>
            <a:ext cx="9142296" cy="646819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3223" indent="-273223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7520" indent="-24590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0742" indent="-24590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3965" indent="-209471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57188" indent="-209471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0411" indent="-209471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2559" indent="-182148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85782" indent="-182148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59004" indent="-182148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53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074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661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14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768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3222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875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42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52686" y="844532"/>
            <a:ext cx="6277003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Software Engineering</a:t>
            </a:r>
            <a:br>
              <a:rPr lang="en-GB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GB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COMP 201</a:t>
            </a:r>
            <a:endParaRPr lang="en-GB" sz="5000" b="1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38108" y="2508267"/>
            <a:ext cx="8585200" cy="3265487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Lecturer: </a:t>
            </a:r>
            <a:r>
              <a:rPr lang="en-GB" b="1" dirty="0"/>
              <a:t>Sebastian </a:t>
            </a:r>
            <a:r>
              <a:rPr lang="en-GB" b="1" dirty="0" err="1"/>
              <a:t>Coope</a:t>
            </a:r>
            <a:endParaRPr lang="en-GB" b="1" dirty="0"/>
          </a:p>
          <a:p>
            <a:r>
              <a:rPr lang="en-GB" i="1" dirty="0"/>
              <a:t>Ashton Building, Room G.18</a:t>
            </a:r>
          </a:p>
          <a:p>
            <a:r>
              <a:rPr lang="en-GB" i="1" dirty="0"/>
              <a:t>E-mail: </a:t>
            </a:r>
            <a:r>
              <a:rPr lang="en-GB" b="1" i="1" dirty="0"/>
              <a:t>coopes@liverpool.ac.uk </a:t>
            </a:r>
            <a:endParaRPr lang="en-GB" sz="2400" b="1" i="1" dirty="0"/>
          </a:p>
          <a:p>
            <a:endParaRPr lang="en-GB" sz="2000" b="1" i="1" dirty="0"/>
          </a:p>
          <a:p>
            <a:r>
              <a:rPr lang="en-GB" b="1" dirty="0"/>
              <a:t>COMP 201 web-page:</a:t>
            </a:r>
          </a:p>
          <a:p>
            <a:r>
              <a:rPr lang="en-GB" sz="2200" b="1" dirty="0"/>
              <a:t>http://www.csc.liv.ac.uk/~coopes/comp201</a:t>
            </a:r>
          </a:p>
          <a:p>
            <a:pPr eaLnBrk="1" hangingPunct="1"/>
            <a:endParaRPr lang="en-GB" sz="2400" b="1" dirty="0"/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b="1" u="sng" dirty="0"/>
              <a:t>Lecture 2</a:t>
            </a:r>
            <a:r>
              <a:rPr lang="en-GB" sz="2800" u="sng" dirty="0"/>
              <a:t> – Software Processes</a:t>
            </a:r>
          </a:p>
          <a:p>
            <a:pPr eaLnBrk="1" hangingPunct="1"/>
            <a:endParaRPr lang="en-GB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3" y="542075"/>
            <a:ext cx="8169621" cy="785993"/>
          </a:xfrm>
        </p:spPr>
        <p:txBody>
          <a:bodyPr>
            <a:normAutofit/>
          </a:bodyPr>
          <a:lstStyle/>
          <a:p>
            <a:r>
              <a:rPr lang="en-GB" dirty="0"/>
              <a:t>Processes (building a house)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  <p:pic>
        <p:nvPicPr>
          <p:cNvPr id="1026" name="Picture 2" descr="http://www.unisonmanchester.org/wp-content/uploads/2013/03/house-build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566" y="1400076"/>
            <a:ext cx="7345189" cy="4888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58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43594" y="326051"/>
            <a:ext cx="8169621" cy="785993"/>
          </a:xfrm>
        </p:spPr>
        <p:txBody>
          <a:bodyPr/>
          <a:lstStyle/>
          <a:p>
            <a:r>
              <a:rPr lang="en-GB" dirty="0"/>
              <a:t>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494" y="1112044"/>
            <a:ext cx="8195310" cy="4372864"/>
          </a:xfrm>
        </p:spPr>
        <p:txBody>
          <a:bodyPr>
            <a:noAutofit/>
          </a:bodyPr>
          <a:lstStyle/>
          <a:p>
            <a:r>
              <a:rPr lang="en-GB" sz="2400" dirty="0"/>
              <a:t>What to build?</a:t>
            </a:r>
          </a:p>
          <a:p>
            <a:r>
              <a:rPr lang="en-GB" sz="2400" dirty="0"/>
              <a:t>Where to build?</a:t>
            </a:r>
          </a:p>
          <a:p>
            <a:r>
              <a:rPr lang="en-GB" sz="2400" dirty="0"/>
              <a:t>How much money?</a:t>
            </a:r>
          </a:p>
          <a:p>
            <a:r>
              <a:rPr lang="en-GB" sz="2400" dirty="0"/>
              <a:t>Get the money</a:t>
            </a:r>
          </a:p>
          <a:p>
            <a:r>
              <a:rPr lang="en-GB" sz="2400" dirty="0"/>
              <a:t>Design the build (Detailed plans, timescales etc.)</a:t>
            </a:r>
          </a:p>
          <a:p>
            <a:r>
              <a:rPr lang="en-GB" sz="2400" dirty="0"/>
              <a:t>Get permissions?</a:t>
            </a:r>
          </a:p>
          <a:p>
            <a:r>
              <a:rPr lang="en-GB" sz="2400" dirty="0"/>
              <a:t>Start with foundations</a:t>
            </a:r>
          </a:p>
          <a:p>
            <a:r>
              <a:rPr lang="en-GB" sz="2400" dirty="0"/>
              <a:t>Build up from foundations</a:t>
            </a:r>
          </a:p>
          <a:p>
            <a:r>
              <a:rPr lang="en-GB" sz="2400" dirty="0"/>
              <a:t>Fully test everything</a:t>
            </a:r>
          </a:p>
          <a:p>
            <a:r>
              <a:rPr lang="en-GB" sz="2400" dirty="0"/>
              <a:t>When basic structure complete, make sure it is looks right</a:t>
            </a:r>
          </a:p>
          <a:p>
            <a:r>
              <a:rPr lang="en-GB" sz="2400" dirty="0"/>
              <a:t>Show to customer</a:t>
            </a:r>
          </a:p>
          <a:p>
            <a:r>
              <a:rPr lang="en-GB" sz="2400" dirty="0"/>
              <a:t>Re-adjust to customers feedback</a:t>
            </a:r>
          </a:p>
          <a:p>
            <a:endParaRPr lang="en-GB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862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Does the previous list apply to Software?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711795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3" y="463972"/>
            <a:ext cx="8169621" cy="785993"/>
          </a:xfrm>
        </p:spPr>
        <p:txBody>
          <a:bodyPr/>
          <a:lstStyle/>
          <a:p>
            <a:r>
              <a:rPr lang="en-GB" dirty="0"/>
              <a:t>Task order  (early fix is easy)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590" y="1328068"/>
            <a:ext cx="6504723" cy="4878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288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Process … 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66670" y="1670050"/>
            <a:ext cx="8491568" cy="47307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When we provide a service or create a product we always follow a sequence of steps to accomplish a set of tasks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You do not usually </a:t>
            </a:r>
          </a:p>
          <a:p>
            <a:pPr lvl="2">
              <a:lnSpc>
                <a:spcPct val="90000"/>
              </a:lnSpc>
            </a:pPr>
            <a:r>
              <a:rPr lang="en-GB" dirty="0"/>
              <a:t>put up the drywall before the wiring for a house is installed or</a:t>
            </a:r>
          </a:p>
          <a:p>
            <a:pPr lvl="2">
              <a:lnSpc>
                <a:spcPct val="90000"/>
              </a:lnSpc>
            </a:pPr>
            <a:r>
              <a:rPr lang="en-GB" dirty="0"/>
              <a:t>bake a cake before all the ingredients are mixed together</a:t>
            </a:r>
          </a:p>
          <a:p>
            <a:pPr>
              <a:lnSpc>
                <a:spcPct val="90000"/>
              </a:lnSpc>
            </a:pPr>
            <a:r>
              <a:rPr lang="en-GB" dirty="0"/>
              <a:t>We can think of a series of activities as a</a:t>
            </a: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b="1" dirty="0">
                <a:solidFill>
                  <a:schemeClr val="accent3"/>
                </a:solidFill>
              </a:rPr>
              <a:t>process</a:t>
            </a:r>
          </a:p>
          <a:p>
            <a:pPr>
              <a:lnSpc>
                <a:spcPct val="90000"/>
              </a:lnSpc>
            </a:pPr>
            <a:r>
              <a:rPr lang="en-GB" dirty="0"/>
              <a:t>During this lecture we shall see some examples of software development processes that are used to ensure software is developed in a systematic way using tried and tested techniques</a:t>
            </a:r>
          </a:p>
          <a:p>
            <a:pPr>
              <a:lnSpc>
                <a:spcPct val="90000"/>
              </a:lnSpc>
            </a:pPr>
            <a:endParaRPr lang="en-GB" sz="12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Process … 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70050"/>
            <a:ext cx="8529638" cy="47307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Any process has the following characteristics</a:t>
            </a:r>
          </a:p>
          <a:p>
            <a:pPr lvl="1">
              <a:lnSpc>
                <a:spcPct val="90000"/>
              </a:lnSpc>
            </a:pPr>
            <a:r>
              <a:rPr lang="en-GB" sz="2800" dirty="0"/>
              <a:t>It prescribes all of the </a:t>
            </a:r>
            <a:r>
              <a:rPr lang="en-GB" sz="2800" dirty="0">
                <a:solidFill>
                  <a:schemeClr val="accent3"/>
                </a:solidFill>
              </a:rPr>
              <a:t>major activities</a:t>
            </a:r>
          </a:p>
          <a:p>
            <a:pPr lvl="1">
              <a:lnSpc>
                <a:spcPct val="90000"/>
              </a:lnSpc>
            </a:pPr>
            <a:r>
              <a:rPr lang="en-GB" sz="2800" dirty="0"/>
              <a:t>It uses resources and produces </a:t>
            </a:r>
            <a:r>
              <a:rPr lang="en-GB" sz="2800" dirty="0">
                <a:solidFill>
                  <a:schemeClr val="accent3"/>
                </a:solidFill>
              </a:rPr>
              <a:t>intermediate and final products</a:t>
            </a:r>
          </a:p>
          <a:p>
            <a:pPr lvl="1">
              <a:lnSpc>
                <a:spcPct val="90000"/>
              </a:lnSpc>
            </a:pPr>
            <a:r>
              <a:rPr lang="en-GB" sz="2800" dirty="0"/>
              <a:t>It may include sub-processes and </a:t>
            </a:r>
            <a:r>
              <a:rPr lang="en-GB" sz="2800" dirty="0">
                <a:solidFill>
                  <a:schemeClr val="accent3"/>
                </a:solidFill>
              </a:rPr>
              <a:t>has entry and exit criteria</a:t>
            </a:r>
          </a:p>
          <a:p>
            <a:pPr lvl="1">
              <a:lnSpc>
                <a:spcPct val="90000"/>
              </a:lnSpc>
            </a:pPr>
            <a:r>
              <a:rPr lang="en-GB" sz="2800" dirty="0"/>
              <a:t>The activities are </a:t>
            </a:r>
            <a:r>
              <a:rPr lang="en-GB" sz="2800" dirty="0">
                <a:solidFill>
                  <a:schemeClr val="accent3"/>
                </a:solidFill>
              </a:rPr>
              <a:t>organized in a sequence</a:t>
            </a:r>
          </a:p>
          <a:p>
            <a:pPr lvl="1">
              <a:lnSpc>
                <a:spcPct val="90000"/>
              </a:lnSpc>
            </a:pPr>
            <a:r>
              <a:rPr lang="en-GB" sz="2800" dirty="0"/>
              <a:t>Constraints or controls may apply to activities 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sz="2800" dirty="0"/>
              <a:t>	(budget constraints, availability of resources , etc.)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983" y="1190147"/>
            <a:ext cx="8169621" cy="78599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Process</a:t>
            </a:r>
            <a:br>
              <a:rPr lang="en-GB" b="1" dirty="0"/>
            </a:br>
            <a:r>
              <a:rPr lang="en-GB" b="1" dirty="0"/>
              <a:t>Building development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6" name="Rounded Rectangle 5"/>
          <p:cNvSpPr/>
          <p:nvPr/>
        </p:nvSpPr>
        <p:spPr>
          <a:xfrm>
            <a:off x="7289254" y="3128268"/>
            <a:ext cx="1728192" cy="1019574"/>
          </a:xfrm>
          <a:prstGeom prst="roundRect">
            <a:avLst/>
          </a:prstGeom>
          <a:solidFill>
            <a:schemeClr val="accent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Secure</a:t>
            </a:r>
          </a:p>
          <a:p>
            <a:pPr algn="ctr"/>
            <a:r>
              <a:rPr lang="en-GB" sz="2000" dirty="0"/>
              <a:t>funding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470" y="2707682"/>
            <a:ext cx="2088232" cy="708618"/>
          </a:xfrm>
          <a:prstGeom prst="roundRect">
            <a:avLst/>
          </a:prstGeom>
          <a:solidFill>
            <a:schemeClr val="accent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Design</a:t>
            </a:r>
          </a:p>
          <a:p>
            <a:pPr algn="ctr"/>
            <a:r>
              <a:rPr lang="en-GB" sz="2000" dirty="0"/>
              <a:t>house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9014" y="3114935"/>
            <a:ext cx="1800200" cy="1021445"/>
          </a:xfrm>
          <a:prstGeom prst="roundRect">
            <a:avLst/>
          </a:prstGeom>
          <a:solidFill>
            <a:schemeClr val="accent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Get</a:t>
            </a:r>
          </a:p>
          <a:p>
            <a:pPr algn="ctr"/>
            <a:r>
              <a:rPr lang="en-GB" sz="2000" dirty="0"/>
              <a:t>Planning permission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524" y="4136380"/>
            <a:ext cx="2088232" cy="708618"/>
          </a:xfrm>
          <a:prstGeom prst="roundRect">
            <a:avLst/>
          </a:prstGeom>
          <a:solidFill>
            <a:schemeClr val="accent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Site survey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6726" y="3272284"/>
            <a:ext cx="2088232" cy="708618"/>
          </a:xfrm>
          <a:prstGeom prst="roundRect">
            <a:avLst/>
          </a:prstGeom>
          <a:solidFill>
            <a:schemeClr val="accent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(re)Draw plans</a:t>
            </a:r>
          </a:p>
          <a:p>
            <a:pPr algn="ctr"/>
            <a:r>
              <a:rPr lang="en-GB" sz="2000" dirty="0"/>
              <a:t>(re)Specify build</a:t>
            </a:r>
          </a:p>
        </p:txBody>
      </p:sp>
      <p:cxnSp>
        <p:nvCxnSpPr>
          <p:cNvPr id="13" name="Elbow Connector 12"/>
          <p:cNvCxnSpPr>
            <a:endCxn id="11" idx="1"/>
          </p:cNvCxnSpPr>
          <p:nvPr/>
        </p:nvCxnSpPr>
        <p:spPr>
          <a:xfrm rot="16200000" flipH="1">
            <a:off x="2146413" y="3236280"/>
            <a:ext cx="564602" cy="216024"/>
          </a:xfrm>
          <a:prstGeom prst="bentConnector2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flipV="1">
            <a:off x="1396640" y="3848348"/>
            <a:ext cx="1140086" cy="288032"/>
          </a:xfrm>
          <a:prstGeom prst="bentConnector3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>
            <a:endCxn id="9" idx="1"/>
          </p:cNvCxnSpPr>
          <p:nvPr/>
        </p:nvCxnSpPr>
        <p:spPr>
          <a:xfrm>
            <a:off x="4624958" y="3619926"/>
            <a:ext cx="504056" cy="5732"/>
          </a:xfrm>
          <a:prstGeom prst="bentConnector3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9" idx="3"/>
            <a:endCxn id="6" idx="1"/>
          </p:cNvCxnSpPr>
          <p:nvPr/>
        </p:nvCxnSpPr>
        <p:spPr>
          <a:xfrm>
            <a:off x="6929214" y="3625658"/>
            <a:ext cx="360040" cy="12397"/>
          </a:xfrm>
          <a:prstGeom prst="bentConnector3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9" idx="2"/>
            <a:endCxn id="11" idx="2"/>
          </p:cNvCxnSpPr>
          <p:nvPr/>
        </p:nvCxnSpPr>
        <p:spPr>
          <a:xfrm rot="5400000" flipH="1">
            <a:off x="4727239" y="2834505"/>
            <a:ext cx="155478" cy="2448272"/>
          </a:xfrm>
          <a:prstGeom prst="bentConnector3">
            <a:avLst>
              <a:gd name="adj1" fmla="val -1257927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867738" y="2192164"/>
            <a:ext cx="1440160" cy="6480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Architect</a:t>
            </a:r>
          </a:p>
        </p:txBody>
      </p:sp>
      <p:cxnSp>
        <p:nvCxnSpPr>
          <p:cNvPr id="42" name="Elbow Connector 41"/>
          <p:cNvCxnSpPr>
            <a:stCxn id="41" idx="2"/>
            <a:endCxn id="11" idx="0"/>
          </p:cNvCxnSpPr>
          <p:nvPr/>
        </p:nvCxnSpPr>
        <p:spPr>
          <a:xfrm rot="5400000">
            <a:off x="3368306" y="3052772"/>
            <a:ext cx="432048" cy="6976"/>
          </a:xfrm>
          <a:prstGeom prst="bentConnector3">
            <a:avLst>
              <a:gd name="adj1" fmla="val 50000"/>
            </a:avLst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688854" y="4352404"/>
            <a:ext cx="2196244" cy="86409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Plans/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specifications</a:t>
            </a:r>
          </a:p>
        </p:txBody>
      </p:sp>
      <p:cxnSp>
        <p:nvCxnSpPr>
          <p:cNvPr id="46" name="Elbow Connector 45"/>
          <p:cNvCxnSpPr/>
          <p:nvPr/>
        </p:nvCxnSpPr>
        <p:spPr>
          <a:xfrm rot="16200000" flipH="1">
            <a:off x="4103831" y="4148338"/>
            <a:ext cx="365155" cy="42980"/>
          </a:xfrm>
          <a:prstGeom prst="bentConnector3">
            <a:avLst>
              <a:gd name="adj1" fmla="val 50000"/>
            </a:avLst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11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/>
              <a:t>Software Processes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3206750"/>
            <a:ext cx="6934200" cy="3041650"/>
          </a:xfrm>
          <a:solidFill>
            <a:schemeClr val="bg1">
              <a:lumMod val="95000"/>
              <a:alpha val="85000"/>
            </a:schemeClr>
          </a:solidFill>
          <a:ln w="38100" cap="flat">
            <a:solidFill>
              <a:schemeClr val="accent3"/>
            </a:solidFill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buFont typeface="Zapf Dingbats" charset="2"/>
              <a:buNone/>
            </a:pPr>
            <a:r>
              <a:rPr lang="en-GB" sz="3200" b="1" dirty="0"/>
              <a:t>Coherent sets of activities for</a:t>
            </a:r>
            <a:r>
              <a:rPr lang="en-GB" sz="3200" dirty="0"/>
              <a:t> </a:t>
            </a:r>
          </a:p>
          <a:p>
            <a:pPr lvl="1"/>
            <a:r>
              <a:rPr lang="en-GB" sz="3200" dirty="0">
                <a:solidFill>
                  <a:schemeClr val="accent3"/>
                </a:solidFill>
              </a:rPr>
              <a:t>Specifying</a:t>
            </a:r>
            <a:r>
              <a:rPr lang="en-GB" sz="3200" dirty="0"/>
              <a:t>, </a:t>
            </a:r>
          </a:p>
          <a:p>
            <a:pPr lvl="1"/>
            <a:r>
              <a:rPr lang="en-GB" sz="3200" dirty="0">
                <a:solidFill>
                  <a:schemeClr val="accent3"/>
                </a:solidFill>
              </a:rPr>
              <a:t>Designing</a:t>
            </a:r>
            <a:r>
              <a:rPr lang="en-GB" sz="3200" dirty="0"/>
              <a:t>, </a:t>
            </a:r>
          </a:p>
          <a:p>
            <a:pPr lvl="1"/>
            <a:r>
              <a:rPr lang="en-GB" sz="3200" dirty="0">
                <a:solidFill>
                  <a:schemeClr val="accent3"/>
                </a:solidFill>
              </a:rPr>
              <a:t>Implementing</a:t>
            </a:r>
            <a:r>
              <a:rPr lang="en-GB" sz="3200" dirty="0"/>
              <a:t> and </a:t>
            </a:r>
          </a:p>
          <a:p>
            <a:pPr lvl="1"/>
            <a:r>
              <a:rPr lang="en-GB" sz="3200" dirty="0">
                <a:solidFill>
                  <a:schemeClr val="accent3"/>
                </a:solidFill>
              </a:rPr>
              <a:t>Testing</a:t>
            </a:r>
            <a:r>
              <a:rPr lang="en-GB" sz="3200" dirty="0"/>
              <a:t> software systems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304800" y="1600200"/>
            <a:ext cx="8001000" cy="1370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>
                <a:latin typeface="Arial" charset="0"/>
              </a:rPr>
              <a:t>When the process involves the building of some product we refer to the process as a </a:t>
            </a:r>
            <a:r>
              <a:rPr lang="en-GB" b="1" u="sng" dirty="0">
                <a:latin typeface="Arial" charset="0"/>
              </a:rPr>
              <a:t>life cycle</a:t>
            </a:r>
          </a:p>
          <a:p>
            <a:pPr>
              <a:spcBef>
                <a:spcPct val="50000"/>
              </a:spcBef>
            </a:pPr>
            <a:r>
              <a:rPr lang="en-GB" b="1" u="sng" dirty="0">
                <a:latin typeface="Arial" charset="0"/>
              </a:rPr>
              <a:t>Software development process – software life cycle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 autoUpdateAnimBg="0"/>
      <p:bldP spid="4099" grpI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Processes and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(unlike buildings/bridges etc.)</a:t>
            </a:r>
          </a:p>
          <a:p>
            <a:pPr lvl="1"/>
            <a:r>
              <a:rPr lang="en-GB" dirty="0"/>
              <a:t>Can be changed at anytime</a:t>
            </a:r>
          </a:p>
          <a:p>
            <a:pPr lvl="1"/>
            <a:r>
              <a:rPr lang="en-GB" dirty="0"/>
              <a:t>Is often required to change often after construction</a:t>
            </a:r>
          </a:p>
          <a:p>
            <a:r>
              <a:rPr lang="en-GB" dirty="0"/>
              <a:t>Benefits</a:t>
            </a:r>
          </a:p>
          <a:p>
            <a:pPr lvl="1"/>
            <a:r>
              <a:rPr lang="en-GB" dirty="0"/>
              <a:t>Software can be improved almost without limit </a:t>
            </a:r>
          </a:p>
          <a:p>
            <a:r>
              <a:rPr lang="en-GB" dirty="0"/>
              <a:t>Leading to problems</a:t>
            </a:r>
          </a:p>
          <a:p>
            <a:pPr lvl="1"/>
            <a:r>
              <a:rPr lang="en-GB" dirty="0"/>
              <a:t>Software often gets faults as it evolves</a:t>
            </a:r>
          </a:p>
          <a:p>
            <a:pPr lvl="1"/>
            <a:r>
              <a:rPr lang="en-GB" dirty="0"/>
              <a:t>Software cost is hard to manage</a:t>
            </a:r>
          </a:p>
          <a:p>
            <a:pPr lvl="1"/>
            <a:r>
              <a:rPr lang="en-GB" dirty="0"/>
              <a:t>Problems with user’s experience and expectations</a:t>
            </a:r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23631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08" y="630218"/>
            <a:ext cx="8518525" cy="857256"/>
          </a:xfrm>
          <a:noFill/>
        </p:spPr>
        <p:txBody>
          <a:bodyPr/>
          <a:lstStyle/>
          <a:p>
            <a:r>
              <a:rPr lang="en-GB" dirty="0"/>
              <a:t>Software Process Models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478" y="1844664"/>
            <a:ext cx="8640960" cy="4456512"/>
          </a:xfrm>
          <a:noFill/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3"/>
                </a:solidFill>
              </a:rPr>
              <a:t>The Waterfall Model (classic engineering, example bridge building)   </a:t>
            </a:r>
          </a:p>
          <a:p>
            <a:pPr lvl="1"/>
            <a:r>
              <a:rPr lang="en-GB" dirty="0"/>
              <a:t>Separate and distinct phases of specification and development</a:t>
            </a:r>
          </a:p>
          <a:p>
            <a:r>
              <a:rPr lang="en-GB" b="1" dirty="0">
                <a:solidFill>
                  <a:schemeClr val="accent3"/>
                </a:solidFill>
              </a:rPr>
              <a:t>Evolutionary Development (more like product engineering)</a:t>
            </a:r>
          </a:p>
          <a:p>
            <a:pPr lvl="1"/>
            <a:r>
              <a:rPr lang="en-GB" dirty="0"/>
              <a:t>Specification and development are interleaved</a:t>
            </a:r>
          </a:p>
          <a:p>
            <a:r>
              <a:rPr lang="en-GB" dirty="0"/>
              <a:t>Agile and Scrum</a:t>
            </a:r>
          </a:p>
          <a:p>
            <a:pPr lvl="1"/>
            <a:r>
              <a:rPr lang="en-GB" dirty="0"/>
              <a:t>Used widely in industry 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0983" y="463972"/>
            <a:ext cx="8169621" cy="785993"/>
          </a:xfrm>
          <a:noFill/>
        </p:spPr>
        <p:txBody>
          <a:bodyPr/>
          <a:lstStyle/>
          <a:p>
            <a:r>
              <a:rPr lang="en-GB" dirty="0"/>
              <a:t>Waterfall Model</a:t>
            </a:r>
          </a:p>
        </p:txBody>
      </p:sp>
      <p:pic>
        <p:nvPicPr>
          <p:cNvPr id="10243" name="Picture 3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950" y="1549400"/>
            <a:ext cx="8305800" cy="48847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849094" y="1242700"/>
            <a:ext cx="31683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1"/>
                </a:solidFill>
              </a:rPr>
              <a:t>The drawback of the waterfall model is the difficulty of accommodating change after the process is underway</a:t>
            </a:r>
          </a:p>
          <a:p>
            <a:endParaRPr lang="en-GB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Waterfall Model Problems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0050"/>
            <a:ext cx="8301038" cy="4460894"/>
          </a:xfrm>
        </p:spPr>
        <p:txBody>
          <a:bodyPr>
            <a:noAutofit/>
          </a:bodyPr>
          <a:lstStyle/>
          <a:p>
            <a:r>
              <a:rPr lang="en-GB" sz="2400" b="1" dirty="0">
                <a:solidFill>
                  <a:schemeClr val="accent2"/>
                </a:solidFill>
              </a:rPr>
              <a:t>Inflexible partitioning</a:t>
            </a:r>
            <a:r>
              <a:rPr lang="en-GB" sz="2400" dirty="0">
                <a:solidFill>
                  <a:schemeClr val="accent2"/>
                </a:solidFill>
              </a:rPr>
              <a:t> </a:t>
            </a:r>
            <a:r>
              <a:rPr lang="en-GB" sz="2400" dirty="0"/>
              <a:t>of the project into distinct stages</a:t>
            </a:r>
          </a:p>
          <a:p>
            <a:r>
              <a:rPr lang="en-GB" sz="2400" dirty="0"/>
              <a:t>This makes it difficult to respond to changing customer requirements</a:t>
            </a:r>
          </a:p>
          <a:p>
            <a:r>
              <a:rPr lang="en-GB" sz="2400" dirty="0"/>
              <a:t>Therefore, this model is only appropriate when the (</a:t>
            </a:r>
            <a:r>
              <a:rPr lang="en-GB" sz="2400" b="1" dirty="0"/>
              <a:t>final</a:t>
            </a:r>
            <a:r>
              <a:rPr lang="en-GB" sz="2400" dirty="0"/>
              <a:t>) requirements are well-understood (rare in software)</a:t>
            </a:r>
          </a:p>
          <a:p>
            <a:r>
              <a:rPr lang="en-GB" sz="2400" dirty="0">
                <a:solidFill>
                  <a:schemeClr val="accent2"/>
                </a:solidFill>
              </a:rPr>
              <a:t>Waterfall model describes a process of stepwise refinement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</a:pPr>
            <a:r>
              <a:rPr lang="en-GB" dirty="0"/>
              <a:t>Based on </a:t>
            </a:r>
            <a:r>
              <a:rPr lang="en-GB" dirty="0">
                <a:solidFill>
                  <a:schemeClr val="accent1"/>
                </a:solidFill>
              </a:rPr>
              <a:t>hardware engineering models</a:t>
            </a:r>
            <a:r>
              <a:rPr lang="en-GB" dirty="0"/>
              <a:t>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00000"/>
              <a:buFont typeface="Arial" pitchFamily="34" charset="0"/>
              <a:buChar char="•"/>
            </a:pPr>
            <a:r>
              <a:rPr lang="en-GB" dirty="0"/>
              <a:t>Widely used in </a:t>
            </a:r>
            <a:r>
              <a:rPr lang="en-GB" dirty="0">
                <a:solidFill>
                  <a:schemeClr val="accent1"/>
                </a:solidFill>
              </a:rPr>
              <a:t>military</a:t>
            </a:r>
            <a:r>
              <a:rPr lang="en-GB" dirty="0"/>
              <a:t> and </a:t>
            </a:r>
            <a:r>
              <a:rPr lang="en-GB" dirty="0">
                <a:solidFill>
                  <a:schemeClr val="accent1"/>
                </a:solidFill>
              </a:rPr>
              <a:t>aerospace</a:t>
            </a:r>
            <a:r>
              <a:rPr lang="en-GB" dirty="0"/>
              <a:t> industries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Reality check!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Practically no one in industry follows the waterfall method as shown exactly here to produce software</a:t>
            </a:r>
          </a:p>
          <a:p>
            <a:r>
              <a:rPr lang="en-GB" dirty="0"/>
              <a:t>Why bother, then?</a:t>
            </a:r>
          </a:p>
          <a:p>
            <a:pPr lvl="1"/>
            <a:r>
              <a:rPr lang="en-GB" dirty="0"/>
              <a:t>Each stage is an important step in software development</a:t>
            </a:r>
          </a:p>
          <a:p>
            <a:pPr lvl="1"/>
            <a:r>
              <a:rPr lang="en-GB" dirty="0"/>
              <a:t>It’s easy to remember</a:t>
            </a:r>
          </a:p>
          <a:p>
            <a:pPr lvl="1"/>
            <a:r>
              <a:rPr lang="en-GB" dirty="0"/>
              <a:t>The sequence is important</a:t>
            </a:r>
          </a:p>
          <a:p>
            <a:pPr lvl="2"/>
            <a:r>
              <a:rPr lang="en-GB" dirty="0"/>
              <a:t>Spec. before Design</a:t>
            </a:r>
          </a:p>
          <a:p>
            <a:pPr lvl="2"/>
            <a:r>
              <a:rPr lang="en-GB" dirty="0"/>
              <a:t>Design before coding etc.</a:t>
            </a:r>
          </a:p>
          <a:p>
            <a:pPr lvl="1"/>
            <a:r>
              <a:rPr lang="en-GB" dirty="0"/>
              <a:t>Many industry practises could do with improvement!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95133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80983" y="974868"/>
            <a:ext cx="8169621" cy="857256"/>
          </a:xfrm>
          <a:noFill/>
        </p:spPr>
        <p:txBody>
          <a:bodyPr>
            <a:normAutofit/>
          </a:bodyPr>
          <a:lstStyle/>
          <a:p>
            <a:r>
              <a:rPr lang="en-GB" dirty="0"/>
              <a:t>Evolutionary Development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4132"/>
            <a:ext cx="8301038" cy="4714908"/>
          </a:xfrm>
          <a:noFill/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Rather than using the waterfall model we may use </a:t>
            </a:r>
            <a:r>
              <a:rPr lang="en-GB" b="1" dirty="0">
                <a:solidFill>
                  <a:schemeClr val="accent3"/>
                </a:solidFill>
              </a:rPr>
              <a:t>evolutionary development </a:t>
            </a:r>
            <a:r>
              <a:rPr lang="en-GB" dirty="0"/>
              <a:t>which is based upon the idea of developing an </a:t>
            </a:r>
            <a:r>
              <a:rPr lang="en-GB" b="1" dirty="0"/>
              <a:t>initial implementation </a:t>
            </a:r>
            <a:r>
              <a:rPr lang="en-GB" dirty="0"/>
              <a:t>, exposing it to the user and refining it based upon their response. 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3"/>
                </a:solidFill>
              </a:rPr>
              <a:t>Exploratory development</a:t>
            </a:r>
            <a:r>
              <a:rPr lang="en-GB" dirty="0">
                <a:solidFill>
                  <a:schemeClr val="accent3"/>
                </a:solidFill>
              </a:rPr>
              <a:t> 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GB" dirty="0"/>
              <a:t>Objective is to work with customers and to evolve a final system from an initial outline specification. 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GB" dirty="0"/>
              <a:t>Should start with </a:t>
            </a:r>
            <a:r>
              <a:rPr lang="en-GB" i="1" dirty="0"/>
              <a:t>well-understood requirements</a:t>
            </a:r>
            <a:r>
              <a:rPr lang="en-GB" dirty="0"/>
              <a:t>. </a:t>
            </a:r>
          </a:p>
          <a:p>
            <a:pPr lvl="1">
              <a:lnSpc>
                <a:spcPct val="90000"/>
              </a:lnSpc>
              <a:buFontTx/>
              <a:buChar char="-"/>
            </a:pPr>
            <a:r>
              <a:rPr lang="en-GB" dirty="0"/>
              <a:t>The system evolves by adding new features as they are proposed by customer. </a:t>
            </a:r>
          </a:p>
          <a:p>
            <a:pPr>
              <a:lnSpc>
                <a:spcPct val="90000"/>
              </a:lnSpc>
            </a:pPr>
            <a:endParaRPr lang="en-GB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GB" dirty="0"/>
              <a:t>Evolutionary Development</a:t>
            </a:r>
          </a:p>
        </p:txBody>
      </p:sp>
      <p:pic>
        <p:nvPicPr>
          <p:cNvPr id="15363" name="Picture 3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738" y="1536700"/>
            <a:ext cx="8569325" cy="439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79413" y="261938"/>
            <a:ext cx="8518525" cy="1104900"/>
          </a:xfrm>
          <a:noFill/>
        </p:spPr>
        <p:txBody>
          <a:bodyPr/>
          <a:lstStyle/>
          <a:p>
            <a:r>
              <a:rPr lang="en-GB" dirty="0"/>
              <a:t>Evolutionary Development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60462" y="1760116"/>
            <a:ext cx="8195310" cy="4372864"/>
          </a:xfrm>
          <a:noFill/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chemeClr val="accent1"/>
                </a:solidFill>
              </a:rPr>
              <a:t>Problems</a:t>
            </a:r>
          </a:p>
          <a:p>
            <a:pPr lvl="1"/>
            <a:r>
              <a:rPr lang="en-GB" dirty="0"/>
              <a:t>Lack of </a:t>
            </a:r>
            <a:r>
              <a:rPr lang="en-GB" dirty="0">
                <a:solidFill>
                  <a:schemeClr val="accent2"/>
                </a:solidFill>
              </a:rPr>
              <a:t>process visibility</a:t>
            </a:r>
          </a:p>
          <a:p>
            <a:pPr lvl="1"/>
            <a:r>
              <a:rPr lang="en-GB" dirty="0"/>
              <a:t>Systems are sometimes </a:t>
            </a:r>
            <a:r>
              <a:rPr lang="en-GB" dirty="0">
                <a:solidFill>
                  <a:schemeClr val="accent2"/>
                </a:solidFill>
              </a:rPr>
              <a:t>poorly structured</a:t>
            </a:r>
          </a:p>
          <a:p>
            <a:r>
              <a:rPr lang="en-GB" sz="2800" b="1" dirty="0">
                <a:solidFill>
                  <a:schemeClr val="accent1"/>
                </a:solidFill>
              </a:rPr>
              <a:t>Applicability</a:t>
            </a:r>
          </a:p>
          <a:p>
            <a:pPr lvl="1"/>
            <a:r>
              <a:rPr lang="en-GB" dirty="0"/>
              <a:t>All types of system but rare in safety critical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104" y="1616100"/>
            <a:ext cx="8195310" cy="437286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In reality all modern development has a degree of evolutionary development BUT is hybrid (see SCRUM later)</a:t>
            </a:r>
          </a:p>
          <a:p>
            <a:r>
              <a:rPr lang="en-GB" dirty="0"/>
              <a:t>Sometimes the specification is mostly completed at the start and then added to</a:t>
            </a:r>
          </a:p>
          <a:p>
            <a:r>
              <a:rPr lang="en-GB" dirty="0"/>
              <a:t>The evolution cycles pre-determined</a:t>
            </a:r>
          </a:p>
          <a:p>
            <a:pPr lvl="1"/>
            <a:r>
              <a:rPr lang="en-GB" dirty="0"/>
              <a:t>100 functions</a:t>
            </a:r>
          </a:p>
          <a:p>
            <a:pPr lvl="1"/>
            <a:r>
              <a:rPr lang="en-GB" dirty="0"/>
              <a:t>In phase 1 develop functions 1-30</a:t>
            </a:r>
          </a:p>
          <a:p>
            <a:pPr lvl="1"/>
            <a:r>
              <a:rPr lang="en-GB" dirty="0"/>
              <a:t>In phase 2 develop functions 31-80</a:t>
            </a:r>
          </a:p>
          <a:p>
            <a:pPr lvl="1"/>
            <a:r>
              <a:rPr lang="en-GB" dirty="0"/>
              <a:t>In phase 3 develop functions 81-100</a:t>
            </a:r>
          </a:p>
          <a:p>
            <a:pPr lvl="1"/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07072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Lightweight approach to software development</a:t>
            </a:r>
          </a:p>
          <a:p>
            <a:r>
              <a:rPr lang="en-GB" dirty="0"/>
              <a:t>Example include Scrum and XP</a:t>
            </a:r>
          </a:p>
          <a:p>
            <a:r>
              <a:rPr lang="en-GB" dirty="0"/>
              <a:t>Focused on</a:t>
            </a:r>
          </a:p>
          <a:p>
            <a:pPr lvl="1"/>
            <a:r>
              <a:rPr lang="en-GB" dirty="0"/>
              <a:t>Code development as code activity</a:t>
            </a:r>
          </a:p>
          <a:p>
            <a:pPr lvl="1"/>
            <a:r>
              <a:rPr lang="en-GB" dirty="0"/>
              <a:t>Test driven development (tests developed before code)</a:t>
            </a:r>
          </a:p>
          <a:p>
            <a:pPr lvl="1"/>
            <a:r>
              <a:rPr lang="en-GB" dirty="0"/>
              <a:t>Often use pair programming</a:t>
            </a:r>
          </a:p>
          <a:p>
            <a:pPr lvl="1"/>
            <a:r>
              <a:rPr lang="en-GB" dirty="0"/>
              <a:t>Iterative development</a:t>
            </a:r>
          </a:p>
          <a:p>
            <a:pPr lvl="1"/>
            <a:r>
              <a:rPr lang="en-GB" dirty="0"/>
              <a:t>Self organised teams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61150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80983" y="1118139"/>
            <a:ext cx="8169621" cy="785993"/>
          </a:xfrm>
        </p:spPr>
        <p:txBody>
          <a:bodyPr>
            <a:normAutofit fontScale="90000"/>
          </a:bodyPr>
          <a:lstStyle/>
          <a:p>
            <a:r>
              <a:rPr lang="en-GB" dirty="0"/>
              <a:t>Incremental Development</a:t>
            </a:r>
            <a:br>
              <a:rPr lang="en-GB" dirty="0"/>
            </a:br>
            <a:r>
              <a:rPr lang="en-GB" dirty="0"/>
              <a:t>(Scrum)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49028"/>
            <a:ext cx="7772400" cy="4419600"/>
          </a:xfrm>
        </p:spPr>
        <p:txBody>
          <a:bodyPr/>
          <a:lstStyle/>
          <a:p>
            <a:r>
              <a:rPr lang="en-GB" dirty="0"/>
              <a:t>Rather than deliver the system as a single delivery,</a:t>
            </a:r>
            <a:r>
              <a:rPr lang="en-GB" b="1" dirty="0">
                <a:solidFill>
                  <a:srgbClr val="0000FF"/>
                </a:solidFill>
              </a:rPr>
              <a:t> </a:t>
            </a:r>
            <a:r>
              <a:rPr lang="en-GB" b="1" dirty="0">
                <a:solidFill>
                  <a:schemeClr val="accent2"/>
                </a:solidFill>
              </a:rPr>
              <a:t>the development and delivery is broken down into increments</a:t>
            </a:r>
            <a:r>
              <a:rPr lang="en-GB" dirty="0"/>
              <a:t> </a:t>
            </a:r>
            <a:r>
              <a:rPr lang="en-GB"/>
              <a:t>(SCRUM </a:t>
            </a:r>
            <a:r>
              <a:rPr lang="en-GB" b="1" i="1"/>
              <a:t>sprints</a:t>
            </a:r>
            <a:r>
              <a:rPr lang="en-GB" dirty="0"/>
              <a:t>) with each increment delivering part of the required functionality</a:t>
            </a:r>
          </a:p>
          <a:p>
            <a:r>
              <a:rPr lang="en-GB" b="1" dirty="0">
                <a:solidFill>
                  <a:schemeClr val="accent2"/>
                </a:solidFill>
              </a:rPr>
              <a:t>User requirements are prioritised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and the highest priority requirements are included in early increments</a:t>
            </a:r>
          </a:p>
          <a:p>
            <a:r>
              <a:rPr lang="en-GB" b="1" dirty="0">
                <a:solidFill>
                  <a:schemeClr val="accent2"/>
                </a:solidFill>
              </a:rPr>
              <a:t>Once the development of an increment is started, the requirements are frozen</a:t>
            </a:r>
            <a:r>
              <a:rPr lang="en-GB" dirty="0">
                <a:solidFill>
                  <a:schemeClr val="accent2"/>
                </a:solidFill>
              </a:rPr>
              <a:t> </a:t>
            </a:r>
            <a:r>
              <a:rPr lang="en-GB" dirty="0"/>
              <a:t>though requirements for later increments can continue to evolve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uiExpand="1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79413" y="261938"/>
            <a:ext cx="8383587" cy="1104900"/>
          </a:xfrm>
        </p:spPr>
        <p:txBody>
          <a:bodyPr/>
          <a:lstStyle/>
          <a:p>
            <a:r>
              <a:rPr lang="en-GB" sz="3600" dirty="0"/>
              <a:t>Incremental Development Advantages</a:t>
            </a:r>
            <a:endParaRPr lang="en-GB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0050"/>
            <a:ext cx="8301038" cy="4425950"/>
          </a:xfrm>
        </p:spPr>
        <p:txBody>
          <a:bodyPr/>
          <a:lstStyle/>
          <a:p>
            <a:r>
              <a:rPr lang="en-GB" sz="2800" b="1" dirty="0">
                <a:solidFill>
                  <a:schemeClr val="accent2"/>
                </a:solidFill>
              </a:rPr>
              <a:t>Customer value</a:t>
            </a:r>
            <a:r>
              <a:rPr lang="en-GB" sz="2800" dirty="0">
                <a:solidFill>
                  <a:schemeClr val="accent2"/>
                </a:solidFill>
              </a:rPr>
              <a:t> </a:t>
            </a:r>
            <a:r>
              <a:rPr lang="en-GB" sz="2800" dirty="0"/>
              <a:t>can be delivered with each increment so system functionality is available earlier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Early increments</a:t>
            </a:r>
            <a:r>
              <a:rPr lang="en-GB" sz="2800" dirty="0">
                <a:solidFill>
                  <a:schemeClr val="accent2"/>
                </a:solidFill>
              </a:rPr>
              <a:t> </a:t>
            </a:r>
            <a:r>
              <a:rPr lang="en-GB" sz="2800" dirty="0"/>
              <a:t>act as a prototype to help elicit requirements for later increments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Lower risk of overall project failure</a:t>
            </a:r>
          </a:p>
          <a:p>
            <a:r>
              <a:rPr lang="en-GB" sz="2800" b="1" dirty="0">
                <a:solidFill>
                  <a:schemeClr val="accent2"/>
                </a:solidFill>
              </a:rPr>
              <a:t>The highest priority system services</a:t>
            </a:r>
            <a:r>
              <a:rPr lang="en-GB" sz="2800" dirty="0">
                <a:solidFill>
                  <a:schemeClr val="accent2"/>
                </a:solidFill>
              </a:rPr>
              <a:t> </a:t>
            </a:r>
            <a:r>
              <a:rPr lang="en-GB" sz="2800" dirty="0"/>
              <a:t>tend to receive the most testing</a:t>
            </a:r>
          </a:p>
        </p:txBody>
      </p:sp>
      <p:pic>
        <p:nvPicPr>
          <p:cNvPr id="26628" name="Picture 4" descr="C:\Program Files\Common Files\Microsoft Shared\Clipart\cagcat50\bd04924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39032" y="4773622"/>
            <a:ext cx="1233723" cy="16636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Most software processes involve</a:t>
            </a:r>
          </a:p>
          <a:p>
            <a:pPr lvl="1"/>
            <a:r>
              <a:rPr lang="en-GB" dirty="0"/>
              <a:t>Prototyping</a:t>
            </a:r>
          </a:p>
          <a:p>
            <a:pPr lvl="1"/>
            <a:r>
              <a:rPr lang="en-GB" dirty="0"/>
              <a:t>Iterative building</a:t>
            </a:r>
          </a:p>
          <a:p>
            <a:r>
              <a:rPr lang="en-GB" dirty="0"/>
              <a:t>Why</a:t>
            </a:r>
          </a:p>
          <a:p>
            <a:pPr lvl="1"/>
            <a:r>
              <a:rPr lang="en-GB" dirty="0"/>
              <a:t>It reduces risk of making the wrong product</a:t>
            </a:r>
          </a:p>
          <a:p>
            <a:pPr lvl="1"/>
            <a:r>
              <a:rPr lang="en-GB" dirty="0"/>
              <a:t>It allows the software to undergo more testing</a:t>
            </a:r>
          </a:p>
          <a:p>
            <a:pPr lvl="1"/>
            <a:r>
              <a:rPr lang="en-GB" dirty="0"/>
              <a:t>It produces working product as we go along, so less chance of inventory loss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88642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is context dependent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Nuclear power station/air traffic control</a:t>
            </a:r>
          </a:p>
          <a:p>
            <a:pPr lvl="1"/>
            <a:r>
              <a:rPr lang="en-GB" dirty="0"/>
              <a:t>Highly formalised processes</a:t>
            </a:r>
          </a:p>
          <a:p>
            <a:pPr lvl="1"/>
            <a:r>
              <a:rPr lang="en-GB" dirty="0"/>
              <a:t>Detailed testing specifications</a:t>
            </a:r>
          </a:p>
          <a:p>
            <a:r>
              <a:rPr lang="en-GB" dirty="0"/>
              <a:t>Web development for small website</a:t>
            </a:r>
          </a:p>
          <a:p>
            <a:pPr lvl="1"/>
            <a:r>
              <a:rPr lang="en-GB" dirty="0"/>
              <a:t>Prototyping </a:t>
            </a:r>
          </a:p>
          <a:p>
            <a:r>
              <a:rPr lang="en-GB" dirty="0"/>
              <a:t>Web development for large website</a:t>
            </a:r>
          </a:p>
          <a:p>
            <a:pPr lvl="1"/>
            <a:r>
              <a:rPr lang="en-GB" dirty="0"/>
              <a:t>SCRUM development, storyboarding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4915087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70" y="1928312"/>
            <a:ext cx="8712967" cy="4584332"/>
          </a:xfrm>
        </p:spPr>
        <p:txBody>
          <a:bodyPr>
            <a:normAutofit/>
          </a:bodyPr>
          <a:lstStyle/>
          <a:p>
            <a:r>
              <a:rPr lang="en-GB" sz="3600" dirty="0"/>
              <a:t>The specification is by a long margin</a:t>
            </a:r>
          </a:p>
          <a:p>
            <a:pPr lvl="1"/>
            <a:r>
              <a:rPr lang="en-GB" sz="3600" dirty="0"/>
              <a:t>The MOST critical phase of any software engineering project</a:t>
            </a:r>
          </a:p>
          <a:p>
            <a:r>
              <a:rPr lang="en-GB" sz="3600" dirty="0"/>
              <a:t>Why?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46775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Lecture Key Points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processes are the activities involved in producing and evolving a software system. They are represented in a software process model</a:t>
            </a:r>
          </a:p>
          <a:p>
            <a:r>
              <a:rPr lang="en-GB" dirty="0"/>
              <a:t>General activities are specification, design and implementation, validation and evolution</a:t>
            </a:r>
          </a:p>
          <a:p>
            <a:r>
              <a:rPr lang="en-GB" dirty="0"/>
              <a:t>Generic process models describe the organisation of software processes</a:t>
            </a:r>
          </a:p>
          <a:p>
            <a:r>
              <a:rPr lang="en-GB" dirty="0"/>
              <a:t>Iterative process models describe the software process as a cycle of activities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1604</TotalTime>
  <Pages>42</Pages>
  <Words>1185</Words>
  <Application>Microsoft Office PowerPoint</Application>
  <PresentationFormat>Custom</PresentationFormat>
  <Paragraphs>212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Times</vt:lpstr>
      <vt:lpstr>Wingdings 2</vt:lpstr>
      <vt:lpstr>Zapf Dingbats</vt:lpstr>
      <vt:lpstr>Flow</vt:lpstr>
      <vt:lpstr>PowerPoint Presentation</vt:lpstr>
      <vt:lpstr>Processes (building a house)</vt:lpstr>
      <vt:lpstr>Tasks</vt:lpstr>
      <vt:lpstr>Questions?</vt:lpstr>
      <vt:lpstr>Task order  (early fix is easy)</vt:lpstr>
      <vt:lpstr>What is a Process … ?</vt:lpstr>
      <vt:lpstr>What is a Process … ?</vt:lpstr>
      <vt:lpstr>Process Building development</vt:lpstr>
      <vt:lpstr>Software Processes </vt:lpstr>
      <vt:lpstr>Processes and software</vt:lpstr>
      <vt:lpstr>Software Process Models</vt:lpstr>
      <vt:lpstr>Waterfall Model</vt:lpstr>
      <vt:lpstr>Waterfall Model Problems</vt:lpstr>
      <vt:lpstr>Reality check!</vt:lpstr>
      <vt:lpstr>Evolutionary Development</vt:lpstr>
      <vt:lpstr>Evolutionary Development</vt:lpstr>
      <vt:lpstr>Evolutionary Development</vt:lpstr>
      <vt:lpstr>Reality check</vt:lpstr>
      <vt:lpstr>Agile development</vt:lpstr>
      <vt:lpstr>Incremental Development (Scrum)</vt:lpstr>
      <vt:lpstr>Incremental Development Advantages</vt:lpstr>
      <vt:lpstr>In Reality</vt:lpstr>
      <vt:lpstr>Process is context dependent</vt:lpstr>
      <vt:lpstr>Final question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Processes</dc:title>
  <dc:creator>Ian Sommerville</dc:creator>
  <cp:lastModifiedBy>Coope, Sebastian</cp:lastModifiedBy>
  <cp:revision>111</cp:revision>
  <cp:lastPrinted>2001-08-10T22:04:11Z</cp:lastPrinted>
  <dcterms:created xsi:type="dcterms:W3CDTF">2000-04-28T08:06:41Z</dcterms:created>
  <dcterms:modified xsi:type="dcterms:W3CDTF">2023-09-12T14:36:14Z</dcterms:modified>
</cp:coreProperties>
</file>